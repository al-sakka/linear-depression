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693A6"/>
    <a:srgbClr val="818C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p:scale>
          <a:sx n="100" d="100"/>
          <a:sy n="100" d="100"/>
        </p:scale>
        <p:origin x="974"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3T16:24:24.515"/>
    </inkml:context>
    <inkml:brush xml:id="br0">
      <inkml:brushProperty name="width" value="0.035" units="cm"/>
      <inkml:brushProperty name="height" value="0.035" units="cm"/>
      <inkml:brushProperty name="color" value="#F6630D"/>
    </inkml:brush>
  </inkml:definitions>
  <inkml:trace contextRef="#ctx0" brushRef="#br0">125 1 24575,'-5'1'0,"1"1"0,0 0 0,0 0 0,0 0 0,0 0 0,-4 4 0,-7 4 0,14-10-13,-13 7-325,0 0 0,0 1 0,-20 16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3T16:24:25.563"/>
    </inkml:context>
    <inkml:brush xml:id="br0">
      <inkml:brushProperty name="width" value="0.035" units="cm"/>
      <inkml:brushProperty name="height" value="0.035" units="cm"/>
      <inkml:brushProperty name="color" value="#F6630D"/>
    </inkml:brush>
  </inkml:definitions>
  <inkml:trace contextRef="#ctx0" brushRef="#br0">23 1 24575,'0'2'0,"-1"1"0,0 0 0,0 0 0,0-1 0,0 1 0,0-1 0,0 1 0,-3 4 0,2-5 0,1 1 0,-1-1 0,1 1 0,0 0 0,-1 0 0,2-1 0,-1 1 0,-1 3 0,2-5 0,1 0 0,-1 0 0,0 0 0,0 0 0,0 0 0,1 0 0,-1 0 0,0 0 0,1 0 0,-1 0 0,1-1 0,-1 1 0,1 0 0,0 0 0,-1-1 0,1 1 0,0 0 0,-1-1 0,1 1 0,0 0 0,0-1 0,-1 1 0,1-1 0,0 0 0,0 1 0,0-1 0,0 1 0,0-1 0,0 0 0,1 0 0,15 5-44,-13-4-121,1 0 0,-1 0 0,0 1-1,0-1 1,0 1 0,0 0 0,5 3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3T16:24:26.472"/>
    </inkml:context>
    <inkml:brush xml:id="br0">
      <inkml:brushProperty name="width" value="0.035" units="cm"/>
      <inkml:brushProperty name="height" value="0.035" units="cm"/>
      <inkml:brushProperty name="color" value="#F6630D"/>
    </inkml:brush>
  </inkml:definitions>
  <inkml:trace contextRef="#ctx0" brushRef="#br0">135 0 24575,'-49'11'0,"30"-5"0,-48 12-1365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3T16:24:27.060"/>
    </inkml:context>
    <inkml:brush xml:id="br0">
      <inkml:brushProperty name="width" value="0.035" units="cm"/>
      <inkml:brushProperty name="height" value="0.035" units="cm"/>
      <inkml:brushProperty name="color" value="#F6630D"/>
    </inkml:brush>
  </inkml:definitions>
  <inkml:trace contextRef="#ctx0" brushRef="#br0">66 0 24575,'-1'3'0,"0"0"0,1-1 0,-1 1 0,0-1 0,-1 1 0,1-1 0,0 1 0,-1-1 0,1 0 0,-1 0 0,0 0 0,0 0 0,0 0 0,0 0 0,0 0 0,0-1 0,0 1 0,-5 2 0,-20 20 0,26-23 0,1 0 0,-1 1 0,1-1 0,-1 0 0,1 0 0,-1 0 0,1 0 0,0 0 0,-1 1 0,1-1 0,0 0 0,0 0 0,0 1 0,0-1 0,0 0 0,0 0 0,1 1 0,-1-1 0,0 0 0,0 0 0,1 0 0,-1 0 0,1 1 0,-1-1 0,2 2 0,0-2 7,-1 1-1,1-1 0,-1 1 1,1-1-1,0 0 1,-1 1-1,1-1 0,0 0 1,0 0-1,0 0 1,0-1-1,0 1 0,0 0 1,0-1-1,0 1 1,1-1-1,-1 0 1,4 1-1,-3-1-99,0 0 0,-1 0 0,1 1 0,0-1 0,-1 1 0,1 0 0,0 0 0,-1 0 0,1 0 1,-1 0-1,1 0 0,-1 1 0,0-1 0,0 1 0,4 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3T16:24:28.555"/>
    </inkml:context>
    <inkml:brush xml:id="br0">
      <inkml:brushProperty name="width" value="0.035" units="cm"/>
      <inkml:brushProperty name="height" value="0.035" units="cm"/>
      <inkml:brushProperty name="color" value="#F6630D"/>
    </inkml:brush>
  </inkml:definitions>
  <inkml:trace contextRef="#ctx0" brushRef="#br0">215 0 24575,'0'1'0,"0"0"0,-1 0 0,1 0 0,-1 0 0,1 0 0,-1 0 0,1 0 0,-1 0 0,1 0 0,-1 0 0,0 0 0,0 0 0,0 0 0,1-1 0,-1 1 0,0 0 0,0-1 0,0 1 0,0 0 0,-2 0 0,-27 12 0,18-8 0,-35 18 0,25-14 0,-30 19 0,52-28 0,0 0 0,-1 0 0,1 0 0,0 1 0,0-1 0,0 0 0,-1 0 0,1 0 0,0 0 0,0 0 0,0 0 0,-1 0 0,1 0 0,0 0 0,0 0 0,-1 0 0,1 0 0,0 0 0,0 0 0,0 0 0,-1 0 0,1 0 0,0 0 0,0 0 0,-1 0 0,1 0 0,0 0 0,0 0 0,0 0 0,-1 0 0,1-1 0,0 1 0,0 0 0,0 0 0,-1 0 0,1 0 0,0 0 0,0-1 0,0 1 0,0 0 0,0 0 0,0 0 0,-1-1 0,1 1 0,-2-16 0,2 13 0,0 0 0,1 0 0,-1 0 0,0 0 0,1 0 0,0 1 0,0-1 0,0 0 0,2-4 0,0 3 0,-6 5 0,-5 13 0,-2 10 0,-3 8 0,13-31 0,-1 1 0,1-1 0,0 0 0,0 0 0,0 0 0,-1 0 0,1 1 0,0-1 0,0 0 0,1 0 0,-1 0 0,0 0 0,0 0 0,0 1 0,1-1 0,-1 0 0,1 0 0,-1 0 0,1 0 0,-1 0 0,1 0 0,1 1 0,0-1-114,0 0 1,0 1-1,1-1 0,-1-1 0,0 1 1,1 0-1,-1-1 0,1 1 0,-1-1 0,1 0 1,5 0-1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3T16:24:32.241"/>
    </inkml:context>
    <inkml:brush xml:id="br0">
      <inkml:brushProperty name="width" value="0.035" units="cm"/>
      <inkml:brushProperty name="height" value="0.035" units="cm"/>
      <inkml:brushProperty name="color" value="#F6630D"/>
    </inkml:brush>
  </inkml:definitions>
  <inkml:trace contextRef="#ctx0" brushRef="#br0">313 1 24575,'-6'1'0,"0"1"0,0-1 0,0 1 0,1 1 0,-1-1 0,0 1 0,1 0 0,0 0 0,0 1 0,0 0 0,0 0 0,-4 5 0,-28 17 0,-52 31 0,20-12 0,69-45 0,-1 0 0,1 1 0,0-1 0,0 0 0,0 0 0,-1 0 0,1 0 0,0 0 0,0 0 0,0 1 0,-1-1 0,1 0 0,0 0 0,0 0 0,-1 0 0,1 0 0,0 0 0,0 0 0,-1 0 0,1 0 0,0 0 0,0 0 0,-1 0 0,1 0 0,0 0 0,0-1 0,0 1 0,-1 0 0,1 0 0,0 0 0,0 0 0,0 0 0,-1 0 0,1 0 0,0-1 0,0 1 0,0 0 0,0 0 0,-1 0 0,1-1 0,0 1 0,0 0 0,0 0 0,0 0 0,0-1 0,0 1 0,-1 0 0,1-18 0,8-17 0,8 14 0,-14 18 0,0 1 0,1-1 0,-1 1 0,0-1 0,-1 0 0,1 0 0,2-5 0,-27 31 0,4 2 0,15-21 0,0 0 0,0 1 0,0 0 0,1 0 0,0 0 0,0 0 0,1 0 0,-3 7 0,5-11 1,0 0-1,0 0 1,0 0-1,0 1 1,0-1-1,0 0 1,1 0-1,-1 0 1,0 0-1,1 0 1,-1 0 0,1-1-1,-1 1 1,1 0-1,-1 0 1,1 0-1,0 0 1,-1-1-1,1 1 1,0 0-1,0 0 1,0-1-1,-1 1 1,1-1-1,2 2 1,30 13-29,-12-6-1323</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3T16:24:33.544"/>
    </inkml:context>
    <inkml:brush xml:id="br0">
      <inkml:brushProperty name="width" value="0.035" units="cm"/>
      <inkml:brushProperty name="height" value="0.035" units="cm"/>
      <inkml:brushProperty name="color" value="#F6630D"/>
    </inkml:brush>
  </inkml:definitions>
  <inkml:trace contextRef="#ctx0" brushRef="#br0">242 0 24575,'-3'2'0,"-1"0"0,1 0 0,0 0 0,-1 0 0,1 1 0,0-1 0,-4 7 0,-3 0 0,-2-1 0,0 0 0,0 0 0,0-1 0,-1-1 0,-20 7 0,9-2 0,-20 5 0,39-15 0,-12 1 0,16-3 0,1 0 0,1 0 0,-1 0 0,0 0 0,0 0 0,0 0 0,0 0 0,1 1 0,-1-1 0,0 0 0,1 0 0,-1 0 0,0 0 0,1 1 0,-1-1 0,1 0 0,0 1 0,-1-1 0,2-1 0,6-13 0,-7 12 0,1 0 0,0 0 0,-1-1 0,1 1 0,0 0 0,0 0 0,1 1 0,-1-1 0,1 0 0,-1 1 0,4-3 0,-46 43 0,38-37 0,0 1 0,1 0 0,-1-1 0,1 1 0,-1 0 0,1 0 0,-1 0 0,1 0 0,0 0 0,0 0 0,0 0 0,0 0 0,0 1 0,1-1 0,-1 0 0,1 0 0,-1 4 0,1-4 0,1-1 0,-1 1 0,0-1 0,1 1 0,-1 0 0,1-1 0,0 1 0,0-1 0,-1 0 0,1 1 0,0-1 0,0 0 0,0 1 0,0-1 0,0 0 0,1 0 0,-1 0 0,0 0 0,1 0 0,-1 0 0,0 0 0,1 0 0,-1-1 0,1 1 0,1 0 0,7 2-52,-8-2-79,0-1 0,0 1-1,0 0 1,0 0 0,0 0-1,0 0 1,0 0 0,0 0-1,3 3 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3T16:24:34.673"/>
    </inkml:context>
    <inkml:brush xml:id="br0">
      <inkml:brushProperty name="width" value="0.035" units="cm"/>
      <inkml:brushProperty name="height" value="0.035" units="cm"/>
      <inkml:brushProperty name="color" value="#F6630D"/>
    </inkml:brush>
  </inkml:definitions>
  <inkml:trace contextRef="#ctx0" brushRef="#br0">184 25 24575,'-6'1'0,"1"0"0,0 1 0,-1-1 0,1 1 0,0 0 0,0 1 0,0-1 0,-8 6 0,-17 8 0,28-15 0,-2 1 0,0-1 0,1 1 0,-1-1 0,0 0 0,-1 0 0,1-1 0,-4 1 0,7-1 0,1 0 0,-1 0 0,1 0 0,-1 0 0,1 0 0,-1-1 0,1 1 0,0 0 0,-1 0 0,1 0 0,-1-1 0,1 1 0,0 0 0,-1 0 0,1-1 0,0 1 0,-1 0 0,1-1 0,0 1 0,-1 0 0,1-1 0,0 1 0,0-1 0,-1 1 0,1-1 0,0 1 0,2-23 0,23-19 0,-61 63 0,32-18 0,-1 0 0,1 1 0,-1-1 0,1 1 0,1 0 0,-1 0 0,-6 9 0,10-12 0,-1 1 0,1-1 0,-1 1 0,1 0 0,0-1 0,0 1 0,-1-1 0,1 1 0,0 0 0,0-1 0,1 1 0,-1-1 0,0 1 0,0 0 0,1-1 0,-1 1 0,1-1 0,0 1 0,-1-1 0,1 1 0,0-1 0,0 0 0,0 1 0,0-1 0,0 0 0,0 1 0,0-1 0,0 0 0,1 0 0,1 1 0,7 7 0,0-1 0,0 0 0,1-1 0,0 0 0,1-1 0,23 10 0,-30-13-1365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3T16:24:35.799"/>
    </inkml:context>
    <inkml:brush xml:id="br0">
      <inkml:brushProperty name="width" value="0.035" units="cm"/>
      <inkml:brushProperty name="height" value="0.035" units="cm"/>
      <inkml:brushProperty name="color" value="#F6630D"/>
    </inkml:brush>
  </inkml:definitions>
  <inkml:trace contextRef="#ctx0" brushRef="#br0">200 14 24575,'-6'1'0,"-1"0"0,1 1 0,0 0 0,0 1 0,0-1 0,0 1 0,-9 6 0,-9 3 0,18-9 0,0-1 0,0 0 0,0 0 0,-1 0 0,1 0 0,-9 0 0,15-3 0,-1 1 0,0-1 0,1 1 0,-1-1 0,1 1 0,-1-1 0,1 1 0,-1-1 0,1 1 0,-1-1 0,1 0 0,-1 1 0,1-1 0,0 0 0,-1 1 0,1-1 0,0 0 0,0 1 0,-1-1 0,1 0 0,0 0 0,0 1 0,0-1 0,0 0 0,0 0 0,0 1 0,0-1 0,0 0 0,0 0 0,1-1 0,-1 0 0,0 0 0,1 0 0,-1-1 0,1 1 0,-1 0 0,1 0 0,0 0 0,0 0 0,2-4 0,-3 6 0,14-16 0,-15 16 0,1-1 0,-1 1 0,0 0 0,1 0 0,-1 0 0,0 0 0,0 0 0,1 0 0,-1 0 0,0 0 0,1 0 0,-1 1 0,0-1 0,1 0 0,-1 0 0,0 0 0,1 1 0,-1-1 0,0 0 0,1 1 0,-1-1 0,1 1 0,-1-1 0,0 2 0,-8 1 0,-28 15 0,36-17 0,0-1 0,0 1 0,0-1 0,0 1 0,0-1 0,1 1 0,-1 0 0,0 0 0,0-1 0,0 1 0,1 0 0,-1 0 0,0 0 0,1 0 0,-1 0 0,0 0 0,1 0 0,0 0 0,-1 0 0,1 0 0,0 0 0,-1 0 0,1 0 0,0 1 0,0-1 0,0 0 0,0 1 0,1 0 0,0 0 0,0-1 0,0 1 0,0-1 0,0 0 0,1 1 0,-1-1 0,0 0 0,1 0 0,-1 0 0,1 1 0,0-2 0,-1 1 0,3 1 0,-2-1 0,0 0 0,1 1 0,-1-1 0,0 0 0,0 1 0,0 0 0,0-1 0,-1 1 0,1 0 0,2 3 0,1 11-1365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3T16:24:36.849"/>
    </inkml:context>
    <inkml:brush xml:id="br0">
      <inkml:brushProperty name="width" value="0.035" units="cm"/>
      <inkml:brushProperty name="height" value="0.035" units="cm"/>
      <inkml:brushProperty name="color" value="#F6630D"/>
    </inkml:brush>
  </inkml:definitions>
  <inkml:trace contextRef="#ctx0" brushRef="#br0">212 20 24575,'-13'1'0,"1"1"0,-1-1 0,-24 8 0,25-5 0,-1-1 0,0 0 0,1-1 0,-17 0 0,28-2 0,0 0 0,0 0 0,0 0 0,0 0 0,0 0 0,0 0 0,0 0 0,1 0 0,-1 0 0,0 0 0,0-1 0,0 1 0,0 0 0,0-1 0,0 1 0,0 0 0,0-1 0,0 1 0,1-1 0,-1 0 0,0 1 0,0-1 0,1 0 0,-1 1 0,0-1 0,1 0 0,-1 0 0,1 0 0,-1 1 0,0-3 0,1 1 0,0-1 0,0 1 0,0-1 0,0 0 0,1 1 0,-1-1 0,1 1 0,0-1 0,-1 1 0,1 0 0,2-3 0,-15 16 0,9-9 0,0 0 0,0 0 0,0 0 0,0 1 0,1 0 0,-1-1 0,-2 7 0,4-9 0,1 1 0,0 0 0,-1 0 0,1 0 0,0 0 0,0 0 0,0 0 0,0 0 0,0 0 0,0 0 0,0 0 0,0 0 0,1 0 0,-1 0 0,0 0 0,1 0 0,-1 0 0,0-1 0,1 1 0,-1 0 0,1 0 0,-1 0 0,1-1 0,0 1 0,-1 0 0,1 0 0,0-1 0,-1 1 0,1-1 0,0 1 0,0 0 0,0-1 0,-1 0 0,1 1 0,0-1 0,0 1 0,0-1 0,1 0 0,26 14-1365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3T16:24:37.945"/>
    </inkml:context>
    <inkml:brush xml:id="br0">
      <inkml:brushProperty name="width" value="0.035" units="cm"/>
      <inkml:brushProperty name="height" value="0.035" units="cm"/>
      <inkml:brushProperty name="color" value="#F6630D"/>
    </inkml:brush>
  </inkml:definitions>
  <inkml:trace contextRef="#ctx0" brushRef="#br0">149 50 24575,'0'-2'0,"-1"2"0,-7 8 0,3-5 0,1 0 0,-1 0 0,1-1 0,-1 0 0,0 0 0,0 0 0,0-1 0,0 1 0,-1-1 0,1 0 0,-6 0 0,10-2 0,0 1 0,0-1 0,0 0 0,1 1 0,-1-1 0,0 0 0,0 0 0,0 0 0,1 1 0,-1-1 0,0 0 0,1 0 0,-1 0 0,1 0 0,-1 0 0,1 0 0,-1 0 0,1 0 0,0-1 0,0 1 0,-1 0 0,1 0 0,0 0 0,0 0 0,0 0 0,0 0 0,0-1 0,1 0 0,5-39 0,-4 32 0,-35 24 0,31-14 0,0 0 0,-1 0 0,1 0 0,0 1 0,0-1 0,0 0 0,0 1 0,1 0 0,-1-1 0,0 1 0,1 0 0,-1 0 0,1 0 0,-1 0 0,1 0 0,0 0 0,0 0 0,0 1 0,0-1 0,0 0 0,1 1 0,-1-1 0,1 0 0,-1 1 0,1-1 0,0 1 0,0-1 0,0 0 0,1 4 0,0-2 0,0 0 0,1 0 0,0 0 0,0 0 0,0 0 0,0-1 0,1 1 0,-1-1 0,1 1 0,0-1 0,0 0 0,0 0 0,0-1 0,0 1 0,1-1 0,3 3 0,12 7-1365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3T16:26:36.217"/>
    </inkml:context>
    <inkml:brush xml:id="br0">
      <inkml:brushProperty name="width" value="0.035" units="cm"/>
      <inkml:brushProperty name="height" value="0.035" units="cm"/>
      <inkml:brushProperty name="color" value="#F6630D"/>
    </inkml:brush>
  </inkml:definitions>
  <inkml:trace contextRef="#ctx0" brushRef="#br0">1545 0 24566,'-1544'683'0,"1749"-673"0,-410-20 0,336-149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3T16:26:43.897"/>
    </inkml:context>
    <inkml:brush xml:id="br0">
      <inkml:brushProperty name="width" value="0.035" units="cm"/>
      <inkml:brushProperty name="height" value="0.035" units="cm"/>
      <inkml:brushProperty name="color" value="#F6630D"/>
    </inkml:brush>
  </inkml:definitions>
  <inkml:trace contextRef="#ctx0" brushRef="#br0">568 0 24575,'-5'1'0,"1"0"0,-1 0 0,1 1 0,-1-1 0,1 1 0,0 0 0,0 0 0,-7 5 0,-21 9 0,-133 48 0,117-49 0,23-6 0,0-1 0,0-1 0,-1-2 0,0 0 0,-38 1 0,61-6 0,-1 0 0,0 0 0,0 0 0,0 0 0,0-1 0,0 1 0,0-1 0,-5-2 0,8 3 0,1 0 0,0 0 0,-1-1 0,1 1 0,-1 0 0,1 0 0,0-1 0,0 1 0,-1 0 0,1-1 0,0 1 0,-1 0 0,1-1 0,0 1 0,0 0 0,0-1 0,0 1 0,-1-1 0,1 1 0,0-1 0,0 1 0,0 0 0,0-1 0,0 1 0,0-1 0,0 1 0,0-1 0,11-20 0,11-4 0,-20 23 0,-3 4 0,-12 14 0,2-3 0,1 0 0,0 1 0,1 0 0,-12 25 0,21-38 0,0-1 0,0 1 0,0-1 0,0 1 0,0-1 0,0 1 0,0-1 0,0 1 0,1-1 0,-1 1 0,0-1 0,0 1 0,0-1 0,0 1 0,1-1 0,-1 0 0,0 1 0,0-1 0,1 1 0,-1-1 0,0 0 0,1 1 0,-1-1 0,1 0 0,-1 1 0,0-1 0,1 0 0,-1 0 0,1 1 0,-1-1 0,1 0 0,-1 0 0,0 0 0,1 0 0,-1 1 0,1-1 0,-1 0 0,1 0 0,-1 0 0,1 0 0,0 0 0,30 3 0,-20-3 0,47 9-1365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3T16:27:10.448"/>
    </inkml:context>
    <inkml:brush xml:id="br0">
      <inkml:brushProperty name="width" value="0.035" units="cm"/>
      <inkml:brushProperty name="height" value="0.035" units="cm"/>
      <inkml:brushProperty name="color" value="#F6630D"/>
    </inkml:brush>
  </inkml:definitions>
  <inkml:trace contextRef="#ctx0" brushRef="#br0">1 0 24575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3T16:27:46.912"/>
    </inkml:context>
    <inkml:brush xml:id="br0">
      <inkml:brushProperty name="width" value="0.035" units="cm"/>
      <inkml:brushProperty name="height" value="0.035" units="cm"/>
      <inkml:brushProperty name="color" value="#F6630D"/>
    </inkml:brush>
  </inkml:definitions>
  <inkml:trace contextRef="#ctx0" brushRef="#br0">4946 1 24494,'-4946'1193'0,"5147"-1147"0,-402-92 0,359-87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3T16:28:03.037"/>
    </inkml:context>
    <inkml:brush xml:id="br0">
      <inkml:brushProperty name="width" value="0.035" units="cm"/>
      <inkml:brushProperty name="height" value="0.035" units="cm"/>
      <inkml:brushProperty name="color" value="#F6630D"/>
    </inkml:brush>
  </inkml:definitions>
  <inkml:trace contextRef="#ctx0" brushRef="#br0">0 495 24499,'3860'-423'0,"-4054"352"0,388 142 0,-367 41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3T16:28:08.303"/>
    </inkml:context>
    <inkml:brush xml:id="br0">
      <inkml:brushProperty name="width" value="0.035" units="cm"/>
      <inkml:brushProperty name="height" value="0.035" units="cm"/>
      <inkml:brushProperty name="color" value="#F6630D"/>
    </inkml:brush>
  </inkml:definitions>
  <inkml:trace contextRef="#ctx0" brushRef="#br0">4988 370 24505,'-4988'-289'0,"5167"392"0,-358-206 0,369 22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3T16:28:16.052"/>
    </inkml:context>
    <inkml:brush xml:id="br0">
      <inkml:brushProperty name="width" value="0.035" units="cm"/>
      <inkml:brushProperty name="height" value="0.035" units="cm"/>
      <inkml:brushProperty name="color" value="#F6630D"/>
    </inkml:brush>
  </inkml:definitions>
  <inkml:trace contextRef="#ctx0" brushRef="#br0">0 93 24525,'5785'0'0,"-5969"-92"0,368 184 0,-368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3T16:28:21.791"/>
    </inkml:context>
    <inkml:brush xml:id="br0">
      <inkml:brushProperty name="width" value="0.035" units="cm"/>
      <inkml:brushProperty name="height" value="0.035" units="cm"/>
      <inkml:brushProperty name="color" value="#F6630D"/>
    </inkml:brush>
  </inkml:definitions>
  <inkml:trace contextRef="#ctx0" brushRef="#br0">6146 407 24499,'-6145'-324'0,"6324"426"0,-358-204 0,368 20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1109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LinearMind. This deck has two parts:
PART A covers the core concepts of Linear Regression — what it is, how it works mathematically, and where it can go wrong.
PART B introduces the LinearMind platform and shows how it teaches every one of those concepts through interactive tools.
Key takeaway: By the end you'll understand both the theory and how our platform makes it learnable by anyone.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split into two halves.
The first half gives everyone — technical or not — a solid mental model of what Linear Regression is and why it matters.
The second half shows how LinearMind delivers that understanding through interactive tools.
Key takeaway: Concept first, product second. You'll see exactly how the platform maps onto the theory.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Regression isn't just an academic exercise. It's the first model you should understand because:
1. It's transparent — you can read off the effect of each variable from the coefficients.
2. The 'weighted sum + bias' pattern is literally the computation inside every neuron.
3. Real applications: predicting house prices from size, estimating patient risk scores, forecasting energy demand.
Key takeaway: Mastering this one model gives you the intuition needed to understand far more complex systems.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notation carefully.
x is the input (e.g. size of house in sq ft).
ŷ (y-hat) is our prediction (estimated price).
w controls the slope — steeper w means a bigger effect of x.
b is the y-intercept — it shifts the whole line up or down.
The 'best' line is one that gets as close as possible to all the data points simultaneously. We haven't defined 'close' yet — that's the next slide.
Key takeaway: Linear regression is just a line; the challenge is finding the right slope and intercept.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important conceptual split: prediction vs. learning.
Once w and b are fixed, making a prediction is trivial arithmetic. The hard part is deciding which w and b to use.
The 'learning problem' is: given a dataset, find the w and b such that ŷ is as close to the true y as possible for all examples.
Key takeaway: Inference is O(1) arithmetic; all the complexity is in the training phase.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residual is simply the vertical distance between a data point and the model's prediction.
Positive residual: the model underestimated.
Negative residual: the model overestimated.
If you look at the residuals together and they form a curve, that's a sign that a straight line isn't the right model for this data.
Key takeaway: Residuals are how we measure individual errors; we need to combine them into one summary number to optimize — that's the loss function.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MSE stands for Mean Squared Error.
Breaking down the formula:
— n is the number of data points
— yᵢ is the true value, ŷᵢ is our prediction
— We square the difference to keep it positive and to punish large mistakes more
— We average so the scale doesn't depend on dataset size
Why not just use absolute value? Squaring is differentiable everywhere, which is essential for gradient descent to work.
Key takeaway: MSE converts many residuals into a single optimisation target — minimize this number.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linear regression with MSE, the loss surface is always a convex bowl — there's only one minimum. This is a special property that makes things simpler.
For most real models (neural networks, etc.), the surface is highly non-convex with many local minima.
Key takeaway: Optimization is about navigating the loss landscape to the minimum; gradient descent is the algorithm we use to do this.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Gradient descent is the workhorse of machine learning optimisation.
The key insight: the gradient (partial derivative) tells us which direction is uphill on the loss surface. So we step in the opposite direction.
We repeat this many times (once per epoch or per batch) until the parameters converge to values that minimize the loss.
Key takeaway: Each step of gradient descent slightly improves our parameters; over many iterations we reach a minimum.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learning rate α is often called the most sensitive hyperparameter in gradient-based optimisation.
Too small: you'll get there, just painfully slowly.
Too large: the algorithm may oscillate wildly or diverge.
Just right: stable, efficient learning.
In practice, techniques like learning rate schedules, Adam optimizer, and learning rate finders automate this selection.
Key takeaway: Choosing a good learning rate is essential — LinearMind's gradient descent visualisation lets you experiment with this interactively.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is an iterative loop, not a single calculation.
Each complete pass through the training data is called an epoch. In each epoch (or batch), we make predictions, measure error, compute gradients, and update the parameters.
Convergence happens when the loss decreases by less than some threshold, or we reach a maximum number of epochs.
Key takeaway: Training is repetition — the model gradually improves with each epoch.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regression has clear assumptions. When they're violated, predictions suffer.
Outliers: Use robust regression or identify/remove data quality issues.
Nonlinearity: Add polynomial features or switch to a nonlinear model.
Heteroscedasticity: Use weighted regression or transform the target variable.
Multicollinearity: Use regularisation (Ridge/Lasso) or remove correlated features.
Key takeaway: Always inspect residuals and check assumptions — LinearMind has a dedicated 'Failure Cases' module and interactive explorer for this.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jump from one input to many inputs is straightforward algebraically — we just add more terms.
But the implications are significant:
1. Feature scaling: if x₁ is in thousands and x₂ is a fraction, the weights will be on completely different scales, distorting gradient descent.
2. Interpretability still holds — wᵢ = 'effect of feature i, holding everything else constant.'
3. This is directly the bridge to logistic regression and neural networks, where you add nonlinearities on top.
Key takeaway: Multivariable regression is linear regression with a vector input — powerful but requiring careful data preparation.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metrics reveal different things:
MAE: easy to explain to non-technical stakeholders ('on average we're off by $5,000').
MSE: the standard optimisation target; sensitive to outliers.
RMSE: the square root brings it back to the original scale — compare directly to the target's standard deviation.
R²: tells you how much better you are than just predicting the mean every time. Always compare your model against this baseline.
Key takeaway: Use RMSE for interpretability, R² for model quality assessment, and MAE when outliers shouldn't dominate the score.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transition slide.
Now that everyone understands what Linear Regression is — how it works mathematically, what can go wrong, and how to evaluate it — we can show exactly how LinearMind was designed to teach each of these concepts.
Key takeaway: Every feature of the LinearMind platform maps directly onto a concept we just covered.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LinearMind is not a video course or a textbook. It is a browser-based platform that combines every learning modality:
- Structured modules that build on each other
- Visualisations you can interact with (drag, adjust, observe)
- A playground for free experimentation
- An AI tutor that explains concepts in your preferred style
- Quizzes to reinforce knowledge
- Progress tracking that motivates consistency
Key takeaway: LinearMind is designed as an end-to-end learning experience, not just a reference tool.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implemented numbers — not roadmap targets.
13 modules, 28 lessons, 15 interactive visualization components, 82 quiz questions, 8 code examples across Python/JS/TS, and 10 achievement badges.
Every one of these is live in the platform. We're presenting facts, not forecasts.
Key takeaway: LinearMind is a complete, fully built product — not a prototype.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curriculum is carefully sequenced:
— Modules 1–2: Historical context and big-picture intuition
— Modules 3–6: The mathematical machinery (notation, loss, gradient descent, training)
— Module 7: Failure modes (critical for real-world use)
— Modules 8–10: Comparisons, multivariable, data intuition
— Modules 11–12: Advanced evaluation concepts (bias-variance, metrics)
— Module 13: Bridge from linear regression directly into neural networks
Key takeaway: The progression isn't arbitrary — each module builds on the last, ending with a bridge to deep learning.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 15 visualization components corresponds to a specific concept in the curriculum.
For example: the Gradient Descent 3D visualizer lets you watch the loss surface and see the optimizer's path in real time. The Bias-Variance Demo lets you drag a complexity slider and watch underfitting and overfitting happen live.
The Neuron Bridge is especially interesting — it shows the mathematical equivalence between a linear regression model and a single artificial neuron, which directly motivates the neural networks module.
Key takeaway: Interactivity is the core learning mechanic — every major concept has a hands-on component.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Playground is a free-form regression workbench.
Users can:
— Click to add data points, drag them to new positions
— Watch the regression line refit immediately
— Load one of 6 presets to explore specific scenarios (outliers, quadratic data, clusters, etc.)
— Toggle overlays: show residuals as vertical lines, display the equation, add a confidence band, or open a residual histogram
This is the most exploratory part of the platform — it has no 'lesson' framing, just pure experimentation.
Key takeaway: The Playground lets learners build intuition through direct manipulation of data, not by reading about 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Tutor is accessible from anywhere in the platform via a floating chat button.
It uses the Gemini API through a Next.js server route at /api/chat — the API key never leaves the server.
The four explanation modes are genuinely different: selecting 'Child' gets analogies and everyday examples, selecting 'Math' gets partial derivatives and formal notation.
It also renders LaTeX-style math in the response for the Math and Engineer modes.
Key takeaway: The AI tutor adapts to the user's background, not the other way around — the same question can be explained four different ways.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Quizzes serve a different learning function from the visualizations.
While the visuals build intuition, quizzes test whether the learner can correctly apply a concept — is this a situation where MSE is the right metric? What happens to the gradient when we're at the minimum?
Scores are stored per-module in Firestore under quizScores: Record&lt;string, number&gt;, so learners can see which modules need more work.
Key takeaway: Quizzes close the feedback loop — you don't just see the concept, you prove you understand it.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examples page bridges the gap between mathematical understanding and practical implementation.
A learner who's just mastered gradient descent conceptually can now immediately see how to write it in Python or JavaScript — with proper gradient computations, learning rate, and iteration loop.
Three languages are supported to accommodate different audiences: Python (data science), JavaScript (web developers), TypeScript (typed JS for those who prefer it).
Key takeaway: LinearMind doesn't stop at intuition — it shows you how to build it yourself.</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gamification layer is designed to encourage consistency, not just one-off visits.
XP accumulates as lessons are completed and quizzes are passed.
The streak tracks how many consecutive days the user has been active.
The 10 achievements reward specific milestones (completing a module, achieving a perfect quiz score, etc.).
All of this is persisted to Firestore under the user's document, so it syncs across devices automatically.
Key takeaway: Progress tracking isn't cosmetic — it's a mechanism for sustaining long-term engagement.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enforced at the Firestore rules layer — not just in application code.
Even if someone obtains another user's UID, they cannot read or modify that user's progress document because the rule requires request.auth.uid to match the document path.
All analytics tracking is conditional — Firebase Analytics is only initialised 'when supported', respecting browser privacy settings.
Key takeaway: User data is protected by database-level security rules, not trust in the frontend.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technical picture.
Frontend: Next.js with the App Router handles server and client components. React 19 with concurrent features. Tailwind CSS 4 for styling with the dark glassmorphism design. Zustand with local storage persistence for UI state that doesn't need cloud sync.
API: The AI chat is routed through a Next.js server route so the Gemini API key is never exposed to the browser.
Firebase: handles authentication (no passwords to manage), progress persistence (syncs across devices), and optional analytics.
Key takeaway: LinearMind is a modern, well-architected full-stack application — content, interaction, AI assistance, and cloud sync all working together.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5FAC8-6FC4-F65D-F7C4-52466D5504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B93EA1-DD12-B557-BD46-1831758895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23E326-0BBE-6F9F-4850-379C3AE2C518}"/>
              </a:ext>
            </a:extLst>
          </p:cNvPr>
          <p:cNvSpPr>
            <a:spLocks noGrp="1"/>
          </p:cNvSpPr>
          <p:nvPr>
            <p:ph type="body" idx="1"/>
          </p:nvPr>
        </p:nvSpPr>
        <p:spPr/>
        <p:txBody>
          <a:bodyPr/>
          <a:lstStyle/>
          <a:p>
            <a:r>
              <a:rPr lang="en-US" dirty="0"/>
              <a:t>This is the full technical picture.
Frontend: Next.js with the App Router handles server and client components. React 19 with concurrent features. Tailwind CSS 4 for styling with the dark glassmorphism design. Zustand with local storage persistence for UI state that doesn't need cloud sync.
API: The AI chat is routed through a Next.js server route so the Gemini API key is never exposed to the browser.
Firebase: handles authentication (no passwords to manage), progress persistence (syncs across devices), and optional analytics.
Key takeaway: LinearMind is a modern, well-architected full-stack application — content, interaction, AI assistance, and cloud sync all working together.</a:t>
            </a:r>
          </a:p>
        </p:txBody>
      </p:sp>
      <p:sp>
        <p:nvSpPr>
          <p:cNvPr id="4" name="Slide Number Placeholder 3">
            <a:extLst>
              <a:ext uri="{FF2B5EF4-FFF2-40B4-BE49-F238E27FC236}">
                <a16:creationId xmlns:a16="http://schemas.microsoft.com/office/drawing/2014/main" id="{3E21DF7F-BA7A-6ED0-542F-B6CF0CE488D9}"/>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6109950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3" Type="http://schemas.openxmlformats.org/officeDocument/2006/relationships/customXml" Target="../ink/ink5.xml"/><Relationship Id="rId18" Type="http://schemas.openxmlformats.org/officeDocument/2006/relationships/image" Target="../media/image17.png"/><Relationship Id="rId26" Type="http://schemas.openxmlformats.org/officeDocument/2006/relationships/image" Target="../media/image21.png"/><Relationship Id="rId39" Type="http://schemas.openxmlformats.org/officeDocument/2006/relationships/customXml" Target="../ink/ink17.xml"/><Relationship Id="rId21" Type="http://schemas.openxmlformats.org/officeDocument/2006/relationships/customXml" Target="../ink/ink9.xml"/><Relationship Id="rId34" Type="http://schemas.openxmlformats.org/officeDocument/2006/relationships/image" Target="../media/image26.png"/><Relationship Id="rId42" Type="http://schemas.openxmlformats.org/officeDocument/2006/relationships/image" Target="../media/image30.png"/><Relationship Id="rId7" Type="http://schemas.openxmlformats.org/officeDocument/2006/relationships/customXml" Target="../ink/ink2.xml"/><Relationship Id="rId2" Type="http://schemas.openxmlformats.org/officeDocument/2006/relationships/notesSlide" Target="../notesSlides/notesSlide10.xml"/><Relationship Id="rId16" Type="http://schemas.openxmlformats.org/officeDocument/2006/relationships/image" Target="../media/image16.png"/><Relationship Id="rId20" Type="http://schemas.openxmlformats.org/officeDocument/2006/relationships/image" Target="../media/image18.png"/><Relationship Id="rId29" Type="http://schemas.openxmlformats.org/officeDocument/2006/relationships/image" Target="../media/image23.png"/><Relationship Id="rId41" Type="http://schemas.openxmlformats.org/officeDocument/2006/relationships/customXml" Target="../ink/ink18.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customXml" Target="../ink/ink4.xml"/><Relationship Id="rId24" Type="http://schemas.openxmlformats.org/officeDocument/2006/relationships/image" Target="../media/image20.png"/><Relationship Id="rId32" Type="http://schemas.openxmlformats.org/officeDocument/2006/relationships/customXml" Target="../ink/ink14.xml"/><Relationship Id="rId37" Type="http://schemas.openxmlformats.org/officeDocument/2006/relationships/customXml" Target="../ink/ink16.xml"/><Relationship Id="rId40" Type="http://schemas.openxmlformats.org/officeDocument/2006/relationships/image" Target="../media/image29.png"/><Relationship Id="rId5" Type="http://schemas.openxmlformats.org/officeDocument/2006/relationships/customXml" Target="../ink/ink1.xml"/><Relationship Id="rId15" Type="http://schemas.openxmlformats.org/officeDocument/2006/relationships/customXml" Target="../ink/ink6.xml"/><Relationship Id="rId23" Type="http://schemas.openxmlformats.org/officeDocument/2006/relationships/customXml" Target="../ink/ink10.xml"/><Relationship Id="rId28" Type="http://schemas.openxmlformats.org/officeDocument/2006/relationships/customXml" Target="../ink/ink12.xml"/><Relationship Id="rId36" Type="http://schemas.openxmlformats.org/officeDocument/2006/relationships/image" Target="../media/image27.png"/><Relationship Id="rId10" Type="http://schemas.openxmlformats.org/officeDocument/2006/relationships/image" Target="../media/image13.png"/><Relationship Id="rId19" Type="http://schemas.openxmlformats.org/officeDocument/2006/relationships/customXml" Target="../ink/ink8.xml"/><Relationship Id="rId31" Type="http://schemas.openxmlformats.org/officeDocument/2006/relationships/image" Target="../media/image24.png"/><Relationship Id="rId44" Type="http://schemas.openxmlformats.org/officeDocument/2006/relationships/image" Target="../media/image31.png"/><Relationship Id="rId4" Type="http://schemas.openxmlformats.org/officeDocument/2006/relationships/image" Target="../media/image10.png"/><Relationship Id="rId9" Type="http://schemas.openxmlformats.org/officeDocument/2006/relationships/customXml" Target="../ink/ink3.xml"/><Relationship Id="rId14" Type="http://schemas.openxmlformats.org/officeDocument/2006/relationships/image" Target="../media/image15.png"/><Relationship Id="rId22" Type="http://schemas.openxmlformats.org/officeDocument/2006/relationships/image" Target="../media/image19.png"/><Relationship Id="rId27" Type="http://schemas.openxmlformats.org/officeDocument/2006/relationships/image" Target="../media/image22.png"/><Relationship Id="rId30" Type="http://schemas.openxmlformats.org/officeDocument/2006/relationships/customXml" Target="../ink/ink13.xml"/><Relationship Id="rId35" Type="http://schemas.openxmlformats.org/officeDocument/2006/relationships/customXml" Target="../ink/ink15.xml"/><Relationship Id="rId43" Type="http://schemas.openxmlformats.org/officeDocument/2006/relationships/customXml" Target="../ink/ink19.xml"/><Relationship Id="rId8" Type="http://schemas.openxmlformats.org/officeDocument/2006/relationships/image" Target="../media/image12.png"/><Relationship Id="rId3" Type="http://schemas.openxmlformats.org/officeDocument/2006/relationships/image" Target="../media/image1.png"/><Relationship Id="rId12" Type="http://schemas.openxmlformats.org/officeDocument/2006/relationships/image" Target="../media/image14.png"/><Relationship Id="rId17" Type="http://schemas.openxmlformats.org/officeDocument/2006/relationships/customXml" Target="../ink/ink7.xml"/><Relationship Id="rId25" Type="http://schemas.openxmlformats.org/officeDocument/2006/relationships/customXml" Target="../ink/ink11.xml"/><Relationship Id="rId33" Type="http://schemas.openxmlformats.org/officeDocument/2006/relationships/image" Target="../media/image25.png"/><Relationship Id="rId38"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17.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1.png"/><Relationship Id="rId7"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png"/><Relationship Id="rId4" Type="http://schemas.openxmlformats.org/officeDocument/2006/relationships/image" Target="../media/image34.png"/><Relationship Id="rId9"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47.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1.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50.png"/><Relationship Id="rId4" Type="http://schemas.openxmlformats.org/officeDocument/2006/relationships/image" Target="../media/image49.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53.png"/><Relationship Id="rId4" Type="http://schemas.openxmlformats.org/officeDocument/2006/relationships/image" Target="../media/image52.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37.png"/><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914400" y="914400"/>
            <a:ext cx="7315200" cy="1005840"/>
          </a:xfrm>
          <a:prstGeom prst="rect">
            <a:avLst/>
          </a:prstGeom>
          <a:noFill/>
          <a:ln/>
        </p:spPr>
        <p:txBody>
          <a:bodyPr wrap="square" lIns="0" tIns="0" rIns="0" bIns="0" rtlCol="0" anchor="ctr"/>
          <a:lstStyle/>
          <a:p>
            <a:pPr marL="0" indent="0" algn="ctr">
              <a:buNone/>
            </a:pPr>
            <a:r>
              <a:rPr lang="en-US" sz="5200" b="1" dirty="0">
                <a:solidFill>
                  <a:srgbClr val="818CF8"/>
                </a:solidFill>
                <a:latin typeface="Inter" panose="02000503000000020004" pitchFamily="2" charset="0"/>
                <a:ea typeface="Inter" panose="02000503000000020004" pitchFamily="2" charset="0"/>
                <a:cs typeface="Calibri" pitchFamily="34" charset="-120"/>
              </a:rPr>
              <a:t>LinearMind</a:t>
            </a:r>
            <a:endParaRPr lang="en-US" sz="5200" dirty="0">
              <a:latin typeface="Inter" panose="02000503000000020004" pitchFamily="2" charset="0"/>
              <a:ea typeface="Inter" panose="02000503000000020004" pitchFamily="2" charset="0"/>
            </a:endParaRPr>
          </a:p>
        </p:txBody>
      </p:sp>
      <p:sp>
        <p:nvSpPr>
          <p:cNvPr id="4" name="Text 1"/>
          <p:cNvSpPr/>
          <p:nvPr/>
        </p:nvSpPr>
        <p:spPr>
          <a:xfrm>
            <a:off x="914400" y="1896854"/>
            <a:ext cx="7315200" cy="502920"/>
          </a:xfrm>
          <a:prstGeom prst="rect">
            <a:avLst/>
          </a:prstGeom>
          <a:noFill/>
          <a:ln/>
        </p:spPr>
        <p:txBody>
          <a:bodyPr wrap="square" lIns="0" tIns="0" rIns="0" bIns="0" rtlCol="0" anchor="ctr"/>
          <a:lstStyle/>
          <a:p>
            <a:pPr marL="0" indent="0" algn="ctr">
              <a:buNone/>
            </a:pPr>
            <a:r>
              <a:rPr lang="en-US" sz="1800" dirty="0">
                <a:solidFill>
                  <a:srgbClr val="E2E8F0"/>
                </a:solidFill>
                <a:latin typeface="Inter" panose="02000503000000020004" pitchFamily="2" charset="0"/>
                <a:ea typeface="Inter" panose="02000503000000020004" pitchFamily="2" charset="0"/>
                <a:cs typeface="Calibri" pitchFamily="34" charset="-120"/>
              </a:rPr>
              <a:t>Interactive AI-Powered Learning for Linear Regression</a:t>
            </a:r>
            <a:endParaRPr lang="en-US" sz="1800" dirty="0">
              <a:latin typeface="Inter" panose="02000503000000020004" pitchFamily="2" charset="0"/>
              <a:ea typeface="Inter" panose="02000503000000020004" pitchFamily="2" charset="0"/>
            </a:endParaRPr>
          </a:p>
        </p:txBody>
      </p:sp>
      <p:sp>
        <p:nvSpPr>
          <p:cNvPr id="5" name="Text 2"/>
          <p:cNvSpPr/>
          <p:nvPr/>
        </p:nvSpPr>
        <p:spPr>
          <a:xfrm>
            <a:off x="1371600" y="2345967"/>
            <a:ext cx="6400800" cy="365760"/>
          </a:xfrm>
          <a:prstGeom prst="rect">
            <a:avLst/>
          </a:prstGeom>
          <a:noFill/>
          <a:ln/>
        </p:spPr>
        <p:txBody>
          <a:bodyPr wrap="square" lIns="0" tIns="0" rIns="0" bIns="0" rtlCol="0" anchor="ctr"/>
          <a:lstStyle/>
          <a:p>
            <a:pPr marL="0" indent="0" algn="ctr">
              <a:buNone/>
            </a:pPr>
            <a:r>
              <a:rPr lang="en-US" sz="1300" i="1" dirty="0">
                <a:solidFill>
                  <a:srgbClr val="94A3B8"/>
                </a:solidFill>
                <a:latin typeface="Inter" panose="02000503000000020004" pitchFamily="2" charset="0"/>
                <a:ea typeface="Inter" panose="02000503000000020004" pitchFamily="2" charset="0"/>
                <a:cs typeface="Calibri" pitchFamily="34" charset="-120"/>
              </a:rPr>
              <a:t>Neural </a:t>
            </a:r>
            <a:r>
              <a:rPr lang="en-US" sz="1300" i="1" dirty="0">
                <a:solidFill>
                  <a:srgbClr val="8693A6"/>
                </a:solidFill>
                <a:latin typeface="Inter" panose="02000503000000020004" pitchFamily="2" charset="0"/>
                <a:ea typeface="Inter" panose="02000503000000020004" pitchFamily="2" charset="0"/>
                <a:cs typeface="Calibri" pitchFamily="34" charset="-120"/>
              </a:rPr>
              <a:t>Networks</a:t>
            </a:r>
            <a:r>
              <a:rPr lang="en-US" sz="1300" i="1" dirty="0">
                <a:solidFill>
                  <a:srgbClr val="94A3B8"/>
                </a:solidFill>
                <a:latin typeface="Inter" panose="02000503000000020004" pitchFamily="2" charset="0"/>
                <a:ea typeface="Inter" panose="02000503000000020004" pitchFamily="2" charset="0"/>
                <a:cs typeface="Calibri" pitchFamily="34" charset="-120"/>
              </a:rPr>
              <a:t> Course Project </a:t>
            </a:r>
          </a:p>
        </p:txBody>
      </p:sp>
      <p:sp>
        <p:nvSpPr>
          <p:cNvPr id="10" name="Text 7"/>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latin typeface="Inter" panose="02000503000000020004" pitchFamily="2" charset="0"/>
                <a:ea typeface="Inter" panose="02000503000000020004" pitchFamily="2" charset="0"/>
              </a:rPr>
              <a:t>LinearMind</a:t>
            </a:r>
            <a:endParaRPr lang="en-US" sz="900" dirty="0">
              <a:latin typeface="Inter" panose="02000503000000020004" pitchFamily="2" charset="0"/>
              <a:ea typeface="Inter" panose="02000503000000020004" pitchFamily="2" charset="0"/>
            </a:endParaRPr>
          </a:p>
        </p:txBody>
      </p:sp>
      <p:sp>
        <p:nvSpPr>
          <p:cNvPr id="11" name="Text 8"/>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latin typeface="Inter" panose="02000503000000020004" pitchFamily="2" charset="0"/>
                <a:ea typeface="Inter" panose="02000503000000020004" pitchFamily="2" charset="0"/>
              </a:rPr>
              <a:t>1</a:t>
            </a:r>
            <a:endParaRPr lang="en-US" sz="900" dirty="0">
              <a:latin typeface="Inter" panose="02000503000000020004" pitchFamily="2" charset="0"/>
              <a:ea typeface="Inter" panose="02000503000000020004" pitchFamily="2" charset="0"/>
            </a:endParaRPr>
          </a:p>
        </p:txBody>
      </p:sp>
      <p:sp>
        <p:nvSpPr>
          <p:cNvPr id="12" name="Shape 9"/>
          <p:cNvSpPr/>
          <p:nvPr/>
        </p:nvSpPr>
        <p:spPr>
          <a:xfrm>
            <a:off x="274320" y="4873752"/>
            <a:ext cx="8595360" cy="0"/>
          </a:xfrm>
          <a:prstGeom prst="line">
            <a:avLst/>
          </a:prstGeom>
          <a:noFill/>
          <a:ln w="635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sp>
        <p:nvSpPr>
          <p:cNvPr id="13" name="Shape 1">
            <a:extLst>
              <a:ext uri="{FF2B5EF4-FFF2-40B4-BE49-F238E27FC236}">
                <a16:creationId xmlns:a16="http://schemas.microsoft.com/office/drawing/2014/main" id="{F98A14F5-199B-ECDF-A4DE-5F2462D14EB6}"/>
              </a:ext>
            </a:extLst>
          </p:cNvPr>
          <p:cNvSpPr/>
          <p:nvPr/>
        </p:nvSpPr>
        <p:spPr>
          <a:xfrm>
            <a:off x="2606040" y="2754631"/>
            <a:ext cx="3931920" cy="1409406"/>
          </a:xfrm>
          <a:prstGeom prst="rect">
            <a:avLst/>
          </a:prstGeom>
          <a:solidFill>
            <a:srgbClr val="111120"/>
          </a:solidFill>
          <a:ln w="12700">
            <a:solidFill>
              <a:srgbClr val="6366F1"/>
            </a:solidFill>
            <a:prstDash val="solid"/>
          </a:ln>
          <a:effectLst>
            <a:outerShdw blurRad="152400" dist="38100" dir="8100000" algn="bl" rotWithShape="0">
              <a:srgbClr val="000000">
                <a:alpha val="35000"/>
              </a:srgbClr>
            </a:outerShdw>
          </a:effectLst>
        </p:spPr>
        <p:txBody>
          <a:bodyPr/>
          <a:lstStyle/>
          <a:p>
            <a:pPr algn="ctr">
              <a:spcBef>
                <a:spcPts val="100"/>
              </a:spcBef>
              <a:spcAft>
                <a:spcPts val="50"/>
              </a:spcAft>
            </a:pPr>
            <a:r>
              <a:rPr lang="en-US" sz="1050" dirty="0">
                <a:solidFill>
                  <a:schemeClr val="bg1"/>
                </a:solidFill>
                <a:latin typeface="Inter" panose="02000503000000020004" pitchFamily="2" charset="0"/>
                <a:ea typeface="Inter" panose="02000503000000020004" pitchFamily="2" charset="0"/>
                <a:cs typeface="Calibri" pitchFamily="34" charset="-120"/>
              </a:rPr>
              <a:t>Submitted To:</a:t>
            </a:r>
            <a:br>
              <a:rPr lang="en-US" sz="1050" dirty="0">
                <a:solidFill>
                  <a:schemeClr val="bg1"/>
                </a:solidFill>
                <a:latin typeface="Inter" panose="02000503000000020004" pitchFamily="2" charset="0"/>
                <a:ea typeface="Inter" panose="02000503000000020004" pitchFamily="2" charset="0"/>
                <a:cs typeface="Calibri" pitchFamily="34" charset="-120"/>
              </a:rPr>
            </a:br>
            <a:r>
              <a:rPr lang="en-US" sz="1050" dirty="0">
                <a:solidFill>
                  <a:schemeClr val="bg1"/>
                </a:solidFill>
                <a:latin typeface="Inter" panose="02000503000000020004" pitchFamily="2" charset="0"/>
                <a:ea typeface="Inter" panose="02000503000000020004" pitchFamily="2" charset="0"/>
                <a:cs typeface="Calibri" pitchFamily="34" charset="-120"/>
              </a:rPr>
              <a:t>Dr. Mohsen Rashwan</a:t>
            </a:r>
            <a:br>
              <a:rPr lang="en-US" sz="1050" dirty="0">
                <a:solidFill>
                  <a:schemeClr val="bg1"/>
                </a:solidFill>
                <a:latin typeface="Inter" panose="02000503000000020004" pitchFamily="2" charset="0"/>
                <a:ea typeface="Inter" panose="02000503000000020004" pitchFamily="2" charset="0"/>
                <a:cs typeface="Calibri" pitchFamily="34" charset="-120"/>
              </a:rPr>
            </a:br>
            <a:r>
              <a:rPr lang="en-US" sz="1050" dirty="0">
                <a:solidFill>
                  <a:schemeClr val="bg1"/>
                </a:solidFill>
                <a:latin typeface="Inter" panose="02000503000000020004" pitchFamily="2" charset="0"/>
                <a:ea typeface="Inter" panose="02000503000000020004" pitchFamily="2" charset="0"/>
                <a:cs typeface="Calibri" pitchFamily="34" charset="-120"/>
              </a:rPr>
              <a:t>Dr. Mohamed Abd-</a:t>
            </a:r>
            <a:r>
              <a:rPr lang="en-US" sz="1050" dirty="0" err="1">
                <a:solidFill>
                  <a:schemeClr val="bg1"/>
                </a:solidFill>
                <a:latin typeface="Inter" panose="02000503000000020004" pitchFamily="2" charset="0"/>
                <a:ea typeface="Inter" panose="02000503000000020004" pitchFamily="2" charset="0"/>
                <a:cs typeface="Calibri" pitchFamily="34" charset="-120"/>
              </a:rPr>
              <a:t>ElGhany</a:t>
            </a:r>
            <a:br>
              <a:rPr lang="en-US" sz="1050" dirty="0">
                <a:solidFill>
                  <a:schemeClr val="bg1"/>
                </a:solidFill>
                <a:latin typeface="Inter" panose="02000503000000020004" pitchFamily="2" charset="0"/>
                <a:ea typeface="Inter" panose="02000503000000020004" pitchFamily="2" charset="0"/>
                <a:cs typeface="Calibri" pitchFamily="34" charset="-120"/>
              </a:rPr>
            </a:br>
            <a:br>
              <a:rPr lang="en-US" sz="1050" dirty="0">
                <a:solidFill>
                  <a:schemeClr val="bg1"/>
                </a:solidFill>
                <a:latin typeface="Inter" panose="02000503000000020004" pitchFamily="2" charset="0"/>
                <a:ea typeface="Inter" panose="02000503000000020004" pitchFamily="2" charset="0"/>
                <a:cs typeface="Calibri" pitchFamily="34" charset="-120"/>
              </a:rPr>
            </a:br>
            <a:r>
              <a:rPr lang="en-US" sz="1050" dirty="0">
                <a:solidFill>
                  <a:schemeClr val="bg1"/>
                </a:solidFill>
                <a:latin typeface="Inter" panose="02000503000000020004" pitchFamily="2" charset="0"/>
                <a:ea typeface="Inter" panose="02000503000000020004" pitchFamily="2" charset="0"/>
                <a:cs typeface="Calibri" pitchFamily="34" charset="-120"/>
              </a:rPr>
              <a:t>Group14.</a:t>
            </a:r>
            <a:br>
              <a:rPr lang="en-US" sz="1050" dirty="0">
                <a:solidFill>
                  <a:schemeClr val="bg1"/>
                </a:solidFill>
                <a:latin typeface="Inter" panose="02000503000000020004" pitchFamily="2" charset="0"/>
                <a:ea typeface="Inter" panose="02000503000000020004" pitchFamily="2" charset="0"/>
                <a:cs typeface="Calibri" pitchFamily="34" charset="-120"/>
              </a:rPr>
            </a:br>
            <a:r>
              <a:rPr lang="en-US" sz="1050" dirty="0">
                <a:solidFill>
                  <a:schemeClr val="bg1"/>
                </a:solidFill>
                <a:latin typeface="Inter" panose="02000503000000020004" pitchFamily="2" charset="0"/>
                <a:ea typeface="Inter" panose="02000503000000020004" pitchFamily="2" charset="0"/>
                <a:cs typeface="Calibri" pitchFamily="34" charset="-120"/>
              </a:rPr>
              <a:t>Zeyad Antar Othman Abu-Zaid 	ID:9220331</a:t>
            </a:r>
          </a:p>
          <a:p>
            <a:pPr algn="ctr">
              <a:spcBef>
                <a:spcPts val="50"/>
              </a:spcBef>
              <a:spcAft>
                <a:spcPts val="10"/>
              </a:spcAft>
            </a:pPr>
            <a:r>
              <a:rPr lang="en-US" sz="1050" dirty="0">
                <a:solidFill>
                  <a:schemeClr val="bg1"/>
                </a:solidFill>
                <a:latin typeface="Inter" panose="02000503000000020004" pitchFamily="2" charset="0"/>
                <a:ea typeface="Inter" panose="02000503000000020004" pitchFamily="2" charset="0"/>
                <a:cs typeface="Calibri" pitchFamily="34" charset="-120"/>
              </a:rPr>
              <a:t>Abd-</a:t>
            </a:r>
            <a:r>
              <a:rPr lang="en-US" sz="1050" dirty="0" err="1">
                <a:solidFill>
                  <a:schemeClr val="bg1"/>
                </a:solidFill>
                <a:latin typeface="Inter" panose="02000503000000020004" pitchFamily="2" charset="0"/>
                <a:ea typeface="Inter" panose="02000503000000020004" pitchFamily="2" charset="0"/>
                <a:cs typeface="Calibri" pitchFamily="34" charset="-120"/>
              </a:rPr>
              <a:t>Elrahman</a:t>
            </a:r>
            <a:r>
              <a:rPr lang="en-US" sz="1050" dirty="0">
                <a:solidFill>
                  <a:schemeClr val="bg1"/>
                </a:solidFill>
                <a:latin typeface="Inter" panose="02000503000000020004" pitchFamily="2" charset="0"/>
                <a:ea typeface="Inter" panose="02000503000000020004" pitchFamily="2" charset="0"/>
                <a:cs typeface="Calibri" pitchFamily="34" charset="-120"/>
              </a:rPr>
              <a:t> Hatem Nasr	                        ID:9220461</a:t>
            </a:r>
          </a:p>
          <a:p>
            <a:pPr algn="ctr">
              <a:spcBef>
                <a:spcPts val="50"/>
              </a:spcBef>
              <a:spcAft>
                <a:spcPts val="10"/>
              </a:spcAft>
            </a:pPr>
            <a:r>
              <a:rPr kumimoji="0" lang="en-US" sz="1050" b="0" i="0" u="none" strike="noStrike" kern="1200" cap="none" spc="0" normalizeH="0" baseline="0" noProof="0" dirty="0">
                <a:ln>
                  <a:noFill/>
                </a:ln>
                <a:solidFill>
                  <a:schemeClr val="bg1"/>
                </a:solidFill>
                <a:effectLst/>
                <a:uLnTx/>
                <a:uFillTx/>
                <a:latin typeface="Inter" panose="02000503000000020004" pitchFamily="2" charset="0"/>
                <a:ea typeface="Inter" panose="02000503000000020004" pitchFamily="2" charset="0"/>
                <a:cs typeface="Calibri" pitchFamily="34" charset="-120"/>
              </a:rPr>
              <a:t>Abdallah Essam Mohamed 	                        ID:9220479</a:t>
            </a:r>
            <a:br>
              <a:rPr lang="en-US" sz="1200" dirty="0">
                <a:solidFill>
                  <a:srgbClr val="E2E8F0"/>
                </a:solidFill>
                <a:latin typeface="Inter" panose="02000503000000020004" pitchFamily="2" charset="0"/>
                <a:ea typeface="Inter" panose="02000503000000020004" pitchFamily="2" charset="0"/>
                <a:cs typeface="Calibri" pitchFamily="34" charset="-120"/>
              </a:rPr>
            </a:br>
            <a:br>
              <a:rPr lang="en-US" sz="1200" dirty="0">
                <a:solidFill>
                  <a:srgbClr val="E2E8F0"/>
                </a:solidFill>
                <a:latin typeface="Inter" panose="02000503000000020004" pitchFamily="2" charset="0"/>
                <a:ea typeface="Inter" panose="02000503000000020004" pitchFamily="2" charset="0"/>
                <a:cs typeface="Calibri" pitchFamily="34" charset="-120"/>
              </a:rPr>
            </a:br>
            <a:r>
              <a:rPr lang="en-US" sz="1200" dirty="0">
                <a:solidFill>
                  <a:srgbClr val="E2E8F0"/>
                </a:solidFill>
                <a:latin typeface="Inter" panose="02000503000000020004" pitchFamily="2" charset="0"/>
                <a:ea typeface="Inter" panose="02000503000000020004" pitchFamily="2" charset="0"/>
                <a:cs typeface="Calibri" pitchFamily="34" charset="-120"/>
              </a:rPr>
              <a:t> </a:t>
            </a:r>
            <a:endParaRPr lang="en-US" sz="1200" dirty="0">
              <a:latin typeface="Inter" panose="02000503000000020004" pitchFamily="2" charset="0"/>
              <a:ea typeface="Inter" panose="02000503000000020004"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201168"/>
            <a:ext cx="8412480" cy="502920"/>
          </a:xfrm>
          <a:prstGeom prst="rect">
            <a:avLst/>
          </a:prstGeom>
          <a:noFill/>
          <a:ln/>
        </p:spPr>
        <p:txBody>
          <a:bodyPr wrap="square" lIns="0" tIns="0" rIns="0" bIns="0" rtlCol="0" anchor="ctr"/>
          <a:lstStyle/>
          <a:p>
            <a:pPr marL="0" indent="0">
              <a:buNone/>
            </a:pPr>
            <a:r>
              <a:rPr lang="en-US" sz="2600" b="1" dirty="0">
                <a:solidFill>
                  <a:srgbClr val="818CF8"/>
                </a:solidFill>
                <a:latin typeface="Inter" panose="02000503000000020004" pitchFamily="2" charset="0"/>
                <a:ea typeface="Inter" panose="02000503000000020004" pitchFamily="2" charset="0"/>
                <a:cs typeface="Calibri" pitchFamily="34" charset="-120"/>
              </a:rPr>
              <a:t>Agenda</a:t>
            </a:r>
            <a:endParaRPr lang="en-US" sz="2600" dirty="0">
              <a:latin typeface="Inter" panose="02000503000000020004" pitchFamily="2" charset="0"/>
              <a:ea typeface="Inter" panose="02000503000000020004" pitchFamily="2" charset="0"/>
            </a:endParaRPr>
          </a:p>
        </p:txBody>
      </p:sp>
      <p:sp>
        <p:nvSpPr>
          <p:cNvPr id="4" name="Shape 1"/>
          <p:cNvSpPr/>
          <p:nvPr/>
        </p:nvSpPr>
        <p:spPr>
          <a:xfrm>
            <a:off x="365760" y="822960"/>
            <a:ext cx="3931920" cy="3657600"/>
          </a:xfrm>
          <a:prstGeom prst="rect">
            <a:avLst/>
          </a:prstGeom>
          <a:solidFill>
            <a:srgbClr val="111120"/>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pic>
        <p:nvPicPr>
          <p:cNvPr id="5" name="Image 1" descr="preencoded.png"/>
          <p:cNvPicPr>
            <a:picLocks noChangeAspect="1"/>
          </p:cNvPicPr>
          <p:nvPr/>
        </p:nvPicPr>
        <p:blipFill>
          <a:blip r:embed="rId4"/>
          <a:stretch>
            <a:fillRect/>
          </a:stretch>
        </p:blipFill>
        <p:spPr>
          <a:xfrm>
            <a:off x="548640" y="914400"/>
            <a:ext cx="365760" cy="365760"/>
          </a:xfrm>
          <a:prstGeom prst="rect">
            <a:avLst/>
          </a:prstGeom>
        </p:spPr>
      </p:pic>
      <p:sp>
        <p:nvSpPr>
          <p:cNvPr id="6" name="Text 2"/>
          <p:cNvSpPr/>
          <p:nvPr/>
        </p:nvSpPr>
        <p:spPr>
          <a:xfrm>
            <a:off x="1005840" y="914400"/>
            <a:ext cx="3108960" cy="365760"/>
          </a:xfrm>
          <a:prstGeom prst="rect">
            <a:avLst/>
          </a:prstGeom>
          <a:noFill/>
          <a:ln/>
        </p:spPr>
        <p:txBody>
          <a:bodyPr wrap="square" lIns="0" tIns="0" rIns="0" bIns="0" rtlCol="0" anchor="ctr"/>
          <a:lstStyle/>
          <a:p>
            <a:pPr marL="0" indent="0">
              <a:buNone/>
            </a:pPr>
            <a:r>
              <a:rPr lang="en-US" sz="1300" b="1" dirty="0">
                <a:solidFill>
                  <a:srgbClr val="818CF8"/>
                </a:solidFill>
                <a:latin typeface="Inter" panose="02000503000000020004" pitchFamily="2" charset="0"/>
                <a:ea typeface="Inter" panose="02000503000000020004" pitchFamily="2" charset="0"/>
              </a:rPr>
              <a:t>PART A — The Concept</a:t>
            </a:r>
            <a:endParaRPr lang="en-US" sz="1300" dirty="0">
              <a:latin typeface="Inter" panose="02000503000000020004" pitchFamily="2" charset="0"/>
              <a:ea typeface="Inter" panose="02000503000000020004" pitchFamily="2" charset="0"/>
            </a:endParaRPr>
          </a:p>
        </p:txBody>
      </p:sp>
      <p:sp>
        <p:nvSpPr>
          <p:cNvPr id="7" name="Text 3"/>
          <p:cNvSpPr/>
          <p:nvPr/>
        </p:nvSpPr>
        <p:spPr>
          <a:xfrm>
            <a:off x="502920" y="1389888"/>
            <a:ext cx="3657600" cy="2926080"/>
          </a:xfrm>
          <a:prstGeom prst="rect">
            <a:avLst/>
          </a:prstGeom>
          <a:noFill/>
          <a:ln/>
        </p:spPr>
        <p:txBody>
          <a:bodyPr wrap="square" lIns="0" tIns="0" rIns="0" bIns="0" rtlCol="0" anchor="ctr"/>
          <a:lstStyle/>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Linear Regression overview</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Best-fit line &amp; predictions</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Error / residuals</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Loss / cost function (MSE)</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Gradient descent &amp; learning rate</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Training process &amp; convergence</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Failure cases</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Multivariable regression</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Evaluation metrics</a:t>
            </a:r>
            <a:endParaRPr lang="en-US" sz="1200" dirty="0">
              <a:latin typeface="Inter" panose="02000503000000020004" pitchFamily="2" charset="0"/>
              <a:ea typeface="Inter" panose="02000503000000020004" pitchFamily="2" charset="0"/>
            </a:endParaRPr>
          </a:p>
        </p:txBody>
      </p:sp>
      <p:sp>
        <p:nvSpPr>
          <p:cNvPr id="8" name="Shape 4"/>
          <p:cNvSpPr/>
          <p:nvPr/>
        </p:nvSpPr>
        <p:spPr>
          <a:xfrm>
            <a:off x="4846320" y="822960"/>
            <a:ext cx="3931920" cy="3657600"/>
          </a:xfrm>
          <a:prstGeom prst="rect">
            <a:avLst/>
          </a:prstGeom>
          <a:solidFill>
            <a:srgbClr val="111120"/>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pic>
        <p:nvPicPr>
          <p:cNvPr id="9" name="Image 2" descr="preencoded.png"/>
          <p:cNvPicPr>
            <a:picLocks noChangeAspect="1"/>
          </p:cNvPicPr>
          <p:nvPr/>
        </p:nvPicPr>
        <p:blipFill>
          <a:blip r:embed="rId5"/>
          <a:stretch>
            <a:fillRect/>
          </a:stretch>
        </p:blipFill>
        <p:spPr>
          <a:xfrm>
            <a:off x="5029200" y="914400"/>
            <a:ext cx="365760" cy="365760"/>
          </a:xfrm>
          <a:prstGeom prst="rect">
            <a:avLst/>
          </a:prstGeom>
        </p:spPr>
      </p:pic>
      <p:sp>
        <p:nvSpPr>
          <p:cNvPr id="10" name="Text 5"/>
          <p:cNvSpPr/>
          <p:nvPr/>
        </p:nvSpPr>
        <p:spPr>
          <a:xfrm>
            <a:off x="5486400" y="914400"/>
            <a:ext cx="3108960" cy="365760"/>
          </a:xfrm>
          <a:prstGeom prst="rect">
            <a:avLst/>
          </a:prstGeom>
          <a:noFill/>
          <a:ln/>
        </p:spPr>
        <p:txBody>
          <a:bodyPr wrap="square" lIns="0" tIns="0" rIns="0" bIns="0" rtlCol="0" anchor="ctr"/>
          <a:lstStyle/>
          <a:p>
            <a:pPr marL="0" indent="0">
              <a:buNone/>
            </a:pPr>
            <a:r>
              <a:rPr lang="en-US" sz="1300" b="1" dirty="0">
                <a:solidFill>
                  <a:srgbClr val="A855F7"/>
                </a:solidFill>
                <a:latin typeface="Inter" panose="02000503000000020004" pitchFamily="2" charset="0"/>
                <a:ea typeface="Inter" panose="02000503000000020004" pitchFamily="2" charset="0"/>
              </a:rPr>
              <a:t>PART B — The Platform</a:t>
            </a:r>
            <a:endParaRPr lang="en-US" sz="1300" dirty="0">
              <a:latin typeface="Inter" panose="02000503000000020004" pitchFamily="2" charset="0"/>
              <a:ea typeface="Inter" panose="02000503000000020004" pitchFamily="2" charset="0"/>
            </a:endParaRPr>
          </a:p>
        </p:txBody>
      </p:sp>
      <p:sp>
        <p:nvSpPr>
          <p:cNvPr id="11" name="Text 6"/>
          <p:cNvSpPr/>
          <p:nvPr/>
        </p:nvSpPr>
        <p:spPr>
          <a:xfrm>
            <a:off x="4983480" y="1389888"/>
            <a:ext cx="3657600" cy="2926080"/>
          </a:xfrm>
          <a:prstGeom prst="rect">
            <a:avLst/>
          </a:prstGeom>
          <a:noFill/>
          <a:ln/>
        </p:spPr>
        <p:txBody>
          <a:bodyPr wrap="square" lIns="0" tIns="0" rIns="0" bIns="0" rtlCol="0" anchor="ctr"/>
          <a:lstStyle/>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What is LinearMind?</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Platform scope (verified stats)</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13-module curriculum map</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15 interactive visualizations</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Playground workbench</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AI Tutor (Gemini)</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Quizzes &amp; code examples</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Gamified progress tracking</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Cloud sync, security &amp; tech stack</a:t>
            </a:r>
            <a:endParaRPr lang="en-US" sz="1200" dirty="0">
              <a:latin typeface="Inter" panose="02000503000000020004" pitchFamily="2" charset="0"/>
              <a:ea typeface="Inter" panose="02000503000000020004" pitchFamily="2" charset="0"/>
            </a:endParaRPr>
          </a:p>
        </p:txBody>
      </p:sp>
      <p:sp>
        <p:nvSpPr>
          <p:cNvPr id="12" name="Text 7"/>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latin typeface="Inter" panose="02000503000000020004" pitchFamily="2" charset="0"/>
                <a:ea typeface="Inter" panose="02000503000000020004" pitchFamily="2" charset="0"/>
              </a:rPr>
              <a:t>LinearMind</a:t>
            </a:r>
            <a:endParaRPr lang="en-US" sz="900" dirty="0">
              <a:latin typeface="Inter" panose="02000503000000020004" pitchFamily="2" charset="0"/>
              <a:ea typeface="Inter" panose="02000503000000020004" pitchFamily="2" charset="0"/>
            </a:endParaRPr>
          </a:p>
        </p:txBody>
      </p:sp>
      <p:sp>
        <p:nvSpPr>
          <p:cNvPr id="13" name="Text 8"/>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latin typeface="Inter" panose="02000503000000020004" pitchFamily="2" charset="0"/>
                <a:ea typeface="Inter" panose="02000503000000020004" pitchFamily="2" charset="0"/>
              </a:rPr>
              <a:t>2</a:t>
            </a:r>
            <a:endParaRPr lang="en-US" sz="900" dirty="0">
              <a:latin typeface="Inter" panose="02000503000000020004" pitchFamily="2" charset="0"/>
              <a:ea typeface="Inter" panose="02000503000000020004" pitchFamily="2" charset="0"/>
            </a:endParaRPr>
          </a:p>
        </p:txBody>
      </p:sp>
      <p:sp>
        <p:nvSpPr>
          <p:cNvPr id="14" name="Shape 9"/>
          <p:cNvSpPr/>
          <p:nvPr/>
        </p:nvSpPr>
        <p:spPr>
          <a:xfrm>
            <a:off x="274320" y="4873752"/>
            <a:ext cx="8595360" cy="0"/>
          </a:xfrm>
          <a:prstGeom prst="line">
            <a:avLst/>
          </a:prstGeom>
          <a:noFill/>
          <a:ln w="635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201168"/>
            <a:ext cx="8412480" cy="502920"/>
          </a:xfrm>
          <a:prstGeom prst="rect">
            <a:avLst/>
          </a:prstGeom>
          <a:noFill/>
          <a:ln/>
        </p:spPr>
        <p:txBody>
          <a:bodyPr wrap="square" lIns="0" tIns="0" rIns="0" bIns="0" rtlCol="0" anchor="ctr"/>
          <a:lstStyle/>
          <a:p>
            <a:pPr marL="0" indent="0">
              <a:buNone/>
            </a:pPr>
            <a:r>
              <a:rPr lang="en-US" sz="2600" b="1" dirty="0">
                <a:solidFill>
                  <a:srgbClr val="818CF8"/>
                </a:solidFill>
                <a:latin typeface="Inter" panose="02000503000000020004" pitchFamily="2" charset="0"/>
                <a:ea typeface="Inter" panose="02000503000000020004" pitchFamily="2" charset="0"/>
                <a:cs typeface="Calibri" pitchFamily="34" charset="-120"/>
              </a:rPr>
              <a:t>Why Linear Regression Matters</a:t>
            </a:r>
            <a:endParaRPr lang="en-US" sz="2600" dirty="0">
              <a:latin typeface="Inter" panose="02000503000000020004" pitchFamily="2" charset="0"/>
              <a:ea typeface="Inter" panose="02000503000000020004" pitchFamily="2" charset="0"/>
            </a:endParaRPr>
          </a:p>
        </p:txBody>
      </p:sp>
      <p:sp>
        <p:nvSpPr>
          <p:cNvPr id="4" name="Shape 1"/>
          <p:cNvSpPr/>
          <p:nvPr/>
        </p:nvSpPr>
        <p:spPr>
          <a:xfrm>
            <a:off x="365760" y="822960"/>
            <a:ext cx="4937760" cy="3657600"/>
          </a:xfrm>
          <a:prstGeom prst="rect">
            <a:avLst/>
          </a:prstGeom>
          <a:solidFill>
            <a:srgbClr val="111120"/>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5" name="Text 2"/>
          <p:cNvSpPr/>
          <p:nvPr/>
        </p:nvSpPr>
        <p:spPr>
          <a:xfrm>
            <a:off x="548640" y="914400"/>
            <a:ext cx="4572000" cy="3383280"/>
          </a:xfrm>
          <a:prstGeom prst="rect">
            <a:avLst/>
          </a:prstGeom>
          <a:noFill/>
          <a:ln/>
        </p:spPr>
        <p:txBody>
          <a:bodyPr wrap="square" lIns="0" tIns="0" rIns="0" bIns="0" rtlCol="0" anchor="ctr"/>
          <a:lstStyle/>
          <a:p>
            <a:pPr marL="0" indent="0">
              <a:lnSpc>
                <a:spcPct val="130000"/>
              </a:lnSpc>
              <a:buNone/>
            </a:pPr>
            <a:r>
              <a:rPr lang="en-US" sz="1300" b="1" dirty="0">
                <a:solidFill>
                  <a:srgbClr val="818CF8"/>
                </a:solidFill>
                <a:latin typeface="Inter" panose="02000503000000020004" pitchFamily="2" charset="0"/>
                <a:ea typeface="Inter" panose="02000503000000020004" pitchFamily="2" charset="0"/>
              </a:rPr>
              <a:t>The Simplest Useful Predictive Model</a:t>
            </a:r>
            <a:endParaRPr lang="en-US" sz="1300" dirty="0">
              <a:latin typeface="Inter" panose="02000503000000020004" pitchFamily="2" charset="0"/>
              <a:ea typeface="Inter" panose="02000503000000020004" pitchFamily="2" charset="0"/>
            </a:endParaRPr>
          </a:p>
          <a:p>
            <a:pPr marL="0" indent="0">
              <a:lnSpc>
                <a:spcPct val="130000"/>
              </a:lnSpc>
              <a:buNone/>
            </a:pPr>
            <a:r>
              <a:rPr lang="en-US" sz="600" dirty="0">
                <a:solidFill>
                  <a:srgbClr val="000000"/>
                </a:solidFill>
                <a:latin typeface="Inter" panose="02000503000000020004" pitchFamily="2" charset="0"/>
                <a:ea typeface="Inter" panose="02000503000000020004" pitchFamily="2" charset="0"/>
              </a:rPr>
              <a:t> </a:t>
            </a:r>
            <a:endParaRPr lang="en-US" sz="1300" dirty="0">
              <a:latin typeface="Inter" panose="02000503000000020004" pitchFamily="2" charset="0"/>
              <a:ea typeface="Inter" panose="02000503000000020004" pitchFamily="2" charset="0"/>
            </a:endParaRPr>
          </a:p>
          <a:p>
            <a:pPr marL="0" indent="0">
              <a:lnSpc>
                <a:spcPct val="130000"/>
              </a:lnSpc>
              <a:buNone/>
            </a:pPr>
            <a:r>
              <a:rPr lang="en-US" sz="1300" b="1" dirty="0">
                <a:solidFill>
                  <a:srgbClr val="06B6D4"/>
                </a:solidFill>
                <a:latin typeface="Inter" panose="02000503000000020004" pitchFamily="2" charset="0"/>
                <a:ea typeface="Inter" panose="02000503000000020004" pitchFamily="2" charset="0"/>
              </a:rPr>
              <a:t>Interpretable</a:t>
            </a:r>
            <a:r>
              <a:rPr lang="en-US" sz="1300" dirty="0">
                <a:solidFill>
                  <a:srgbClr val="E2E8F0"/>
                </a:solidFill>
                <a:latin typeface="Inter" panose="02000503000000020004" pitchFamily="2" charset="0"/>
                <a:ea typeface="Inter" panose="02000503000000020004" pitchFamily="2" charset="0"/>
              </a:rPr>
              <a:t>  — every coefficient tells you exactly</a:t>
            </a:r>
            <a:endParaRPr lang="en-US" sz="1300" dirty="0">
              <a:latin typeface="Inter" panose="02000503000000020004" pitchFamily="2" charset="0"/>
              <a:ea typeface="Inter" panose="02000503000000020004" pitchFamily="2" charset="0"/>
            </a:endParaRPr>
          </a:p>
          <a:p>
            <a:pPr marL="0" indent="0">
              <a:lnSpc>
                <a:spcPct val="130000"/>
              </a:lnSpc>
              <a:buNone/>
            </a:pPr>
            <a:r>
              <a:rPr lang="en-US" sz="1300" dirty="0">
                <a:solidFill>
                  <a:srgbClr val="E2E8F0"/>
                </a:solidFill>
                <a:latin typeface="Inter" panose="02000503000000020004" pitchFamily="2" charset="0"/>
                <a:ea typeface="Inter" panose="02000503000000020004" pitchFamily="2" charset="0"/>
              </a:rPr>
              <a:t>how much X affects Y. No black box.</a:t>
            </a:r>
            <a:endParaRPr lang="en-US" sz="1300" dirty="0">
              <a:latin typeface="Inter" panose="02000503000000020004" pitchFamily="2" charset="0"/>
              <a:ea typeface="Inter" panose="02000503000000020004" pitchFamily="2" charset="0"/>
            </a:endParaRPr>
          </a:p>
          <a:p>
            <a:pPr marL="0" indent="0">
              <a:lnSpc>
                <a:spcPct val="130000"/>
              </a:lnSpc>
              <a:buNone/>
            </a:pPr>
            <a:r>
              <a:rPr lang="en-US" sz="600" dirty="0">
                <a:solidFill>
                  <a:srgbClr val="000000"/>
                </a:solidFill>
                <a:latin typeface="Inter" panose="02000503000000020004" pitchFamily="2" charset="0"/>
                <a:ea typeface="Inter" panose="02000503000000020004" pitchFamily="2" charset="0"/>
              </a:rPr>
              <a:t> </a:t>
            </a:r>
            <a:endParaRPr lang="en-US" sz="1300" dirty="0">
              <a:latin typeface="Inter" panose="02000503000000020004" pitchFamily="2" charset="0"/>
              <a:ea typeface="Inter" panose="02000503000000020004" pitchFamily="2" charset="0"/>
            </a:endParaRPr>
          </a:p>
          <a:p>
            <a:pPr marL="0" indent="0">
              <a:lnSpc>
                <a:spcPct val="130000"/>
              </a:lnSpc>
              <a:buNone/>
            </a:pPr>
            <a:r>
              <a:rPr lang="en-US" sz="1300" b="1" dirty="0">
                <a:solidFill>
                  <a:srgbClr val="A855F7"/>
                </a:solidFill>
                <a:latin typeface="Inter" panose="02000503000000020004" pitchFamily="2" charset="0"/>
                <a:ea typeface="Inter" panose="02000503000000020004" pitchFamily="2" charset="0"/>
              </a:rPr>
              <a:t>Foundational</a:t>
            </a:r>
            <a:r>
              <a:rPr lang="en-US" sz="1300" dirty="0">
                <a:solidFill>
                  <a:srgbClr val="E2E8F0"/>
                </a:solidFill>
                <a:latin typeface="Inter" panose="02000503000000020004" pitchFamily="2" charset="0"/>
                <a:ea typeface="Inter" panose="02000503000000020004" pitchFamily="2" charset="0"/>
              </a:rPr>
              <a:t>  — the weighted-sum idea reappears</a:t>
            </a:r>
            <a:endParaRPr lang="en-US" sz="1300" dirty="0">
              <a:latin typeface="Inter" panose="02000503000000020004" pitchFamily="2" charset="0"/>
              <a:ea typeface="Inter" panose="02000503000000020004" pitchFamily="2" charset="0"/>
            </a:endParaRPr>
          </a:p>
          <a:p>
            <a:pPr marL="0" indent="0">
              <a:lnSpc>
                <a:spcPct val="130000"/>
              </a:lnSpc>
              <a:buNone/>
            </a:pPr>
            <a:r>
              <a:rPr lang="en-US" sz="1300" dirty="0">
                <a:solidFill>
                  <a:srgbClr val="E2E8F0"/>
                </a:solidFill>
                <a:latin typeface="Inter" panose="02000503000000020004" pitchFamily="2" charset="0"/>
                <a:ea typeface="Inter" panose="02000503000000020004" pitchFamily="2" charset="0"/>
              </a:rPr>
              <a:t>in neural networks, logistic regression, and beyond.</a:t>
            </a:r>
            <a:endParaRPr lang="en-US" sz="1300" dirty="0">
              <a:latin typeface="Inter" panose="02000503000000020004" pitchFamily="2" charset="0"/>
              <a:ea typeface="Inter" panose="02000503000000020004" pitchFamily="2" charset="0"/>
            </a:endParaRPr>
          </a:p>
          <a:p>
            <a:pPr marL="0" indent="0">
              <a:lnSpc>
                <a:spcPct val="130000"/>
              </a:lnSpc>
              <a:buNone/>
            </a:pPr>
            <a:r>
              <a:rPr lang="en-US" sz="600" dirty="0">
                <a:solidFill>
                  <a:srgbClr val="000000"/>
                </a:solidFill>
                <a:latin typeface="Inter" panose="02000503000000020004" pitchFamily="2" charset="0"/>
                <a:ea typeface="Inter" panose="02000503000000020004" pitchFamily="2" charset="0"/>
              </a:rPr>
              <a:t> </a:t>
            </a:r>
            <a:endParaRPr lang="en-US" sz="1300" dirty="0">
              <a:latin typeface="Inter" panose="02000503000000020004" pitchFamily="2" charset="0"/>
              <a:ea typeface="Inter" panose="02000503000000020004" pitchFamily="2" charset="0"/>
            </a:endParaRPr>
          </a:p>
          <a:p>
            <a:pPr marL="0" indent="0">
              <a:lnSpc>
                <a:spcPct val="130000"/>
              </a:lnSpc>
              <a:buNone/>
            </a:pPr>
            <a:r>
              <a:rPr lang="en-US" sz="1300" b="1" dirty="0">
                <a:solidFill>
                  <a:srgbClr val="10B981"/>
                </a:solidFill>
                <a:latin typeface="Inter" panose="02000503000000020004" pitchFamily="2" charset="0"/>
                <a:ea typeface="Inter" panose="02000503000000020004" pitchFamily="2" charset="0"/>
              </a:rPr>
              <a:t>Practical</a:t>
            </a:r>
            <a:r>
              <a:rPr lang="en-US" sz="1300" dirty="0">
                <a:solidFill>
                  <a:srgbClr val="E2E8F0"/>
                </a:solidFill>
                <a:latin typeface="Inter" panose="02000503000000020004" pitchFamily="2" charset="0"/>
                <a:ea typeface="Inter" panose="02000503000000020004" pitchFamily="2" charset="0"/>
              </a:rPr>
              <a:t>  — house prices, energy usage,</a:t>
            </a:r>
            <a:endParaRPr lang="en-US" sz="1300" dirty="0">
              <a:latin typeface="Inter" panose="02000503000000020004" pitchFamily="2" charset="0"/>
              <a:ea typeface="Inter" panose="02000503000000020004" pitchFamily="2" charset="0"/>
            </a:endParaRPr>
          </a:p>
          <a:p>
            <a:pPr marL="0" indent="0">
              <a:lnSpc>
                <a:spcPct val="130000"/>
              </a:lnSpc>
              <a:buNone/>
            </a:pPr>
            <a:r>
              <a:rPr lang="en-US" sz="1300" dirty="0">
                <a:solidFill>
                  <a:srgbClr val="E2E8F0"/>
                </a:solidFill>
                <a:latin typeface="Inter" panose="02000503000000020004" pitchFamily="2" charset="0"/>
                <a:ea typeface="Inter" panose="02000503000000020004" pitchFamily="2" charset="0"/>
              </a:rPr>
              <a:t>sales forecasting, health outcomes.</a:t>
            </a:r>
            <a:endParaRPr lang="en-US" sz="1300" dirty="0">
              <a:latin typeface="Inter" panose="02000503000000020004" pitchFamily="2" charset="0"/>
              <a:ea typeface="Inter" panose="02000503000000020004" pitchFamily="2" charset="0"/>
            </a:endParaRPr>
          </a:p>
        </p:txBody>
      </p:sp>
      <p:sp>
        <p:nvSpPr>
          <p:cNvPr id="10" name="Text 7"/>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latin typeface="Inter" panose="02000503000000020004" pitchFamily="2" charset="0"/>
                <a:ea typeface="Inter" panose="02000503000000020004" pitchFamily="2" charset="0"/>
              </a:rPr>
              <a:t>LinearMind</a:t>
            </a:r>
            <a:endParaRPr lang="en-US" sz="900" dirty="0">
              <a:latin typeface="Inter" panose="02000503000000020004" pitchFamily="2" charset="0"/>
              <a:ea typeface="Inter" panose="02000503000000020004" pitchFamily="2" charset="0"/>
            </a:endParaRPr>
          </a:p>
        </p:txBody>
      </p:sp>
      <p:sp>
        <p:nvSpPr>
          <p:cNvPr id="11" name="Text 8"/>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latin typeface="Inter" panose="02000503000000020004" pitchFamily="2" charset="0"/>
                <a:ea typeface="Inter" panose="02000503000000020004" pitchFamily="2" charset="0"/>
              </a:rPr>
              <a:t>3</a:t>
            </a:r>
            <a:endParaRPr lang="en-US" sz="900" dirty="0">
              <a:latin typeface="Inter" panose="02000503000000020004" pitchFamily="2" charset="0"/>
              <a:ea typeface="Inter" panose="02000503000000020004" pitchFamily="2" charset="0"/>
            </a:endParaRPr>
          </a:p>
        </p:txBody>
      </p:sp>
      <p:sp>
        <p:nvSpPr>
          <p:cNvPr id="12" name="Shape 9"/>
          <p:cNvSpPr/>
          <p:nvPr/>
        </p:nvSpPr>
        <p:spPr>
          <a:xfrm>
            <a:off x="274320" y="4873752"/>
            <a:ext cx="8595360" cy="0"/>
          </a:xfrm>
          <a:prstGeom prst="line">
            <a:avLst/>
          </a:prstGeom>
          <a:noFill/>
          <a:ln w="6350">
            <a:solidFill>
              <a:srgbClr val="222226"/>
            </a:solidFill>
            <a:prstDash val="solid"/>
          </a:ln>
        </p:spPr>
        <p:txBody>
          <a:bodyPr/>
          <a:lstStyle/>
          <a:p>
            <a:endParaRPr lang="en-US" dirty="0">
              <a:latin typeface="Inter" panose="02000503000000020004" pitchFamily="2" charset="0"/>
              <a:ea typeface="Inter" panose="02000503000000020004" pitchFamily="2" charset="0"/>
            </a:endParaRPr>
          </a:p>
        </p:txBody>
      </p:sp>
      <p:pic>
        <p:nvPicPr>
          <p:cNvPr id="15" name="Picture 14">
            <a:extLst>
              <a:ext uri="{FF2B5EF4-FFF2-40B4-BE49-F238E27FC236}">
                <a16:creationId xmlns:a16="http://schemas.microsoft.com/office/drawing/2014/main" id="{8A44B3CB-7F3E-1C2A-3A12-547470AB9068}"/>
              </a:ext>
            </a:extLst>
          </p:cNvPr>
          <p:cNvPicPr>
            <a:picLocks noChangeAspect="1"/>
          </p:cNvPicPr>
          <p:nvPr/>
        </p:nvPicPr>
        <p:blipFill>
          <a:blip r:embed="rId4"/>
          <a:stretch>
            <a:fillRect/>
          </a:stretch>
        </p:blipFill>
        <p:spPr>
          <a:xfrm>
            <a:off x="5486400" y="1274445"/>
            <a:ext cx="3462678" cy="25717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201168"/>
            <a:ext cx="8412480" cy="502920"/>
          </a:xfrm>
          <a:prstGeom prst="rect">
            <a:avLst/>
          </a:prstGeom>
          <a:noFill/>
          <a:ln/>
        </p:spPr>
        <p:txBody>
          <a:bodyPr wrap="square" lIns="0" tIns="0" rIns="0" bIns="0" rtlCol="0" anchor="ctr"/>
          <a:lstStyle/>
          <a:p>
            <a:pPr marL="0" indent="0">
              <a:buNone/>
            </a:pPr>
            <a:r>
              <a:rPr lang="en-US" sz="2600" b="1" dirty="0">
                <a:solidFill>
                  <a:srgbClr val="818CF8"/>
                </a:solidFill>
                <a:latin typeface="Inter" panose="02000503000000020004" pitchFamily="2" charset="0"/>
                <a:ea typeface="Inter" panose="02000503000000020004" pitchFamily="2" charset="0"/>
                <a:cs typeface="Calibri" pitchFamily="34" charset="-120"/>
              </a:rPr>
              <a:t>The Core Idea: Best-Fit Line</a:t>
            </a:r>
            <a:endParaRPr lang="en-US" sz="2600" dirty="0">
              <a:latin typeface="Inter" panose="02000503000000020004" pitchFamily="2" charset="0"/>
              <a:ea typeface="Inter" panose="02000503000000020004" pitchFamily="2" charset="0"/>
            </a:endParaRPr>
          </a:p>
        </p:txBody>
      </p:sp>
      <p:sp>
        <p:nvSpPr>
          <p:cNvPr id="4" name="Shape 1"/>
          <p:cNvSpPr/>
          <p:nvPr/>
        </p:nvSpPr>
        <p:spPr>
          <a:xfrm>
            <a:off x="365760" y="822960"/>
            <a:ext cx="4297680" cy="3657600"/>
          </a:xfrm>
          <a:prstGeom prst="rect">
            <a:avLst/>
          </a:prstGeom>
          <a:solidFill>
            <a:srgbClr val="111120"/>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5" name="Text 2"/>
          <p:cNvSpPr/>
          <p:nvPr/>
        </p:nvSpPr>
        <p:spPr>
          <a:xfrm>
            <a:off x="548640" y="914400"/>
            <a:ext cx="4206240" cy="3383280"/>
          </a:xfrm>
          <a:prstGeom prst="rect">
            <a:avLst/>
          </a:prstGeom>
          <a:noFill/>
          <a:ln/>
        </p:spPr>
        <p:txBody>
          <a:bodyPr wrap="square" lIns="0" tIns="0" rIns="0" bIns="0" rtlCol="0" anchor="ctr"/>
          <a:lstStyle/>
          <a:p>
            <a:pPr marL="0" indent="0">
              <a:lnSpc>
                <a:spcPct val="135000"/>
              </a:lnSpc>
              <a:buNone/>
            </a:pPr>
            <a:r>
              <a:rPr lang="en-US" sz="1300" dirty="0">
                <a:solidFill>
                  <a:srgbClr val="E2E8F0"/>
                </a:solidFill>
                <a:latin typeface="Inter" panose="02000503000000020004" pitchFamily="2" charset="0"/>
                <a:ea typeface="Inter" panose="02000503000000020004" pitchFamily="2" charset="0"/>
              </a:rPr>
              <a:t>We have data points (x, y).</a:t>
            </a:r>
            <a:endParaRPr lang="en-US" sz="1300" dirty="0">
              <a:latin typeface="Inter" panose="02000503000000020004" pitchFamily="2" charset="0"/>
              <a:ea typeface="Inter" panose="02000503000000020004" pitchFamily="2" charset="0"/>
            </a:endParaRPr>
          </a:p>
          <a:p>
            <a:pPr marL="0" indent="0">
              <a:lnSpc>
                <a:spcPct val="135000"/>
              </a:lnSpc>
              <a:buNone/>
            </a:pPr>
            <a:r>
              <a:rPr lang="en-US" sz="1300" dirty="0">
                <a:solidFill>
                  <a:srgbClr val="E2E8F0"/>
                </a:solidFill>
                <a:latin typeface="Inter" panose="02000503000000020004" pitchFamily="2" charset="0"/>
                <a:ea typeface="Inter" panose="02000503000000020004" pitchFamily="2" charset="0"/>
              </a:rPr>
              <a:t>We want a line that best fits them.</a:t>
            </a:r>
            <a:endParaRPr lang="en-US" sz="1300" dirty="0">
              <a:latin typeface="Inter" panose="02000503000000020004" pitchFamily="2" charset="0"/>
              <a:ea typeface="Inter" panose="02000503000000020004" pitchFamily="2" charset="0"/>
            </a:endParaRPr>
          </a:p>
          <a:p>
            <a:pPr marL="0" indent="0">
              <a:lnSpc>
                <a:spcPct val="135000"/>
              </a:lnSpc>
              <a:buNone/>
            </a:pPr>
            <a:r>
              <a:rPr lang="en-US" sz="800" dirty="0">
                <a:solidFill>
                  <a:srgbClr val="000000"/>
                </a:solidFill>
                <a:latin typeface="Inter" panose="02000503000000020004" pitchFamily="2" charset="0"/>
                <a:ea typeface="Inter" panose="02000503000000020004" pitchFamily="2" charset="0"/>
              </a:rPr>
              <a:t> </a:t>
            </a:r>
            <a:endParaRPr lang="en-US" sz="1300" dirty="0">
              <a:latin typeface="Inter" panose="02000503000000020004" pitchFamily="2" charset="0"/>
              <a:ea typeface="Inter" panose="02000503000000020004" pitchFamily="2" charset="0"/>
            </a:endParaRPr>
          </a:p>
          <a:p>
            <a:pPr marL="0" indent="0">
              <a:lnSpc>
                <a:spcPct val="135000"/>
              </a:lnSpc>
              <a:buNone/>
            </a:pPr>
            <a:r>
              <a:rPr lang="en-US" sz="1300" b="1" dirty="0">
                <a:solidFill>
                  <a:srgbClr val="818CF8"/>
                </a:solidFill>
                <a:latin typeface="Inter" panose="02000503000000020004" pitchFamily="2" charset="0"/>
                <a:ea typeface="Inter" panose="02000503000000020004" pitchFamily="2" charset="0"/>
              </a:rPr>
              <a:t>Model form:</a:t>
            </a:r>
            <a:endParaRPr lang="en-US" sz="1300" dirty="0">
              <a:latin typeface="Inter" panose="02000503000000020004" pitchFamily="2" charset="0"/>
              <a:ea typeface="Inter" panose="02000503000000020004" pitchFamily="2" charset="0"/>
            </a:endParaRPr>
          </a:p>
          <a:p>
            <a:pPr marL="0" indent="0">
              <a:lnSpc>
                <a:spcPct val="135000"/>
              </a:lnSpc>
              <a:buNone/>
            </a:pPr>
            <a:r>
              <a:rPr lang="en-US" sz="1800" b="1" dirty="0">
                <a:solidFill>
                  <a:srgbClr val="FFFFFF"/>
                </a:solidFill>
                <a:latin typeface="Inter" panose="02000503000000020004" pitchFamily="2" charset="0"/>
                <a:ea typeface="Inter" panose="02000503000000020004" pitchFamily="2" charset="0"/>
                <a:cs typeface="Courier New" pitchFamily="34" charset="-120"/>
              </a:rPr>
              <a:t>ŷ  =  w·x  +  b</a:t>
            </a:r>
            <a:endParaRPr lang="en-US" sz="1300" dirty="0">
              <a:latin typeface="Inter" panose="02000503000000020004" pitchFamily="2" charset="0"/>
              <a:ea typeface="Inter" panose="02000503000000020004" pitchFamily="2" charset="0"/>
            </a:endParaRPr>
          </a:p>
          <a:p>
            <a:pPr marL="0" indent="0">
              <a:lnSpc>
                <a:spcPct val="135000"/>
              </a:lnSpc>
              <a:buNone/>
            </a:pPr>
            <a:r>
              <a:rPr lang="en-US" sz="800" dirty="0">
                <a:solidFill>
                  <a:srgbClr val="000000"/>
                </a:solidFill>
                <a:latin typeface="Inter" panose="02000503000000020004" pitchFamily="2" charset="0"/>
                <a:ea typeface="Inter" panose="02000503000000020004" pitchFamily="2" charset="0"/>
              </a:rPr>
              <a:t> </a:t>
            </a:r>
            <a:endParaRPr lang="en-US" sz="1300" dirty="0">
              <a:latin typeface="Inter" panose="02000503000000020004" pitchFamily="2" charset="0"/>
              <a:ea typeface="Inter" panose="02000503000000020004" pitchFamily="2" charset="0"/>
            </a:endParaRPr>
          </a:p>
          <a:p>
            <a:pPr marL="0" indent="0">
              <a:lnSpc>
                <a:spcPct val="135000"/>
              </a:lnSpc>
              <a:buNone/>
            </a:pPr>
            <a:r>
              <a:rPr lang="en-US" sz="1300" b="1" dirty="0">
                <a:solidFill>
                  <a:srgbClr val="06B6D4"/>
                </a:solidFill>
                <a:latin typeface="Inter" panose="02000503000000020004" pitchFamily="2" charset="0"/>
                <a:ea typeface="Inter" panose="02000503000000020004" pitchFamily="2" charset="0"/>
              </a:rPr>
              <a:t>w</a:t>
            </a:r>
            <a:r>
              <a:rPr lang="en-US" sz="1300" dirty="0">
                <a:solidFill>
                  <a:srgbClr val="E2E8F0"/>
                </a:solidFill>
                <a:latin typeface="Inter" panose="02000503000000020004" pitchFamily="2" charset="0"/>
                <a:ea typeface="Inter" panose="02000503000000020004" pitchFamily="2" charset="0"/>
              </a:rPr>
              <a:t> = slope — how much ŷ changes per unit of x</a:t>
            </a:r>
            <a:endParaRPr lang="en-US" sz="1300" dirty="0">
              <a:latin typeface="Inter" panose="02000503000000020004" pitchFamily="2" charset="0"/>
              <a:ea typeface="Inter" panose="02000503000000020004" pitchFamily="2" charset="0"/>
            </a:endParaRPr>
          </a:p>
          <a:p>
            <a:pPr marL="0" indent="0">
              <a:lnSpc>
                <a:spcPct val="135000"/>
              </a:lnSpc>
              <a:buNone/>
            </a:pPr>
            <a:r>
              <a:rPr lang="en-US" sz="1300" b="1" dirty="0">
                <a:solidFill>
                  <a:srgbClr val="A855F7"/>
                </a:solidFill>
                <a:latin typeface="Inter" panose="02000503000000020004" pitchFamily="2" charset="0"/>
                <a:ea typeface="Inter" panose="02000503000000020004" pitchFamily="2" charset="0"/>
              </a:rPr>
              <a:t>b</a:t>
            </a:r>
            <a:r>
              <a:rPr lang="en-US" sz="1300" dirty="0">
                <a:solidFill>
                  <a:srgbClr val="E2E8F0"/>
                </a:solidFill>
                <a:latin typeface="Inter" panose="02000503000000020004" pitchFamily="2" charset="0"/>
                <a:ea typeface="Inter" panose="02000503000000020004" pitchFamily="2" charset="0"/>
              </a:rPr>
              <a:t> = intercept — the baseline (value when x = 0)</a:t>
            </a:r>
            <a:endParaRPr lang="en-US" sz="1300" dirty="0">
              <a:latin typeface="Inter" panose="02000503000000020004" pitchFamily="2" charset="0"/>
              <a:ea typeface="Inter" panose="02000503000000020004" pitchFamily="2" charset="0"/>
            </a:endParaRPr>
          </a:p>
        </p:txBody>
      </p:sp>
      <p:sp>
        <p:nvSpPr>
          <p:cNvPr id="10" name="Text 7"/>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latin typeface="Inter" panose="02000503000000020004" pitchFamily="2" charset="0"/>
                <a:ea typeface="Inter" panose="02000503000000020004" pitchFamily="2" charset="0"/>
              </a:rPr>
              <a:t>LinearMind</a:t>
            </a:r>
            <a:endParaRPr lang="en-US" sz="900" dirty="0">
              <a:latin typeface="Inter" panose="02000503000000020004" pitchFamily="2" charset="0"/>
              <a:ea typeface="Inter" panose="02000503000000020004" pitchFamily="2" charset="0"/>
            </a:endParaRPr>
          </a:p>
        </p:txBody>
      </p:sp>
      <p:sp>
        <p:nvSpPr>
          <p:cNvPr id="11" name="Text 8"/>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latin typeface="Inter" panose="02000503000000020004" pitchFamily="2" charset="0"/>
                <a:ea typeface="Inter" panose="02000503000000020004" pitchFamily="2" charset="0"/>
              </a:rPr>
              <a:t>4</a:t>
            </a:r>
            <a:endParaRPr lang="en-US" sz="900" dirty="0">
              <a:latin typeface="Inter" panose="02000503000000020004" pitchFamily="2" charset="0"/>
              <a:ea typeface="Inter" panose="02000503000000020004" pitchFamily="2" charset="0"/>
            </a:endParaRPr>
          </a:p>
        </p:txBody>
      </p:sp>
      <p:sp>
        <p:nvSpPr>
          <p:cNvPr id="12" name="Shape 9"/>
          <p:cNvSpPr/>
          <p:nvPr/>
        </p:nvSpPr>
        <p:spPr>
          <a:xfrm>
            <a:off x="274320" y="4873752"/>
            <a:ext cx="8595360" cy="0"/>
          </a:xfrm>
          <a:prstGeom prst="line">
            <a:avLst/>
          </a:prstGeom>
          <a:noFill/>
          <a:ln w="635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pic>
        <p:nvPicPr>
          <p:cNvPr id="13" name="Picture 12" descr="Machine Learning - Regressions">
            <a:extLst>
              <a:ext uri="{FF2B5EF4-FFF2-40B4-BE49-F238E27FC236}">
                <a16:creationId xmlns:a16="http://schemas.microsoft.com/office/drawing/2014/main" id="{92880CCB-7DFC-3738-0889-CC71ACAD9301}"/>
              </a:ext>
            </a:extLst>
          </p:cNvPr>
          <p:cNvPicPr>
            <a:picLocks noChangeAspect="1"/>
          </p:cNvPicPr>
          <p:nvPr/>
        </p:nvPicPr>
        <p:blipFill>
          <a:blip r:embed="rId4"/>
          <a:stretch>
            <a:fillRect/>
          </a:stretch>
        </p:blipFill>
        <p:spPr>
          <a:xfrm>
            <a:off x="5250510" y="1285121"/>
            <a:ext cx="3619170" cy="262837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201168"/>
            <a:ext cx="8412480" cy="502920"/>
          </a:xfrm>
          <a:prstGeom prst="rect">
            <a:avLst/>
          </a:prstGeom>
          <a:noFill/>
          <a:ln/>
        </p:spPr>
        <p:txBody>
          <a:bodyPr wrap="square" lIns="0" tIns="0" rIns="0" bIns="0" rtlCol="0" anchor="ctr"/>
          <a:lstStyle/>
          <a:p>
            <a:pPr marL="0" indent="0">
              <a:buNone/>
            </a:pPr>
            <a:r>
              <a:rPr lang="en-US" sz="2600" b="1" dirty="0">
                <a:solidFill>
                  <a:srgbClr val="818CF8"/>
                </a:solidFill>
                <a:latin typeface="Calibri" pitchFamily="34" charset="0"/>
                <a:ea typeface="Calibri" pitchFamily="34" charset="-122"/>
                <a:cs typeface="Calibri" pitchFamily="34" charset="-120"/>
              </a:rPr>
              <a:t>Predictions (Inference)</a:t>
            </a:r>
            <a:endParaRPr lang="en-US" sz="2600" dirty="0"/>
          </a:p>
        </p:txBody>
      </p:sp>
      <p:sp>
        <p:nvSpPr>
          <p:cNvPr id="4" name="Shape 1"/>
          <p:cNvSpPr/>
          <p:nvPr/>
        </p:nvSpPr>
        <p:spPr>
          <a:xfrm>
            <a:off x="365760" y="822960"/>
            <a:ext cx="4389120" cy="3657600"/>
          </a:xfrm>
          <a:prstGeom prst="rect">
            <a:avLst/>
          </a:prstGeom>
          <a:solidFill>
            <a:srgbClr val="111120"/>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p>
        </p:txBody>
      </p:sp>
      <p:sp>
        <p:nvSpPr>
          <p:cNvPr id="5" name="Text 2"/>
          <p:cNvSpPr/>
          <p:nvPr/>
        </p:nvSpPr>
        <p:spPr>
          <a:xfrm>
            <a:off x="548640" y="914400"/>
            <a:ext cx="4389120" cy="3383280"/>
          </a:xfrm>
          <a:prstGeom prst="rect">
            <a:avLst/>
          </a:prstGeom>
          <a:noFill/>
          <a:ln/>
        </p:spPr>
        <p:txBody>
          <a:bodyPr wrap="square" lIns="0" tIns="0" rIns="0" bIns="0" rtlCol="0" anchor="ctr"/>
          <a:lstStyle/>
          <a:p>
            <a:pPr marL="0" indent="0">
              <a:lnSpc>
                <a:spcPct val="135000"/>
              </a:lnSpc>
              <a:buNone/>
            </a:pPr>
            <a:r>
              <a:rPr lang="en-US" sz="1300" b="1" dirty="0">
                <a:solidFill>
                  <a:srgbClr val="818CF8"/>
                </a:solidFill>
              </a:rPr>
              <a:t>Predicting is simple:</a:t>
            </a:r>
            <a:endParaRPr lang="en-US" sz="1300" dirty="0"/>
          </a:p>
          <a:p>
            <a:pPr marL="0" indent="0">
              <a:lnSpc>
                <a:spcPct val="135000"/>
              </a:lnSpc>
              <a:buNone/>
            </a:pPr>
            <a:r>
              <a:rPr lang="en-US" sz="700" dirty="0">
                <a:solidFill>
                  <a:srgbClr val="000000"/>
                </a:solidFill>
              </a:rPr>
              <a:t> </a:t>
            </a:r>
            <a:endParaRPr lang="en-US" sz="1300" dirty="0"/>
          </a:p>
          <a:p>
            <a:pPr marL="0" indent="0">
              <a:lnSpc>
                <a:spcPct val="135000"/>
              </a:lnSpc>
              <a:buNone/>
            </a:pPr>
            <a:r>
              <a:rPr lang="en-US" sz="1400" b="1" dirty="0">
                <a:solidFill>
                  <a:srgbClr val="FFFFFF"/>
                </a:solidFill>
                <a:latin typeface="Courier New" pitchFamily="34" charset="0"/>
                <a:ea typeface="Courier New" pitchFamily="34" charset="-122"/>
                <a:cs typeface="Courier New" pitchFamily="34" charset="-120"/>
              </a:rPr>
              <a:t>Input x  →  compute  ŷ = w·x + b</a:t>
            </a:r>
            <a:endParaRPr lang="en-US" sz="1300" dirty="0"/>
          </a:p>
          <a:p>
            <a:pPr marL="0" indent="0">
              <a:lnSpc>
                <a:spcPct val="135000"/>
              </a:lnSpc>
              <a:buNone/>
            </a:pPr>
            <a:r>
              <a:rPr lang="en-US" sz="700" dirty="0">
                <a:solidFill>
                  <a:srgbClr val="000000"/>
                </a:solidFill>
              </a:rPr>
              <a:t> </a:t>
            </a:r>
            <a:endParaRPr lang="en-US" sz="1300" dirty="0"/>
          </a:p>
          <a:p>
            <a:pPr marL="0" indent="0">
              <a:lnSpc>
                <a:spcPct val="135000"/>
              </a:lnSpc>
              <a:buNone/>
            </a:pPr>
            <a:r>
              <a:rPr lang="en-US" sz="1300" b="1" dirty="0">
                <a:solidFill>
                  <a:srgbClr val="A855F7"/>
                </a:solidFill>
              </a:rPr>
              <a:t>The learning problem</a:t>
            </a:r>
            <a:r>
              <a:rPr lang="en-US" sz="1300" dirty="0">
                <a:solidFill>
                  <a:srgbClr val="E2E8F0"/>
                </a:solidFill>
              </a:rPr>
              <a:t> is choosing w and b that</a:t>
            </a:r>
            <a:endParaRPr lang="en-US" sz="1300" dirty="0"/>
          </a:p>
          <a:p>
            <a:pPr marL="0" indent="0">
              <a:lnSpc>
                <a:spcPct val="135000"/>
              </a:lnSpc>
              <a:buNone/>
            </a:pPr>
            <a:r>
              <a:rPr lang="en-US" sz="1300" dirty="0">
                <a:solidFill>
                  <a:srgbClr val="E2E8F0"/>
                </a:solidFill>
              </a:rPr>
              <a:t>work well across many data points.</a:t>
            </a:r>
            <a:endParaRPr lang="en-US" sz="1300" dirty="0"/>
          </a:p>
          <a:p>
            <a:pPr marL="0" indent="0">
              <a:lnSpc>
                <a:spcPct val="135000"/>
              </a:lnSpc>
              <a:buNone/>
            </a:pPr>
            <a:r>
              <a:rPr lang="en-US" sz="700" dirty="0">
                <a:solidFill>
                  <a:srgbClr val="000000"/>
                </a:solidFill>
              </a:rPr>
              <a:t> </a:t>
            </a:r>
            <a:endParaRPr lang="en-US" sz="1300" dirty="0"/>
          </a:p>
          <a:p>
            <a:pPr marL="0" indent="0">
              <a:lnSpc>
                <a:spcPct val="135000"/>
              </a:lnSpc>
              <a:buNone/>
            </a:pPr>
            <a:r>
              <a:rPr lang="en-US" sz="1300" b="1" dirty="0">
                <a:solidFill>
                  <a:srgbClr val="06B6D4"/>
                </a:solidFill>
              </a:rPr>
              <a:t>Practical note:</a:t>
            </a:r>
            <a:r>
              <a:rPr lang="en-US" sz="1300" dirty="0">
                <a:solidFill>
                  <a:srgbClr val="E2E8F0"/>
                </a:solidFill>
              </a:rPr>
              <a:t> Once trained, prediction is</a:t>
            </a:r>
            <a:endParaRPr lang="en-US" sz="1300" dirty="0"/>
          </a:p>
          <a:p>
            <a:pPr marL="0" indent="0">
              <a:lnSpc>
                <a:spcPct val="135000"/>
              </a:lnSpc>
              <a:buNone/>
            </a:pPr>
            <a:r>
              <a:rPr lang="en-US" sz="1300" dirty="0">
                <a:solidFill>
                  <a:srgbClr val="E2E8F0"/>
                </a:solidFill>
              </a:rPr>
              <a:t>extremely fast — just one multiply + one add.</a:t>
            </a:r>
            <a:endParaRPr lang="en-US" sz="1300" dirty="0"/>
          </a:p>
        </p:txBody>
      </p:sp>
      <p:sp>
        <p:nvSpPr>
          <p:cNvPr id="6" name="Shape 3"/>
          <p:cNvSpPr/>
          <p:nvPr/>
        </p:nvSpPr>
        <p:spPr>
          <a:xfrm>
            <a:off x="5394960" y="1389538"/>
            <a:ext cx="3383280" cy="379827"/>
          </a:xfrm>
          <a:prstGeom prst="rect">
            <a:avLst/>
          </a:prstGeom>
          <a:solidFill>
            <a:srgbClr val="1A1A2E"/>
          </a:solidFill>
          <a:ln w="19050">
            <a:solidFill>
              <a:srgbClr val="6366F1"/>
            </a:solidFill>
            <a:prstDash val="dash"/>
          </a:ln>
        </p:spPr>
        <p:txBody>
          <a:bodyPr/>
          <a:lstStyle/>
          <a:p>
            <a:pPr algn="ctr"/>
            <a:r>
              <a:rPr lang="en-US" i="1" dirty="0">
                <a:solidFill>
                  <a:srgbClr val="818CF8"/>
                </a:solidFill>
                <a:latin typeface="Inter" panose="02000503000000020004" pitchFamily="2" charset="0"/>
                <a:ea typeface="Inter" panose="02000503000000020004" pitchFamily="2" charset="0"/>
              </a:rPr>
              <a:t>Input</a:t>
            </a:r>
            <a:endParaRPr lang="en-US" dirty="0">
              <a:latin typeface="Inter" panose="02000503000000020004" pitchFamily="2" charset="0"/>
              <a:ea typeface="Inter" panose="02000503000000020004" pitchFamily="2" charset="0"/>
            </a:endParaRPr>
          </a:p>
        </p:txBody>
      </p:sp>
      <p:sp>
        <p:nvSpPr>
          <p:cNvPr id="7" name="Text 4"/>
          <p:cNvSpPr/>
          <p:nvPr/>
        </p:nvSpPr>
        <p:spPr>
          <a:xfrm>
            <a:off x="5394960" y="822960"/>
            <a:ext cx="3383280" cy="3657600"/>
          </a:xfrm>
          <a:prstGeom prst="rect">
            <a:avLst/>
          </a:prstGeom>
          <a:noFill/>
          <a:ln/>
        </p:spPr>
        <p:txBody>
          <a:bodyPr wrap="square" lIns="0" tIns="0" rIns="0" bIns="0" rtlCol="0" anchor="ctr"/>
          <a:lstStyle/>
          <a:p>
            <a:pPr marL="0" indent="0" algn="ctr">
              <a:buNone/>
            </a:pPr>
            <a:endParaRPr lang="en-US" sz="1000" dirty="0"/>
          </a:p>
        </p:txBody>
      </p:sp>
      <p:sp>
        <p:nvSpPr>
          <p:cNvPr id="10" name="Text 7"/>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rPr>
              <a:t>LinearMind</a:t>
            </a:r>
            <a:endParaRPr lang="en-US" sz="900" dirty="0"/>
          </a:p>
        </p:txBody>
      </p:sp>
      <p:sp>
        <p:nvSpPr>
          <p:cNvPr id="11" name="Text 8"/>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rPr>
              <a:t>5</a:t>
            </a:r>
            <a:endParaRPr lang="en-US" sz="900" dirty="0"/>
          </a:p>
        </p:txBody>
      </p:sp>
      <p:sp>
        <p:nvSpPr>
          <p:cNvPr id="12" name="Shape 9"/>
          <p:cNvSpPr/>
          <p:nvPr/>
        </p:nvSpPr>
        <p:spPr>
          <a:xfrm>
            <a:off x="274320" y="4873752"/>
            <a:ext cx="8595360" cy="0"/>
          </a:xfrm>
          <a:prstGeom prst="line">
            <a:avLst/>
          </a:prstGeom>
          <a:noFill/>
          <a:ln w="6350">
            <a:solidFill>
              <a:srgbClr val="222226"/>
            </a:solidFill>
            <a:prstDash val="solid"/>
          </a:ln>
        </p:spPr>
        <p:txBody>
          <a:bodyPr/>
          <a:lstStyle/>
          <a:p>
            <a:endParaRPr lang="en-US"/>
          </a:p>
        </p:txBody>
      </p:sp>
      <p:sp>
        <p:nvSpPr>
          <p:cNvPr id="13" name="Shape 3">
            <a:extLst>
              <a:ext uri="{FF2B5EF4-FFF2-40B4-BE49-F238E27FC236}">
                <a16:creationId xmlns:a16="http://schemas.microsoft.com/office/drawing/2014/main" id="{DA615542-7B3B-6090-341A-44C8F7E71CAE}"/>
              </a:ext>
            </a:extLst>
          </p:cNvPr>
          <p:cNvSpPr/>
          <p:nvPr/>
        </p:nvSpPr>
        <p:spPr>
          <a:xfrm>
            <a:off x="5394960" y="2286000"/>
            <a:ext cx="3383280" cy="320040"/>
          </a:xfrm>
          <a:prstGeom prst="rect">
            <a:avLst/>
          </a:prstGeom>
          <a:solidFill>
            <a:srgbClr val="1A1A2E"/>
          </a:solidFill>
          <a:ln w="19050">
            <a:solidFill>
              <a:srgbClr val="6366F1"/>
            </a:solidFill>
            <a:prstDash val="dash"/>
          </a:ln>
        </p:spPr>
        <p:txBody>
          <a:bodyPr/>
          <a:lstStyle/>
          <a:p>
            <a:pPr algn="ctr"/>
            <a:r>
              <a:rPr lang="en-US" i="1" dirty="0">
                <a:solidFill>
                  <a:srgbClr val="818CF8"/>
                </a:solidFill>
                <a:latin typeface="Inter" panose="02000503000000020004" pitchFamily="2" charset="0"/>
                <a:ea typeface="Inter" panose="02000503000000020004" pitchFamily="2" charset="0"/>
              </a:rPr>
              <a:t>Model</a:t>
            </a:r>
            <a:endParaRPr lang="en-US" dirty="0">
              <a:latin typeface="Inter" panose="02000503000000020004" pitchFamily="2" charset="0"/>
              <a:ea typeface="Inter" panose="02000503000000020004" pitchFamily="2" charset="0"/>
            </a:endParaRPr>
          </a:p>
        </p:txBody>
      </p:sp>
      <p:sp>
        <p:nvSpPr>
          <p:cNvPr id="14" name="Shape 3">
            <a:extLst>
              <a:ext uri="{FF2B5EF4-FFF2-40B4-BE49-F238E27FC236}">
                <a16:creationId xmlns:a16="http://schemas.microsoft.com/office/drawing/2014/main" id="{7B0B40B0-5203-DCB1-BAF9-02D8908E20B7}"/>
              </a:ext>
            </a:extLst>
          </p:cNvPr>
          <p:cNvSpPr/>
          <p:nvPr/>
        </p:nvSpPr>
        <p:spPr>
          <a:xfrm>
            <a:off x="5394960" y="3140613"/>
            <a:ext cx="3383280" cy="320041"/>
          </a:xfrm>
          <a:prstGeom prst="rect">
            <a:avLst/>
          </a:prstGeom>
          <a:solidFill>
            <a:srgbClr val="1A1A2E"/>
          </a:solidFill>
          <a:ln w="19050">
            <a:solidFill>
              <a:srgbClr val="6366F1"/>
            </a:solidFill>
            <a:prstDash val="dash"/>
          </a:ln>
        </p:spPr>
        <p:txBody>
          <a:bodyPr/>
          <a:lstStyle/>
          <a:p>
            <a:pPr algn="ctr"/>
            <a:r>
              <a:rPr lang="en-US" i="1" dirty="0">
                <a:solidFill>
                  <a:srgbClr val="818CF8"/>
                </a:solidFill>
                <a:latin typeface="Inter" panose="02000503000000020004" pitchFamily="2" charset="0"/>
                <a:ea typeface="Inter" panose="02000503000000020004" pitchFamily="2" charset="0"/>
              </a:rPr>
              <a:t>Output</a:t>
            </a:r>
            <a:endParaRPr lang="en-US" dirty="0">
              <a:latin typeface="Inter" panose="02000503000000020004" pitchFamily="2" charset="0"/>
              <a:ea typeface="Inter" panose="02000503000000020004" pitchFamily="2" charset="0"/>
            </a:endParaRPr>
          </a:p>
        </p:txBody>
      </p:sp>
      <p:cxnSp>
        <p:nvCxnSpPr>
          <p:cNvPr id="16" name="Straight Arrow Connector 15">
            <a:extLst>
              <a:ext uri="{FF2B5EF4-FFF2-40B4-BE49-F238E27FC236}">
                <a16:creationId xmlns:a16="http://schemas.microsoft.com/office/drawing/2014/main" id="{2000A85C-3CA0-1D4A-1DCD-B0B13555E989}"/>
              </a:ext>
            </a:extLst>
          </p:cNvPr>
          <p:cNvCxnSpPr>
            <a:endCxn id="13" idx="0"/>
          </p:cNvCxnSpPr>
          <p:nvPr/>
        </p:nvCxnSpPr>
        <p:spPr>
          <a:xfrm>
            <a:off x="7086600" y="1769365"/>
            <a:ext cx="0" cy="5166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87EEE0F-D28F-286B-9FBF-AB0DD79A1093}"/>
              </a:ext>
            </a:extLst>
          </p:cNvPr>
          <p:cNvCxnSpPr>
            <a:endCxn id="14" idx="0"/>
          </p:cNvCxnSpPr>
          <p:nvPr/>
        </p:nvCxnSpPr>
        <p:spPr>
          <a:xfrm>
            <a:off x="7086600" y="2606040"/>
            <a:ext cx="0" cy="5345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201168"/>
            <a:ext cx="8412480" cy="502920"/>
          </a:xfrm>
          <a:prstGeom prst="rect">
            <a:avLst/>
          </a:prstGeom>
          <a:noFill/>
          <a:ln/>
        </p:spPr>
        <p:txBody>
          <a:bodyPr wrap="square" lIns="0" tIns="0" rIns="0" bIns="0" rtlCol="0" anchor="ctr"/>
          <a:lstStyle/>
          <a:p>
            <a:pPr marL="0" indent="0">
              <a:buNone/>
            </a:pPr>
            <a:r>
              <a:rPr lang="en-US" sz="2600" b="1" dirty="0">
                <a:solidFill>
                  <a:srgbClr val="818CF8"/>
                </a:solidFill>
                <a:latin typeface="Inter" panose="02000503000000020004" pitchFamily="2" charset="0"/>
                <a:ea typeface="Inter" panose="02000503000000020004" pitchFamily="2" charset="0"/>
                <a:cs typeface="Calibri" pitchFamily="34" charset="-120"/>
              </a:rPr>
              <a:t>Error &amp; Residuals — What the Model Gets Wrong</a:t>
            </a:r>
            <a:endParaRPr lang="en-US" sz="2600" dirty="0">
              <a:latin typeface="Inter" panose="02000503000000020004" pitchFamily="2" charset="0"/>
              <a:ea typeface="Inter" panose="02000503000000020004" pitchFamily="2" charset="0"/>
            </a:endParaRPr>
          </a:p>
        </p:txBody>
      </p:sp>
      <p:sp>
        <p:nvSpPr>
          <p:cNvPr id="4" name="Shape 1"/>
          <p:cNvSpPr/>
          <p:nvPr/>
        </p:nvSpPr>
        <p:spPr>
          <a:xfrm>
            <a:off x="365760" y="822960"/>
            <a:ext cx="3312942" cy="3657600"/>
          </a:xfrm>
          <a:prstGeom prst="rect">
            <a:avLst/>
          </a:prstGeom>
          <a:solidFill>
            <a:srgbClr val="111120"/>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p>
        </p:txBody>
      </p:sp>
      <p:sp>
        <p:nvSpPr>
          <p:cNvPr id="5" name="Text 2"/>
          <p:cNvSpPr/>
          <p:nvPr/>
        </p:nvSpPr>
        <p:spPr>
          <a:xfrm>
            <a:off x="548640" y="914400"/>
            <a:ext cx="4206240" cy="3383280"/>
          </a:xfrm>
          <a:prstGeom prst="rect">
            <a:avLst/>
          </a:prstGeom>
          <a:noFill/>
          <a:ln/>
        </p:spPr>
        <p:txBody>
          <a:bodyPr wrap="square" lIns="0" tIns="0" rIns="0" bIns="0" rtlCol="0" anchor="ctr"/>
          <a:lstStyle/>
          <a:p>
            <a:pPr marL="0" indent="0">
              <a:lnSpc>
                <a:spcPct val="130000"/>
              </a:lnSpc>
              <a:buNone/>
            </a:pPr>
            <a:r>
              <a:rPr lang="en-US" sz="1300" b="1" dirty="0">
                <a:solidFill>
                  <a:srgbClr val="818CF8"/>
                </a:solidFill>
                <a:latin typeface="Inter" panose="02000503000000020004" pitchFamily="2" charset="0"/>
                <a:ea typeface="Inter" panose="02000503000000020004" pitchFamily="2" charset="0"/>
              </a:rPr>
              <a:t>For each data point i:</a:t>
            </a:r>
            <a:endParaRPr lang="en-US" sz="1300" dirty="0">
              <a:latin typeface="Inter" panose="02000503000000020004" pitchFamily="2" charset="0"/>
              <a:ea typeface="Inter" panose="02000503000000020004" pitchFamily="2" charset="0"/>
            </a:endParaRPr>
          </a:p>
          <a:p>
            <a:pPr marL="0" indent="0">
              <a:lnSpc>
                <a:spcPct val="130000"/>
              </a:lnSpc>
              <a:buNone/>
            </a:pPr>
            <a:r>
              <a:rPr lang="en-US" sz="700" dirty="0">
                <a:solidFill>
                  <a:srgbClr val="000000"/>
                </a:solidFill>
              </a:rPr>
              <a:t> </a:t>
            </a:r>
            <a:endParaRPr lang="en-US" sz="1300" dirty="0"/>
          </a:p>
          <a:p>
            <a:pPr marL="0" indent="0">
              <a:lnSpc>
                <a:spcPct val="130000"/>
              </a:lnSpc>
              <a:buNone/>
            </a:pPr>
            <a:r>
              <a:rPr lang="en-US" sz="1500" b="1" dirty="0">
                <a:solidFill>
                  <a:srgbClr val="FFFFFF"/>
                </a:solidFill>
                <a:latin typeface="Courier New" pitchFamily="34" charset="0"/>
                <a:ea typeface="Courier New" pitchFamily="34" charset="-122"/>
                <a:cs typeface="Courier New" pitchFamily="34" charset="-120"/>
              </a:rPr>
              <a:t>residual  =  yᵢ − ŷᵢ</a:t>
            </a:r>
            <a:endParaRPr lang="en-US" sz="1300" dirty="0"/>
          </a:p>
          <a:p>
            <a:pPr marL="0" indent="0">
              <a:lnSpc>
                <a:spcPct val="130000"/>
              </a:lnSpc>
              <a:buNone/>
            </a:pPr>
            <a:r>
              <a:rPr lang="en-US" sz="700" dirty="0">
                <a:solidFill>
                  <a:srgbClr val="000000"/>
                </a:solidFill>
              </a:rPr>
              <a:t> </a:t>
            </a:r>
            <a:endParaRPr lang="en-US" sz="1300" dirty="0"/>
          </a:p>
          <a:p>
            <a:pPr marL="0" indent="0">
              <a:lnSpc>
                <a:spcPct val="130000"/>
              </a:lnSpc>
              <a:buNone/>
            </a:pPr>
            <a:r>
              <a:rPr lang="en-US" sz="1050" i="1" dirty="0">
                <a:solidFill>
                  <a:srgbClr val="94A3B8"/>
                </a:solidFill>
              </a:rPr>
              <a:t>(</a:t>
            </a:r>
            <a:r>
              <a:rPr lang="en-US" sz="1050" i="1" dirty="0">
                <a:solidFill>
                  <a:srgbClr val="94A3B8"/>
                </a:solidFill>
                <a:latin typeface="Inter" panose="02000503000000020004" pitchFamily="2" charset="0"/>
                <a:ea typeface="Inter" panose="02000503000000020004" pitchFamily="2" charset="0"/>
              </a:rPr>
              <a:t>true value minus predicted value)</a:t>
            </a:r>
            <a:endParaRPr lang="en-US" sz="1200" dirty="0">
              <a:latin typeface="Inter" panose="02000503000000020004" pitchFamily="2" charset="0"/>
              <a:ea typeface="Inter" panose="02000503000000020004" pitchFamily="2" charset="0"/>
            </a:endParaRPr>
          </a:p>
          <a:p>
            <a:pPr marL="0" indent="0">
              <a:lnSpc>
                <a:spcPct val="130000"/>
              </a:lnSpc>
              <a:buNone/>
            </a:pPr>
            <a:r>
              <a:rPr lang="en-US" sz="600" dirty="0">
                <a:solidFill>
                  <a:srgbClr val="000000"/>
                </a:solidFill>
                <a:latin typeface="Inter" panose="02000503000000020004" pitchFamily="2" charset="0"/>
                <a:ea typeface="Inter" panose="02000503000000020004" pitchFamily="2" charset="0"/>
              </a:rPr>
              <a:t> </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100" dirty="0">
                <a:solidFill>
                  <a:srgbClr val="E2E8F0"/>
                </a:solidFill>
                <a:latin typeface="Inter" panose="02000503000000020004" pitchFamily="2" charset="0"/>
                <a:ea typeface="Inter" panose="02000503000000020004" pitchFamily="2" charset="0"/>
              </a:rPr>
              <a:t>Residuals show where the line</a:t>
            </a:r>
            <a:endParaRPr lang="en-US" sz="1100" dirty="0">
              <a:latin typeface="Inter" panose="02000503000000020004" pitchFamily="2" charset="0"/>
              <a:ea typeface="Inter" panose="02000503000000020004" pitchFamily="2" charset="0"/>
            </a:endParaRPr>
          </a:p>
          <a:p>
            <a:pPr marL="0" indent="0">
              <a:lnSpc>
                <a:spcPct val="130000"/>
              </a:lnSpc>
              <a:buNone/>
            </a:pPr>
            <a:r>
              <a:rPr lang="en-US" sz="1100" dirty="0">
                <a:solidFill>
                  <a:srgbClr val="E2E8F0"/>
                </a:solidFill>
                <a:latin typeface="Inter" panose="02000503000000020004" pitchFamily="2" charset="0"/>
                <a:ea typeface="Inter" panose="02000503000000020004" pitchFamily="2" charset="0"/>
              </a:rPr>
              <a:t>under- or over-estimates.</a:t>
            </a:r>
            <a:endParaRPr lang="en-US" sz="1100" dirty="0">
              <a:latin typeface="Inter" panose="02000503000000020004" pitchFamily="2" charset="0"/>
              <a:ea typeface="Inter" panose="02000503000000020004" pitchFamily="2" charset="0"/>
            </a:endParaRPr>
          </a:p>
          <a:p>
            <a:pPr marL="0" indent="0">
              <a:lnSpc>
                <a:spcPct val="130000"/>
              </a:lnSpc>
              <a:buNone/>
            </a:pPr>
            <a:r>
              <a:rPr lang="en-US" sz="600" dirty="0">
                <a:solidFill>
                  <a:srgbClr val="000000"/>
                </a:solidFill>
                <a:latin typeface="Inter" panose="02000503000000020004" pitchFamily="2" charset="0"/>
                <a:ea typeface="Inter" panose="02000503000000020004" pitchFamily="2" charset="0"/>
              </a:rPr>
              <a:t> </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b="1" dirty="0">
                <a:solidFill>
                  <a:srgbClr val="A855F7"/>
                </a:solidFill>
                <a:latin typeface="Inter" panose="02000503000000020004" pitchFamily="2" charset="0"/>
                <a:ea typeface="Inter" panose="02000503000000020004" pitchFamily="2" charset="0"/>
              </a:rPr>
              <a:t>Residual patterns reveal problems:</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100" dirty="0">
                <a:solidFill>
                  <a:srgbClr val="E2E8F0"/>
                </a:solidFill>
                <a:latin typeface="Inter" panose="02000503000000020004" pitchFamily="2" charset="0"/>
                <a:ea typeface="Inter" panose="02000503000000020004" pitchFamily="2" charset="0"/>
              </a:rPr>
              <a:t>• Curved patterns → nonlinearity</a:t>
            </a:r>
            <a:endParaRPr lang="en-US" sz="1100" dirty="0">
              <a:latin typeface="Inter" panose="02000503000000020004" pitchFamily="2" charset="0"/>
              <a:ea typeface="Inter" panose="02000503000000020004" pitchFamily="2" charset="0"/>
            </a:endParaRPr>
          </a:p>
          <a:p>
            <a:pPr marL="0" indent="0">
              <a:lnSpc>
                <a:spcPct val="130000"/>
              </a:lnSpc>
              <a:buNone/>
            </a:pPr>
            <a:r>
              <a:rPr lang="en-US" sz="1100" dirty="0">
                <a:solidFill>
                  <a:srgbClr val="E2E8F0"/>
                </a:solidFill>
                <a:latin typeface="Inter" panose="02000503000000020004" pitchFamily="2" charset="0"/>
                <a:ea typeface="Inter" panose="02000503000000020004" pitchFamily="2" charset="0"/>
              </a:rPr>
              <a:t>• Systematic bias → missing features</a:t>
            </a:r>
            <a:endParaRPr lang="en-US" sz="1100" dirty="0">
              <a:latin typeface="Inter" panose="02000503000000020004" pitchFamily="2" charset="0"/>
              <a:ea typeface="Inter" panose="02000503000000020004" pitchFamily="2" charset="0"/>
            </a:endParaRPr>
          </a:p>
          <a:p>
            <a:pPr marL="0" indent="0">
              <a:lnSpc>
                <a:spcPct val="130000"/>
              </a:lnSpc>
              <a:buNone/>
            </a:pPr>
            <a:r>
              <a:rPr lang="en-US" sz="1100" dirty="0">
                <a:solidFill>
                  <a:srgbClr val="E2E8F0"/>
                </a:solidFill>
                <a:latin typeface="Inter" panose="02000503000000020004" pitchFamily="2" charset="0"/>
                <a:ea typeface="Inter" panose="02000503000000020004" pitchFamily="2" charset="0"/>
              </a:rPr>
              <a:t>• Outliers → potential data issues</a:t>
            </a:r>
            <a:endParaRPr lang="en-US" sz="1100" dirty="0">
              <a:latin typeface="Inter" panose="02000503000000020004" pitchFamily="2" charset="0"/>
              <a:ea typeface="Inter" panose="02000503000000020004" pitchFamily="2" charset="0"/>
            </a:endParaRPr>
          </a:p>
        </p:txBody>
      </p:sp>
      <p:sp>
        <p:nvSpPr>
          <p:cNvPr id="10" name="Text 7"/>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rPr>
              <a:t>LinearMind</a:t>
            </a:r>
            <a:endParaRPr lang="en-US" sz="900" dirty="0"/>
          </a:p>
        </p:txBody>
      </p:sp>
      <p:sp>
        <p:nvSpPr>
          <p:cNvPr id="11" name="Text 8"/>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rPr>
              <a:t>6</a:t>
            </a:r>
            <a:endParaRPr lang="en-US" sz="900" dirty="0"/>
          </a:p>
        </p:txBody>
      </p:sp>
      <p:sp>
        <p:nvSpPr>
          <p:cNvPr id="12" name="Shape 9"/>
          <p:cNvSpPr/>
          <p:nvPr/>
        </p:nvSpPr>
        <p:spPr>
          <a:xfrm>
            <a:off x="274320" y="4873752"/>
            <a:ext cx="8595360" cy="0"/>
          </a:xfrm>
          <a:prstGeom prst="line">
            <a:avLst/>
          </a:prstGeom>
          <a:noFill/>
          <a:ln w="6350">
            <a:solidFill>
              <a:srgbClr val="222226"/>
            </a:solidFill>
            <a:prstDash val="solid"/>
          </a:ln>
        </p:spPr>
        <p:txBody>
          <a:bodyPr/>
          <a:lstStyle/>
          <a:p>
            <a:endParaRPr lang="en-US"/>
          </a:p>
        </p:txBody>
      </p:sp>
      <p:pic>
        <p:nvPicPr>
          <p:cNvPr id="15" name="Picture 14">
            <a:extLst>
              <a:ext uri="{FF2B5EF4-FFF2-40B4-BE49-F238E27FC236}">
                <a16:creationId xmlns:a16="http://schemas.microsoft.com/office/drawing/2014/main" id="{F3040FCB-C8B3-C9DF-8F7A-873DE4144B8E}"/>
              </a:ext>
            </a:extLst>
          </p:cNvPr>
          <p:cNvPicPr>
            <a:picLocks noChangeAspect="1"/>
          </p:cNvPicPr>
          <p:nvPr/>
        </p:nvPicPr>
        <p:blipFill>
          <a:blip r:embed="rId4"/>
          <a:stretch>
            <a:fillRect/>
          </a:stretch>
        </p:blipFill>
        <p:spPr>
          <a:xfrm>
            <a:off x="3934200" y="1540700"/>
            <a:ext cx="4954302" cy="21306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201168"/>
            <a:ext cx="8778240" cy="502920"/>
          </a:xfrm>
          <a:prstGeom prst="rect">
            <a:avLst/>
          </a:prstGeom>
          <a:noFill/>
          <a:ln/>
        </p:spPr>
        <p:txBody>
          <a:bodyPr wrap="square" lIns="0" tIns="0" rIns="0" bIns="0" rtlCol="0" anchor="ctr"/>
          <a:lstStyle/>
          <a:p>
            <a:pPr marL="0" indent="0">
              <a:buNone/>
            </a:pPr>
            <a:r>
              <a:rPr lang="en-US" sz="2400" b="1" dirty="0">
                <a:solidFill>
                  <a:srgbClr val="818CF8"/>
                </a:solidFill>
                <a:latin typeface="Inter" panose="02000503000000020004" pitchFamily="2" charset="0"/>
                <a:ea typeface="Inter" panose="02000503000000020004" pitchFamily="2" charset="0"/>
                <a:cs typeface="Calibri" pitchFamily="34" charset="-120"/>
              </a:rPr>
              <a:t>Loss / Cost Function — Measuring Overall Wrongness</a:t>
            </a:r>
            <a:endParaRPr lang="en-US" sz="2400" dirty="0">
              <a:latin typeface="Inter" panose="02000503000000020004" pitchFamily="2" charset="0"/>
              <a:ea typeface="Inter" panose="02000503000000020004" pitchFamily="2" charset="0"/>
            </a:endParaRPr>
          </a:p>
        </p:txBody>
      </p:sp>
      <p:sp>
        <p:nvSpPr>
          <p:cNvPr id="4" name="Shape 1"/>
          <p:cNvSpPr/>
          <p:nvPr/>
        </p:nvSpPr>
        <p:spPr>
          <a:xfrm>
            <a:off x="365760" y="822960"/>
            <a:ext cx="8412480" cy="3657600"/>
          </a:xfrm>
          <a:prstGeom prst="rect">
            <a:avLst/>
          </a:prstGeom>
          <a:solidFill>
            <a:srgbClr val="111120"/>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5" name="Shape 2"/>
          <p:cNvSpPr/>
          <p:nvPr/>
        </p:nvSpPr>
        <p:spPr>
          <a:xfrm>
            <a:off x="1828800" y="960120"/>
            <a:ext cx="5486400" cy="777240"/>
          </a:xfrm>
          <a:prstGeom prst="rect">
            <a:avLst/>
          </a:prstGeom>
          <a:solidFill>
            <a:srgbClr val="0F0F1E"/>
          </a:solidFill>
          <a:ln w="12700">
            <a:solidFill>
              <a:srgbClr val="06B6D4"/>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6" name="Text 3"/>
          <p:cNvSpPr/>
          <p:nvPr/>
        </p:nvSpPr>
        <p:spPr>
          <a:xfrm>
            <a:off x="1828800" y="960120"/>
            <a:ext cx="5486400"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Inter" panose="02000503000000020004" pitchFamily="2" charset="0"/>
                <a:ea typeface="Inter" panose="02000503000000020004" pitchFamily="2" charset="0"/>
                <a:cs typeface="Courier New" pitchFamily="34" charset="-120"/>
              </a:rPr>
              <a:t>MSE  =  (1/n) · Σ (yᵢ − ŷᵢ)²</a:t>
            </a:r>
            <a:endParaRPr lang="en-US" sz="2000" dirty="0">
              <a:latin typeface="Inter" panose="02000503000000020004" pitchFamily="2" charset="0"/>
              <a:ea typeface="Inter" panose="02000503000000020004" pitchFamily="2" charset="0"/>
            </a:endParaRPr>
          </a:p>
        </p:txBody>
      </p:sp>
      <p:sp>
        <p:nvSpPr>
          <p:cNvPr id="7" name="Text 4"/>
          <p:cNvSpPr/>
          <p:nvPr/>
        </p:nvSpPr>
        <p:spPr>
          <a:xfrm>
            <a:off x="548640" y="1874520"/>
            <a:ext cx="8046720" cy="324613"/>
          </a:xfrm>
          <a:prstGeom prst="rect">
            <a:avLst/>
          </a:prstGeom>
          <a:noFill/>
          <a:ln/>
        </p:spPr>
        <p:txBody>
          <a:bodyPr wrap="square" lIns="0" tIns="0" rIns="0" bIns="0" rtlCol="0" anchor="ctr"/>
          <a:lstStyle/>
          <a:p>
            <a:pPr marL="0" indent="0">
              <a:buNone/>
            </a:pPr>
            <a:r>
              <a:rPr lang="en-US" sz="1050" dirty="0">
                <a:solidFill>
                  <a:srgbClr val="E2E8F0"/>
                </a:solidFill>
                <a:latin typeface="Inter" panose="02000503000000020004" pitchFamily="2" charset="0"/>
                <a:ea typeface="Inter" panose="02000503000000020004" pitchFamily="2" charset="0"/>
              </a:rPr>
              <a:t>We need one number summarising all residuals. </a:t>
            </a:r>
          </a:p>
          <a:p>
            <a:pPr marL="0" indent="0">
              <a:buNone/>
            </a:pPr>
            <a:r>
              <a:rPr lang="en-US" sz="1050" dirty="0">
                <a:solidFill>
                  <a:srgbClr val="E2E8F0"/>
                </a:solidFill>
                <a:latin typeface="Inter" panose="02000503000000020004" pitchFamily="2" charset="0"/>
                <a:ea typeface="Inter" panose="02000503000000020004" pitchFamily="2" charset="0"/>
              </a:rPr>
              <a:t>Common choice for regression: </a:t>
            </a:r>
            <a:endParaRPr lang="en-US" sz="1050" dirty="0">
              <a:latin typeface="Inter" panose="02000503000000020004" pitchFamily="2" charset="0"/>
              <a:ea typeface="Inter" panose="02000503000000020004" pitchFamily="2" charset="0"/>
            </a:endParaRPr>
          </a:p>
          <a:p>
            <a:pPr marL="0" indent="0">
              <a:buNone/>
            </a:pPr>
            <a:r>
              <a:rPr lang="en-US" sz="1300" b="1" dirty="0">
                <a:solidFill>
                  <a:srgbClr val="06B6D4"/>
                </a:solidFill>
                <a:latin typeface="Inter" panose="02000503000000020004" pitchFamily="2" charset="0"/>
                <a:ea typeface="Inter" panose="02000503000000020004" pitchFamily="2" charset="0"/>
              </a:rPr>
              <a:t>Mean Squared Error (MSE)</a:t>
            </a:r>
            <a:endParaRPr lang="en-US" sz="1300" dirty="0">
              <a:latin typeface="Inter" panose="02000503000000020004" pitchFamily="2" charset="0"/>
              <a:ea typeface="Inter" panose="02000503000000020004" pitchFamily="2" charset="0"/>
            </a:endParaRPr>
          </a:p>
        </p:txBody>
      </p:sp>
      <p:sp>
        <p:nvSpPr>
          <p:cNvPr id="8" name="Shape 5"/>
          <p:cNvSpPr/>
          <p:nvPr/>
        </p:nvSpPr>
        <p:spPr>
          <a:xfrm>
            <a:off x="457200" y="2395728"/>
            <a:ext cx="2560320" cy="1737360"/>
          </a:xfrm>
          <a:prstGeom prst="rect">
            <a:avLst/>
          </a:prstGeom>
          <a:solidFill>
            <a:srgbClr val="0F0F1E"/>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9" name="Text 6"/>
          <p:cNvSpPr/>
          <p:nvPr/>
        </p:nvSpPr>
        <p:spPr>
          <a:xfrm>
            <a:off x="566928" y="2468880"/>
            <a:ext cx="2340864" cy="320040"/>
          </a:xfrm>
          <a:prstGeom prst="rect">
            <a:avLst/>
          </a:prstGeom>
          <a:noFill/>
          <a:ln/>
        </p:spPr>
        <p:txBody>
          <a:bodyPr wrap="square" lIns="0" tIns="0" rIns="0" bIns="0" rtlCol="0" anchor="ctr"/>
          <a:lstStyle/>
          <a:p>
            <a:pPr marL="0" indent="0">
              <a:buNone/>
            </a:pPr>
            <a:r>
              <a:rPr lang="en-US" sz="1200" b="1" dirty="0">
                <a:solidFill>
                  <a:srgbClr val="6366F1"/>
                </a:solidFill>
                <a:latin typeface="Inter" panose="02000503000000020004" pitchFamily="2" charset="0"/>
                <a:ea typeface="Inter" panose="02000503000000020004" pitchFamily="2" charset="0"/>
              </a:rPr>
              <a:t>Why square?</a:t>
            </a:r>
            <a:endParaRPr lang="en-US" sz="1200" dirty="0">
              <a:latin typeface="Inter" panose="02000503000000020004" pitchFamily="2" charset="0"/>
              <a:ea typeface="Inter" panose="02000503000000020004" pitchFamily="2" charset="0"/>
            </a:endParaRPr>
          </a:p>
        </p:txBody>
      </p:sp>
      <p:sp>
        <p:nvSpPr>
          <p:cNvPr id="10" name="Text 7"/>
          <p:cNvSpPr/>
          <p:nvPr/>
        </p:nvSpPr>
        <p:spPr>
          <a:xfrm>
            <a:off x="566928" y="2816352"/>
            <a:ext cx="2340864" cy="1188720"/>
          </a:xfrm>
          <a:prstGeom prst="rect">
            <a:avLst/>
          </a:prstGeom>
          <a:noFill/>
          <a:ln/>
        </p:spPr>
        <p:txBody>
          <a:bodyPr wrap="square" lIns="0" tIns="0" rIns="0" bIns="0" rtlCol="0" anchor="ctr"/>
          <a:lstStyle/>
          <a:p>
            <a:pPr marL="0" indent="0">
              <a:lnSpc>
                <a:spcPct val="125000"/>
              </a:lnSpc>
              <a:buNone/>
            </a:pPr>
            <a:r>
              <a:rPr lang="en-US" sz="1100" dirty="0">
                <a:solidFill>
                  <a:srgbClr val="E2E8F0"/>
                </a:solidFill>
                <a:latin typeface="Inter" panose="02000503000000020004" pitchFamily="2" charset="0"/>
                <a:ea typeface="Inter" panose="02000503000000020004" pitchFamily="2" charset="0"/>
              </a:rPr>
              <a:t>Prevents + and − residuals from cancelling each other out.</a:t>
            </a:r>
            <a:endParaRPr lang="en-US" sz="1100" dirty="0">
              <a:latin typeface="Inter" panose="02000503000000020004" pitchFamily="2" charset="0"/>
              <a:ea typeface="Inter" panose="02000503000000020004" pitchFamily="2" charset="0"/>
            </a:endParaRPr>
          </a:p>
        </p:txBody>
      </p:sp>
      <p:sp>
        <p:nvSpPr>
          <p:cNvPr id="11" name="Shape 8"/>
          <p:cNvSpPr/>
          <p:nvPr/>
        </p:nvSpPr>
        <p:spPr>
          <a:xfrm>
            <a:off x="3200400" y="2395728"/>
            <a:ext cx="2560320" cy="1737360"/>
          </a:xfrm>
          <a:prstGeom prst="rect">
            <a:avLst/>
          </a:prstGeom>
          <a:solidFill>
            <a:srgbClr val="0F0F1E"/>
          </a:solidFill>
          <a:ln w="12700">
            <a:solidFill>
              <a:srgbClr val="A855F7"/>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12" name="Text 9"/>
          <p:cNvSpPr/>
          <p:nvPr/>
        </p:nvSpPr>
        <p:spPr>
          <a:xfrm>
            <a:off x="3310128" y="2468880"/>
            <a:ext cx="2340864" cy="320040"/>
          </a:xfrm>
          <a:prstGeom prst="rect">
            <a:avLst/>
          </a:prstGeom>
          <a:noFill/>
          <a:ln/>
        </p:spPr>
        <p:txBody>
          <a:bodyPr wrap="square" lIns="0" tIns="0" rIns="0" bIns="0" rtlCol="0" anchor="ctr"/>
          <a:lstStyle/>
          <a:p>
            <a:pPr marL="0" indent="0">
              <a:buNone/>
            </a:pPr>
            <a:r>
              <a:rPr lang="en-US" sz="1200" b="1" dirty="0">
                <a:solidFill>
                  <a:srgbClr val="A855F7"/>
                </a:solidFill>
                <a:latin typeface="Inter" panose="02000503000000020004" pitchFamily="2" charset="0"/>
                <a:ea typeface="Inter" panose="02000503000000020004" pitchFamily="2" charset="0"/>
              </a:rPr>
              <a:t>Big penalty</a:t>
            </a:r>
            <a:endParaRPr lang="en-US" sz="1200" dirty="0">
              <a:latin typeface="Inter" panose="02000503000000020004" pitchFamily="2" charset="0"/>
              <a:ea typeface="Inter" panose="02000503000000020004" pitchFamily="2" charset="0"/>
            </a:endParaRPr>
          </a:p>
        </p:txBody>
      </p:sp>
      <p:sp>
        <p:nvSpPr>
          <p:cNvPr id="13" name="Text 10"/>
          <p:cNvSpPr/>
          <p:nvPr/>
        </p:nvSpPr>
        <p:spPr>
          <a:xfrm>
            <a:off x="3310128" y="2816352"/>
            <a:ext cx="2340864" cy="1188720"/>
          </a:xfrm>
          <a:prstGeom prst="rect">
            <a:avLst/>
          </a:prstGeom>
          <a:noFill/>
          <a:ln/>
        </p:spPr>
        <p:txBody>
          <a:bodyPr wrap="square" lIns="0" tIns="0" rIns="0" bIns="0" rtlCol="0" anchor="ctr"/>
          <a:lstStyle/>
          <a:p>
            <a:pPr marL="0" indent="0">
              <a:lnSpc>
                <a:spcPct val="125000"/>
              </a:lnSpc>
              <a:buNone/>
            </a:pPr>
            <a:r>
              <a:rPr lang="en-US" sz="1100" dirty="0">
                <a:solidFill>
                  <a:srgbClr val="E2E8F0"/>
                </a:solidFill>
                <a:latin typeface="Inter" panose="02000503000000020004" pitchFamily="2" charset="0"/>
                <a:ea typeface="Inter" panose="02000503000000020004" pitchFamily="2" charset="0"/>
              </a:rPr>
              <a:t>Large errors are penalised much more heavily than small ones.</a:t>
            </a:r>
            <a:endParaRPr lang="en-US" sz="1100" dirty="0">
              <a:latin typeface="Inter" panose="02000503000000020004" pitchFamily="2" charset="0"/>
              <a:ea typeface="Inter" panose="02000503000000020004" pitchFamily="2" charset="0"/>
            </a:endParaRPr>
          </a:p>
        </p:txBody>
      </p:sp>
      <p:sp>
        <p:nvSpPr>
          <p:cNvPr id="14" name="Shape 11"/>
          <p:cNvSpPr/>
          <p:nvPr/>
        </p:nvSpPr>
        <p:spPr>
          <a:xfrm>
            <a:off x="5943600" y="2395728"/>
            <a:ext cx="2560320" cy="1737360"/>
          </a:xfrm>
          <a:prstGeom prst="rect">
            <a:avLst/>
          </a:prstGeom>
          <a:solidFill>
            <a:srgbClr val="0F0F1E"/>
          </a:solidFill>
          <a:ln w="12700">
            <a:solidFill>
              <a:srgbClr val="06B6D4"/>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15" name="Text 12"/>
          <p:cNvSpPr/>
          <p:nvPr/>
        </p:nvSpPr>
        <p:spPr>
          <a:xfrm>
            <a:off x="6053328" y="2468880"/>
            <a:ext cx="2340864" cy="320040"/>
          </a:xfrm>
          <a:prstGeom prst="rect">
            <a:avLst/>
          </a:prstGeom>
          <a:noFill/>
          <a:ln/>
        </p:spPr>
        <p:txBody>
          <a:bodyPr wrap="square" lIns="0" tIns="0" rIns="0" bIns="0" rtlCol="0" anchor="ctr"/>
          <a:lstStyle/>
          <a:p>
            <a:pPr marL="0" indent="0">
              <a:buNone/>
            </a:pPr>
            <a:r>
              <a:rPr lang="en-US" sz="1200" b="1" dirty="0">
                <a:solidFill>
                  <a:srgbClr val="06B6D4"/>
                </a:solidFill>
                <a:latin typeface="Inter" panose="02000503000000020004" pitchFamily="2" charset="0"/>
                <a:ea typeface="Inter" panose="02000503000000020004" pitchFamily="2" charset="0"/>
              </a:rPr>
              <a:t>Smooth surface</a:t>
            </a:r>
            <a:endParaRPr lang="en-US" sz="1200" dirty="0">
              <a:latin typeface="Inter" panose="02000503000000020004" pitchFamily="2" charset="0"/>
              <a:ea typeface="Inter" panose="02000503000000020004" pitchFamily="2" charset="0"/>
            </a:endParaRPr>
          </a:p>
        </p:txBody>
      </p:sp>
      <p:sp>
        <p:nvSpPr>
          <p:cNvPr id="16" name="Text 13"/>
          <p:cNvSpPr/>
          <p:nvPr/>
        </p:nvSpPr>
        <p:spPr>
          <a:xfrm>
            <a:off x="6053328" y="2816352"/>
            <a:ext cx="2340864" cy="1188720"/>
          </a:xfrm>
          <a:prstGeom prst="rect">
            <a:avLst/>
          </a:prstGeom>
          <a:noFill/>
          <a:ln/>
        </p:spPr>
        <p:txBody>
          <a:bodyPr wrap="square" lIns="0" tIns="0" rIns="0" bIns="0" rtlCol="0" anchor="ctr"/>
          <a:lstStyle/>
          <a:p>
            <a:pPr marL="0" indent="0">
              <a:lnSpc>
                <a:spcPct val="125000"/>
              </a:lnSpc>
              <a:buNone/>
            </a:pPr>
            <a:r>
              <a:rPr lang="en-US" sz="1100" dirty="0">
                <a:solidFill>
                  <a:srgbClr val="E2E8F0"/>
                </a:solidFill>
                <a:latin typeface="Inter" panose="02000503000000020004" pitchFamily="2" charset="0"/>
                <a:ea typeface="Inter" panose="02000503000000020004" pitchFamily="2" charset="0"/>
              </a:rPr>
              <a:t>Squaring creates a differentiable bowl — perfect for calculus-based optimisation.</a:t>
            </a:r>
            <a:endParaRPr lang="en-US" sz="1100" dirty="0">
              <a:latin typeface="Inter" panose="02000503000000020004" pitchFamily="2" charset="0"/>
              <a:ea typeface="Inter" panose="02000503000000020004" pitchFamily="2" charset="0"/>
            </a:endParaRPr>
          </a:p>
        </p:txBody>
      </p:sp>
      <p:sp>
        <p:nvSpPr>
          <p:cNvPr id="19" name="Text 16"/>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latin typeface="Inter" panose="02000503000000020004" pitchFamily="2" charset="0"/>
                <a:ea typeface="Inter" panose="02000503000000020004" pitchFamily="2" charset="0"/>
              </a:rPr>
              <a:t>LinearMind</a:t>
            </a:r>
            <a:endParaRPr lang="en-US" sz="900" dirty="0">
              <a:latin typeface="Inter" panose="02000503000000020004" pitchFamily="2" charset="0"/>
              <a:ea typeface="Inter" panose="02000503000000020004" pitchFamily="2" charset="0"/>
            </a:endParaRPr>
          </a:p>
        </p:txBody>
      </p:sp>
      <p:sp>
        <p:nvSpPr>
          <p:cNvPr id="20" name="Text 17"/>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latin typeface="Inter" panose="02000503000000020004" pitchFamily="2" charset="0"/>
                <a:ea typeface="Inter" panose="02000503000000020004" pitchFamily="2" charset="0"/>
              </a:rPr>
              <a:t>7</a:t>
            </a:r>
            <a:endParaRPr lang="en-US" sz="900" dirty="0">
              <a:latin typeface="Inter" panose="02000503000000020004" pitchFamily="2" charset="0"/>
              <a:ea typeface="Inter" panose="02000503000000020004" pitchFamily="2" charset="0"/>
            </a:endParaRPr>
          </a:p>
        </p:txBody>
      </p:sp>
      <p:sp>
        <p:nvSpPr>
          <p:cNvPr id="21" name="Shape 18"/>
          <p:cNvSpPr/>
          <p:nvPr/>
        </p:nvSpPr>
        <p:spPr>
          <a:xfrm>
            <a:off x="274320" y="4873752"/>
            <a:ext cx="8595360" cy="0"/>
          </a:xfrm>
          <a:prstGeom prst="line">
            <a:avLst/>
          </a:prstGeom>
          <a:noFill/>
          <a:ln w="635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201168"/>
            <a:ext cx="8412480" cy="502920"/>
          </a:xfrm>
          <a:prstGeom prst="rect">
            <a:avLst/>
          </a:prstGeom>
          <a:noFill/>
          <a:ln/>
        </p:spPr>
        <p:txBody>
          <a:bodyPr wrap="square" lIns="0" tIns="0" rIns="0" bIns="0" rtlCol="0" anchor="ctr"/>
          <a:lstStyle/>
          <a:p>
            <a:pPr marL="0" indent="0">
              <a:buNone/>
            </a:pPr>
            <a:r>
              <a:rPr lang="en-US" sz="2600" b="1" dirty="0">
                <a:solidFill>
                  <a:srgbClr val="818CF8"/>
                </a:solidFill>
                <a:latin typeface="Inter" panose="02000503000000020004" pitchFamily="2" charset="0"/>
                <a:ea typeface="Inter" panose="02000503000000020004" pitchFamily="2" charset="0"/>
                <a:cs typeface="Calibri" pitchFamily="34" charset="-120"/>
              </a:rPr>
              <a:t>Optimization — Finding the Best w and b</a:t>
            </a:r>
            <a:endParaRPr lang="en-US" sz="2600" dirty="0">
              <a:latin typeface="Inter" panose="02000503000000020004" pitchFamily="2" charset="0"/>
              <a:ea typeface="Inter" panose="02000503000000020004" pitchFamily="2" charset="0"/>
            </a:endParaRPr>
          </a:p>
        </p:txBody>
      </p:sp>
      <p:sp>
        <p:nvSpPr>
          <p:cNvPr id="4" name="Shape 1"/>
          <p:cNvSpPr/>
          <p:nvPr/>
        </p:nvSpPr>
        <p:spPr>
          <a:xfrm>
            <a:off x="365760" y="822960"/>
            <a:ext cx="3151163" cy="3657600"/>
          </a:xfrm>
          <a:prstGeom prst="rect">
            <a:avLst/>
          </a:prstGeom>
          <a:solidFill>
            <a:srgbClr val="111120"/>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5" name="Text 2"/>
          <p:cNvSpPr/>
          <p:nvPr/>
        </p:nvSpPr>
        <p:spPr>
          <a:xfrm>
            <a:off x="548640" y="914400"/>
            <a:ext cx="2855742" cy="3383280"/>
          </a:xfrm>
          <a:prstGeom prst="rect">
            <a:avLst/>
          </a:prstGeom>
          <a:noFill/>
          <a:ln/>
        </p:spPr>
        <p:txBody>
          <a:bodyPr wrap="square" lIns="0" tIns="0" rIns="0" bIns="0" rtlCol="0" anchor="ctr"/>
          <a:lstStyle/>
          <a:p>
            <a:pPr marL="0" indent="0">
              <a:lnSpc>
                <a:spcPct val="130000"/>
              </a:lnSpc>
              <a:buNone/>
            </a:pPr>
            <a:r>
              <a:rPr lang="en-US" sz="1300" b="1" dirty="0">
                <a:solidFill>
                  <a:srgbClr val="818CF8"/>
                </a:solidFill>
                <a:latin typeface="Inter" panose="02000503000000020004" pitchFamily="2" charset="0"/>
                <a:ea typeface="Inter" panose="02000503000000020004" pitchFamily="2" charset="0"/>
              </a:rPr>
              <a:t>Goal:</a:t>
            </a:r>
            <a:r>
              <a:rPr lang="en-US" sz="1300" dirty="0">
                <a:solidFill>
                  <a:srgbClr val="E2E8F0"/>
                </a:solidFill>
                <a:latin typeface="Inter" panose="02000503000000020004" pitchFamily="2" charset="0"/>
                <a:ea typeface="Inter" panose="02000503000000020004" pitchFamily="2" charset="0"/>
              </a:rPr>
              <a:t> </a:t>
            </a:r>
            <a:r>
              <a:rPr lang="en-US" sz="1200" dirty="0">
                <a:solidFill>
                  <a:srgbClr val="E2E8F0"/>
                </a:solidFill>
                <a:latin typeface="Inter" panose="02000503000000020004" pitchFamily="2" charset="0"/>
                <a:ea typeface="Inter" panose="02000503000000020004" pitchFamily="2" charset="0"/>
              </a:rPr>
              <a:t>choose parameters w and b that</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minimize the loss function.</a:t>
            </a:r>
            <a:endParaRPr lang="en-US" sz="1200" dirty="0">
              <a:latin typeface="Inter" panose="02000503000000020004" pitchFamily="2" charset="0"/>
              <a:ea typeface="Inter" panose="02000503000000020004" pitchFamily="2" charset="0"/>
            </a:endParaRPr>
          </a:p>
          <a:p>
            <a:pPr marL="0" indent="0">
              <a:lnSpc>
                <a:spcPct val="130000"/>
              </a:lnSpc>
              <a:buNone/>
            </a:pPr>
            <a:r>
              <a:rPr lang="en-US" sz="800" dirty="0">
                <a:solidFill>
                  <a:srgbClr val="000000"/>
                </a:solidFill>
                <a:latin typeface="Inter" panose="02000503000000020004" pitchFamily="2" charset="0"/>
                <a:ea typeface="Inter" panose="02000503000000020004" pitchFamily="2" charset="0"/>
              </a:rPr>
              <a:t> </a:t>
            </a:r>
            <a:endParaRPr lang="en-US" sz="1300" dirty="0">
              <a:latin typeface="Inter" panose="02000503000000020004" pitchFamily="2" charset="0"/>
              <a:ea typeface="Inter" panose="02000503000000020004" pitchFamily="2" charset="0"/>
            </a:endParaRPr>
          </a:p>
          <a:p>
            <a:pPr marL="0" indent="0">
              <a:lnSpc>
                <a:spcPct val="130000"/>
              </a:lnSpc>
              <a:buNone/>
            </a:pPr>
            <a:r>
              <a:rPr lang="en-US" sz="1300" b="1" dirty="0">
                <a:solidFill>
                  <a:srgbClr val="A855F7"/>
                </a:solidFill>
                <a:latin typeface="Inter" panose="02000503000000020004" pitchFamily="2" charset="0"/>
                <a:ea typeface="Inter" panose="02000503000000020004" pitchFamily="2" charset="0"/>
              </a:rPr>
              <a:t>Two ways to think about it:</a:t>
            </a:r>
            <a:endParaRPr lang="en-US" sz="1300" dirty="0">
              <a:latin typeface="Inter" panose="02000503000000020004" pitchFamily="2" charset="0"/>
              <a:ea typeface="Inter" panose="02000503000000020004" pitchFamily="2" charset="0"/>
            </a:endParaRPr>
          </a:p>
          <a:p>
            <a:pPr marL="0" indent="0">
              <a:lnSpc>
                <a:spcPct val="130000"/>
              </a:lnSpc>
              <a:buNone/>
            </a:pPr>
            <a:r>
              <a:rPr lang="en-US" sz="500" dirty="0">
                <a:solidFill>
                  <a:srgbClr val="000000"/>
                </a:solidFill>
                <a:latin typeface="Inter" panose="02000503000000020004" pitchFamily="2" charset="0"/>
                <a:ea typeface="Inter" panose="02000503000000020004" pitchFamily="2" charset="0"/>
              </a:rPr>
              <a:t> </a:t>
            </a:r>
            <a:endParaRPr lang="en-US" sz="1300" dirty="0">
              <a:latin typeface="Inter" panose="02000503000000020004" pitchFamily="2" charset="0"/>
              <a:ea typeface="Inter" panose="02000503000000020004" pitchFamily="2" charset="0"/>
            </a:endParaRPr>
          </a:p>
          <a:p>
            <a:pPr marL="0" indent="0">
              <a:lnSpc>
                <a:spcPct val="130000"/>
              </a:lnSpc>
              <a:buNone/>
            </a:pPr>
            <a:r>
              <a:rPr lang="en-US" sz="1300" b="1" dirty="0">
                <a:solidFill>
                  <a:srgbClr val="06B6D4"/>
                </a:solidFill>
                <a:latin typeface="Inter" panose="02000503000000020004" pitchFamily="2" charset="0"/>
                <a:ea typeface="Inter" panose="02000503000000020004" pitchFamily="2" charset="0"/>
              </a:rPr>
              <a:t>① Search on a loss landscape</a:t>
            </a:r>
            <a:endParaRPr lang="en-US" sz="13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The loss forms a bowl-shaped surface; we want the lowest point.</a:t>
            </a:r>
            <a:endParaRPr lang="en-US" sz="1200" dirty="0">
              <a:latin typeface="Inter" panose="02000503000000020004" pitchFamily="2" charset="0"/>
              <a:ea typeface="Inter" panose="02000503000000020004" pitchFamily="2" charset="0"/>
            </a:endParaRPr>
          </a:p>
          <a:p>
            <a:pPr marL="0" indent="0">
              <a:lnSpc>
                <a:spcPct val="130000"/>
              </a:lnSpc>
              <a:buNone/>
            </a:pPr>
            <a:r>
              <a:rPr lang="en-US" sz="500" dirty="0">
                <a:solidFill>
                  <a:srgbClr val="000000"/>
                </a:solidFill>
                <a:latin typeface="Inter" panose="02000503000000020004" pitchFamily="2" charset="0"/>
                <a:ea typeface="Inter" panose="02000503000000020004" pitchFamily="2" charset="0"/>
              </a:rPr>
              <a:t> </a:t>
            </a:r>
            <a:endParaRPr lang="en-US" sz="1300" dirty="0">
              <a:latin typeface="Inter" panose="02000503000000020004" pitchFamily="2" charset="0"/>
              <a:ea typeface="Inter" panose="02000503000000020004" pitchFamily="2" charset="0"/>
            </a:endParaRPr>
          </a:p>
          <a:p>
            <a:pPr marL="0" indent="0">
              <a:lnSpc>
                <a:spcPct val="130000"/>
              </a:lnSpc>
              <a:buNone/>
            </a:pPr>
            <a:r>
              <a:rPr lang="en-US" sz="1300" b="1" dirty="0">
                <a:solidFill>
                  <a:srgbClr val="10B981"/>
                </a:solidFill>
                <a:latin typeface="Inter" panose="02000503000000020004" pitchFamily="2" charset="0"/>
                <a:ea typeface="Inter" panose="02000503000000020004" pitchFamily="2" charset="0"/>
              </a:rPr>
              <a:t>② Adjust the line to reduce error</a:t>
            </a:r>
            <a:endParaRPr lang="en-US" sz="1300" dirty="0">
              <a:latin typeface="Inter" panose="02000503000000020004" pitchFamily="2" charset="0"/>
              <a:ea typeface="Inter" panose="02000503000000020004" pitchFamily="2" charset="0"/>
            </a:endParaRPr>
          </a:p>
          <a:p>
            <a:pPr marL="0" indent="0">
              <a:lnSpc>
                <a:spcPct val="130000"/>
              </a:lnSpc>
              <a:buNone/>
            </a:pPr>
            <a:r>
              <a:rPr lang="en-US" sz="1300" dirty="0">
                <a:solidFill>
                  <a:srgbClr val="E2E8F0"/>
                </a:solidFill>
                <a:latin typeface="Inter" panose="02000503000000020004" pitchFamily="2" charset="0"/>
                <a:ea typeface="Inter" panose="02000503000000020004" pitchFamily="2" charset="0"/>
              </a:rPr>
              <a:t>   </a:t>
            </a:r>
            <a:r>
              <a:rPr lang="en-US" sz="1200" dirty="0">
                <a:solidFill>
                  <a:srgbClr val="E2E8F0"/>
                </a:solidFill>
                <a:latin typeface="Inter" panose="02000503000000020004" pitchFamily="2" charset="0"/>
                <a:ea typeface="Inter" panose="02000503000000020004" pitchFamily="2" charset="0"/>
              </a:rPr>
              <a:t>Tweak w and b step by step</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until predictions improve.</a:t>
            </a:r>
            <a:endParaRPr lang="en-US" sz="1200" dirty="0">
              <a:latin typeface="Inter" panose="02000503000000020004" pitchFamily="2" charset="0"/>
              <a:ea typeface="Inter" panose="02000503000000020004" pitchFamily="2" charset="0"/>
            </a:endParaRPr>
          </a:p>
        </p:txBody>
      </p:sp>
      <p:sp>
        <p:nvSpPr>
          <p:cNvPr id="10" name="Text 7"/>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latin typeface="Inter" panose="02000503000000020004" pitchFamily="2" charset="0"/>
                <a:ea typeface="Inter" panose="02000503000000020004" pitchFamily="2" charset="0"/>
              </a:rPr>
              <a:t>LinearMind</a:t>
            </a:r>
            <a:endParaRPr lang="en-US" sz="900" dirty="0">
              <a:latin typeface="Inter" panose="02000503000000020004" pitchFamily="2" charset="0"/>
              <a:ea typeface="Inter" panose="02000503000000020004" pitchFamily="2" charset="0"/>
            </a:endParaRPr>
          </a:p>
        </p:txBody>
      </p:sp>
      <p:sp>
        <p:nvSpPr>
          <p:cNvPr id="11" name="Text 8"/>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latin typeface="Inter" panose="02000503000000020004" pitchFamily="2" charset="0"/>
                <a:ea typeface="Inter" panose="02000503000000020004" pitchFamily="2" charset="0"/>
              </a:rPr>
              <a:t>8</a:t>
            </a:r>
            <a:endParaRPr lang="en-US" sz="900" dirty="0">
              <a:latin typeface="Inter" panose="02000503000000020004" pitchFamily="2" charset="0"/>
              <a:ea typeface="Inter" panose="02000503000000020004" pitchFamily="2" charset="0"/>
            </a:endParaRPr>
          </a:p>
        </p:txBody>
      </p:sp>
      <p:sp>
        <p:nvSpPr>
          <p:cNvPr id="12" name="Shape 9"/>
          <p:cNvSpPr/>
          <p:nvPr/>
        </p:nvSpPr>
        <p:spPr>
          <a:xfrm>
            <a:off x="274320" y="4873752"/>
            <a:ext cx="8595360" cy="0"/>
          </a:xfrm>
          <a:prstGeom prst="line">
            <a:avLst/>
          </a:prstGeom>
          <a:noFill/>
          <a:ln w="635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pic>
        <p:nvPicPr>
          <p:cNvPr id="14" name="Picture 13">
            <a:extLst>
              <a:ext uri="{FF2B5EF4-FFF2-40B4-BE49-F238E27FC236}">
                <a16:creationId xmlns:a16="http://schemas.microsoft.com/office/drawing/2014/main" id="{9DD4ECD7-47D5-D59C-668F-0E28505954E2}"/>
              </a:ext>
            </a:extLst>
          </p:cNvPr>
          <p:cNvPicPr>
            <a:picLocks noChangeAspect="1"/>
          </p:cNvPicPr>
          <p:nvPr/>
        </p:nvPicPr>
        <p:blipFill>
          <a:blip r:embed="rId4"/>
          <a:stretch>
            <a:fillRect/>
          </a:stretch>
        </p:blipFill>
        <p:spPr>
          <a:xfrm>
            <a:off x="3600366" y="891540"/>
            <a:ext cx="5431092" cy="2148154"/>
          </a:xfrm>
          <a:prstGeom prst="rect">
            <a:avLst/>
          </a:prstGeom>
        </p:spPr>
      </p:pic>
      <p:pic>
        <p:nvPicPr>
          <p:cNvPr id="16" name="Picture 15">
            <a:extLst>
              <a:ext uri="{FF2B5EF4-FFF2-40B4-BE49-F238E27FC236}">
                <a16:creationId xmlns:a16="http://schemas.microsoft.com/office/drawing/2014/main" id="{6CD9B2D7-0428-F815-0C81-B28199C9EF59}"/>
              </a:ext>
            </a:extLst>
          </p:cNvPr>
          <p:cNvPicPr>
            <a:picLocks noChangeAspect="1"/>
          </p:cNvPicPr>
          <p:nvPr/>
        </p:nvPicPr>
        <p:blipFill>
          <a:blip r:embed="rId5"/>
          <a:stretch>
            <a:fillRect/>
          </a:stretch>
        </p:blipFill>
        <p:spPr>
          <a:xfrm>
            <a:off x="3783246" y="3174278"/>
            <a:ext cx="5086434" cy="125827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201168"/>
            <a:ext cx="8412480" cy="502920"/>
          </a:xfrm>
          <a:prstGeom prst="rect">
            <a:avLst/>
          </a:prstGeom>
          <a:noFill/>
          <a:ln/>
        </p:spPr>
        <p:txBody>
          <a:bodyPr wrap="square" lIns="0" tIns="0" rIns="0" bIns="0" rtlCol="0" anchor="ctr"/>
          <a:lstStyle/>
          <a:p>
            <a:pPr marL="0" indent="0">
              <a:buNone/>
            </a:pPr>
            <a:r>
              <a:rPr lang="en-US" sz="2600" b="1" dirty="0">
                <a:solidFill>
                  <a:srgbClr val="818CF8"/>
                </a:solidFill>
                <a:latin typeface="Inter" panose="02000503000000020004" pitchFamily="2" charset="0"/>
                <a:ea typeface="Inter" panose="02000503000000020004" pitchFamily="2" charset="0"/>
                <a:cs typeface="Calibri" pitchFamily="34" charset="-120"/>
              </a:rPr>
              <a:t>Gradient Descent — The Update Rule</a:t>
            </a:r>
            <a:endParaRPr lang="en-US" sz="2600" dirty="0">
              <a:latin typeface="Inter" panose="02000503000000020004" pitchFamily="2" charset="0"/>
              <a:ea typeface="Inter" panose="02000503000000020004" pitchFamily="2" charset="0"/>
            </a:endParaRPr>
          </a:p>
        </p:txBody>
      </p:sp>
      <p:sp>
        <p:nvSpPr>
          <p:cNvPr id="4" name="Shape 1"/>
          <p:cNvSpPr/>
          <p:nvPr/>
        </p:nvSpPr>
        <p:spPr>
          <a:xfrm>
            <a:off x="365760" y="822960"/>
            <a:ext cx="3474720" cy="3657600"/>
          </a:xfrm>
          <a:prstGeom prst="rect">
            <a:avLst/>
          </a:prstGeom>
          <a:solidFill>
            <a:srgbClr val="111120"/>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p>
        </p:txBody>
      </p:sp>
      <p:sp>
        <p:nvSpPr>
          <p:cNvPr id="5" name="Shape 2"/>
          <p:cNvSpPr/>
          <p:nvPr/>
        </p:nvSpPr>
        <p:spPr>
          <a:xfrm>
            <a:off x="502920" y="960120"/>
            <a:ext cx="3182815" cy="1005840"/>
          </a:xfrm>
          <a:prstGeom prst="rect">
            <a:avLst/>
          </a:prstGeom>
          <a:solidFill>
            <a:srgbClr val="0F0F1E"/>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p>
        </p:txBody>
      </p:sp>
      <p:sp>
        <p:nvSpPr>
          <p:cNvPr id="6" name="Text 3"/>
          <p:cNvSpPr/>
          <p:nvPr/>
        </p:nvSpPr>
        <p:spPr>
          <a:xfrm>
            <a:off x="502920" y="960120"/>
            <a:ext cx="2922563" cy="100584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w  ←  w  −  α · (∂L/∂w)</a:t>
            </a:r>
            <a:endParaRPr lang="en-US" sz="1500" dirty="0"/>
          </a:p>
          <a:p>
            <a:pPr marL="0" indent="0" algn="ctr">
              <a:buNone/>
            </a:pPr>
            <a:r>
              <a:rPr lang="en-US" sz="1500" b="1" dirty="0">
                <a:solidFill>
                  <a:srgbClr val="FFFFFF"/>
                </a:solidFill>
                <a:latin typeface="Courier New" pitchFamily="34" charset="0"/>
                <a:ea typeface="Courier New" pitchFamily="34" charset="-122"/>
                <a:cs typeface="Courier New" pitchFamily="34" charset="-120"/>
              </a:rPr>
              <a:t>b  ←  b  −  α · (∂L/∂b)</a:t>
            </a:r>
            <a:endParaRPr lang="en-US" sz="1500" dirty="0"/>
          </a:p>
        </p:txBody>
      </p:sp>
      <p:sp>
        <p:nvSpPr>
          <p:cNvPr id="7" name="Text 4"/>
          <p:cNvSpPr/>
          <p:nvPr/>
        </p:nvSpPr>
        <p:spPr>
          <a:xfrm>
            <a:off x="548640" y="2084832"/>
            <a:ext cx="4206240" cy="2286000"/>
          </a:xfrm>
          <a:prstGeom prst="rect">
            <a:avLst/>
          </a:prstGeom>
          <a:noFill/>
          <a:ln/>
        </p:spPr>
        <p:txBody>
          <a:bodyPr wrap="square" lIns="0" tIns="0" rIns="0" bIns="0" rtlCol="0" anchor="ctr"/>
          <a:lstStyle/>
          <a:p>
            <a:pPr marL="0" indent="0">
              <a:lnSpc>
                <a:spcPct val="130000"/>
              </a:lnSpc>
              <a:buNone/>
            </a:pPr>
            <a:r>
              <a:rPr lang="en-US" sz="1300" b="1" dirty="0">
                <a:solidFill>
                  <a:srgbClr val="06B6D4"/>
                </a:solidFill>
                <a:latin typeface="Inter" panose="02000503000000020004" pitchFamily="2" charset="0"/>
                <a:ea typeface="Inter" panose="02000503000000020004" pitchFamily="2" charset="0"/>
              </a:rPr>
              <a:t>α</a:t>
            </a:r>
            <a:r>
              <a:rPr lang="en-US" sz="1300" dirty="0">
                <a:solidFill>
                  <a:srgbClr val="E2E8F0"/>
                </a:solidFill>
                <a:latin typeface="Inter" panose="02000503000000020004" pitchFamily="2" charset="0"/>
                <a:ea typeface="Inter" panose="02000503000000020004" pitchFamily="2" charset="0"/>
              </a:rPr>
              <a:t> = learning rate (controls step size)</a:t>
            </a:r>
            <a:endParaRPr lang="en-US" sz="1300" dirty="0">
              <a:latin typeface="Inter" panose="02000503000000020004" pitchFamily="2" charset="0"/>
              <a:ea typeface="Inter" panose="02000503000000020004" pitchFamily="2" charset="0"/>
            </a:endParaRPr>
          </a:p>
          <a:p>
            <a:pPr marL="0" indent="0">
              <a:lnSpc>
                <a:spcPct val="130000"/>
              </a:lnSpc>
              <a:buNone/>
            </a:pPr>
            <a:r>
              <a:rPr lang="en-US" sz="600" dirty="0">
                <a:solidFill>
                  <a:srgbClr val="000000"/>
                </a:solidFill>
                <a:latin typeface="Inter" panose="02000503000000020004" pitchFamily="2" charset="0"/>
                <a:ea typeface="Inter" panose="02000503000000020004" pitchFamily="2" charset="0"/>
              </a:rPr>
              <a:t> </a:t>
            </a:r>
            <a:endParaRPr lang="en-US" sz="1300" dirty="0">
              <a:latin typeface="Inter" panose="02000503000000020004" pitchFamily="2" charset="0"/>
              <a:ea typeface="Inter" panose="02000503000000020004" pitchFamily="2" charset="0"/>
            </a:endParaRPr>
          </a:p>
          <a:p>
            <a:pPr marL="0" indent="0">
              <a:lnSpc>
                <a:spcPct val="130000"/>
              </a:lnSpc>
              <a:buNone/>
            </a:pPr>
            <a:r>
              <a:rPr lang="en-US" sz="1300" b="1" dirty="0">
                <a:solidFill>
                  <a:srgbClr val="A855F7"/>
                </a:solidFill>
                <a:latin typeface="Inter" panose="02000503000000020004" pitchFamily="2" charset="0"/>
                <a:ea typeface="Inter" panose="02000503000000020004" pitchFamily="2" charset="0"/>
                <a:cs typeface="Courier New" pitchFamily="34" charset="-120"/>
              </a:rPr>
              <a:t>∂L/∂w</a:t>
            </a:r>
            <a:r>
              <a:rPr lang="en-US" sz="1300" dirty="0">
                <a:solidFill>
                  <a:srgbClr val="E2E8F0"/>
                </a:solidFill>
                <a:latin typeface="Inter" panose="02000503000000020004" pitchFamily="2" charset="0"/>
                <a:ea typeface="Inter" panose="02000503000000020004" pitchFamily="2" charset="0"/>
              </a:rPr>
              <a:t> = gradient — slope of loss w.r.t. w</a:t>
            </a:r>
            <a:endParaRPr lang="en-US" sz="1300" dirty="0">
              <a:latin typeface="Inter" panose="02000503000000020004" pitchFamily="2" charset="0"/>
              <a:ea typeface="Inter" panose="02000503000000020004" pitchFamily="2" charset="0"/>
            </a:endParaRPr>
          </a:p>
          <a:p>
            <a:pPr marL="0" indent="0">
              <a:lnSpc>
                <a:spcPct val="130000"/>
              </a:lnSpc>
              <a:buNone/>
            </a:pPr>
            <a:r>
              <a:rPr lang="en-US" sz="600" dirty="0">
                <a:solidFill>
                  <a:srgbClr val="000000"/>
                </a:solidFill>
                <a:latin typeface="Inter" panose="02000503000000020004" pitchFamily="2" charset="0"/>
                <a:ea typeface="Inter" panose="02000503000000020004" pitchFamily="2" charset="0"/>
              </a:rPr>
              <a:t> </a:t>
            </a:r>
            <a:endParaRPr lang="en-US" sz="1300" dirty="0">
              <a:latin typeface="Inter" panose="02000503000000020004" pitchFamily="2" charset="0"/>
              <a:ea typeface="Inter" panose="02000503000000020004" pitchFamily="2" charset="0"/>
            </a:endParaRPr>
          </a:p>
          <a:p>
            <a:pPr marL="0" indent="0">
              <a:lnSpc>
                <a:spcPct val="130000"/>
              </a:lnSpc>
              <a:buNone/>
            </a:pPr>
            <a:r>
              <a:rPr lang="en-US" sz="1300" dirty="0">
                <a:solidFill>
                  <a:srgbClr val="E2E8F0"/>
                </a:solidFill>
                <a:latin typeface="Inter" panose="02000503000000020004" pitchFamily="2" charset="0"/>
                <a:ea typeface="Inter" panose="02000503000000020004" pitchFamily="2" charset="0"/>
              </a:rPr>
              <a:t>The update moves parameters in the
</a:t>
            </a:r>
            <a:r>
              <a:rPr lang="en-US" sz="1300" b="1" dirty="0">
                <a:solidFill>
                  <a:srgbClr val="818CF8"/>
                </a:solidFill>
                <a:latin typeface="Inter" panose="02000503000000020004" pitchFamily="2" charset="0"/>
                <a:ea typeface="Inter" panose="02000503000000020004" pitchFamily="2" charset="0"/>
              </a:rPr>
              <a:t>opposite direction of the gradient</a:t>
            </a:r>
            <a:endParaRPr lang="en-US" sz="1300" dirty="0">
              <a:latin typeface="Inter" panose="02000503000000020004" pitchFamily="2" charset="0"/>
              <a:ea typeface="Inter" panose="02000503000000020004" pitchFamily="2" charset="0"/>
            </a:endParaRPr>
          </a:p>
          <a:p>
            <a:pPr marL="0" indent="0">
              <a:lnSpc>
                <a:spcPct val="130000"/>
              </a:lnSpc>
              <a:buNone/>
            </a:pPr>
            <a:r>
              <a:rPr lang="en-US" sz="1300" dirty="0">
                <a:solidFill>
                  <a:srgbClr val="E2E8F0"/>
                </a:solidFill>
                <a:latin typeface="Inter" panose="02000503000000020004" pitchFamily="2" charset="0"/>
                <a:ea typeface="Inter" panose="02000503000000020004" pitchFamily="2" charset="0"/>
              </a:rPr>
              <a:t>(downhill on the loss surface).</a:t>
            </a:r>
            <a:endParaRPr lang="en-US" sz="1300" dirty="0">
              <a:latin typeface="Inter" panose="02000503000000020004" pitchFamily="2" charset="0"/>
              <a:ea typeface="Inter" panose="02000503000000020004" pitchFamily="2" charset="0"/>
            </a:endParaRPr>
          </a:p>
        </p:txBody>
      </p:sp>
      <p:sp>
        <p:nvSpPr>
          <p:cNvPr id="12" name="Text 9"/>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rPr>
              <a:t>LinearMind</a:t>
            </a:r>
            <a:endParaRPr lang="en-US" sz="900" dirty="0"/>
          </a:p>
        </p:txBody>
      </p:sp>
      <p:sp>
        <p:nvSpPr>
          <p:cNvPr id="13" name="Text 10"/>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rPr>
              <a:t>9</a:t>
            </a:r>
            <a:endParaRPr lang="en-US" sz="900" dirty="0"/>
          </a:p>
        </p:txBody>
      </p:sp>
      <p:sp>
        <p:nvSpPr>
          <p:cNvPr id="14" name="Shape 11"/>
          <p:cNvSpPr/>
          <p:nvPr/>
        </p:nvSpPr>
        <p:spPr>
          <a:xfrm>
            <a:off x="274320" y="4873752"/>
            <a:ext cx="8595360" cy="0"/>
          </a:xfrm>
          <a:prstGeom prst="line">
            <a:avLst/>
          </a:prstGeom>
          <a:noFill/>
          <a:ln w="6350">
            <a:solidFill>
              <a:srgbClr val="222226"/>
            </a:solidFill>
            <a:prstDash val="solid"/>
          </a:ln>
        </p:spPr>
        <p:txBody>
          <a:bodyPr/>
          <a:lstStyle/>
          <a:p>
            <a:endParaRPr lang="en-US"/>
          </a:p>
        </p:txBody>
      </p:sp>
      <p:pic>
        <p:nvPicPr>
          <p:cNvPr id="16" name="Picture 15">
            <a:extLst>
              <a:ext uri="{FF2B5EF4-FFF2-40B4-BE49-F238E27FC236}">
                <a16:creationId xmlns:a16="http://schemas.microsoft.com/office/drawing/2014/main" id="{FC16B86E-5FF4-D7FD-083B-EFBEA2790E89}"/>
              </a:ext>
            </a:extLst>
          </p:cNvPr>
          <p:cNvPicPr>
            <a:picLocks noChangeAspect="1"/>
          </p:cNvPicPr>
          <p:nvPr/>
        </p:nvPicPr>
        <p:blipFill>
          <a:blip r:embed="rId4"/>
          <a:stretch>
            <a:fillRect/>
          </a:stretch>
        </p:blipFill>
        <p:spPr>
          <a:xfrm>
            <a:off x="3977640" y="1602485"/>
            <a:ext cx="5130803" cy="205740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201168"/>
            <a:ext cx="8412480" cy="502920"/>
          </a:xfrm>
          <a:prstGeom prst="rect">
            <a:avLst/>
          </a:prstGeom>
          <a:noFill/>
          <a:ln/>
        </p:spPr>
        <p:txBody>
          <a:bodyPr wrap="square" lIns="0" tIns="0" rIns="0" bIns="0" rtlCol="0" anchor="ctr"/>
          <a:lstStyle/>
          <a:p>
            <a:pPr marL="0" indent="0">
              <a:buNone/>
            </a:pPr>
            <a:r>
              <a:rPr lang="en-US" sz="2600" b="1" dirty="0">
                <a:solidFill>
                  <a:srgbClr val="818CF8"/>
                </a:solidFill>
                <a:latin typeface="Calibri" pitchFamily="34" charset="0"/>
                <a:ea typeface="Calibri" pitchFamily="34" charset="-122"/>
                <a:cs typeface="Calibri" pitchFamily="34" charset="-120"/>
              </a:rPr>
              <a:t>Learning Rate — Why Step Size Matters</a:t>
            </a:r>
            <a:endParaRPr lang="en-US" sz="2600" dirty="0"/>
          </a:p>
        </p:txBody>
      </p:sp>
      <p:sp>
        <p:nvSpPr>
          <p:cNvPr id="4" name="Shape 1"/>
          <p:cNvSpPr/>
          <p:nvPr/>
        </p:nvSpPr>
        <p:spPr>
          <a:xfrm>
            <a:off x="365760" y="822960"/>
            <a:ext cx="2651760" cy="3657600"/>
          </a:xfrm>
          <a:prstGeom prst="rect">
            <a:avLst/>
          </a:prstGeom>
          <a:solidFill>
            <a:srgbClr val="0F0F1E"/>
          </a:solidFill>
          <a:ln w="12700">
            <a:solidFill>
              <a:srgbClr val="F59E0B"/>
            </a:solidFill>
            <a:prstDash val="solid"/>
          </a:ln>
          <a:effectLst>
            <a:outerShdw blurRad="152400" dist="38100" dir="8100000" algn="bl" rotWithShape="0">
              <a:srgbClr val="000000">
                <a:alpha val="35000"/>
              </a:srgbClr>
            </a:outerShdw>
          </a:effectLst>
        </p:spPr>
        <p:txBody>
          <a:bodyPr/>
          <a:lstStyle/>
          <a:p>
            <a:endParaRPr lang="en-US"/>
          </a:p>
        </p:txBody>
      </p:sp>
      <p:sp>
        <p:nvSpPr>
          <p:cNvPr id="5" name="Shape 2"/>
          <p:cNvSpPr/>
          <p:nvPr/>
        </p:nvSpPr>
        <p:spPr>
          <a:xfrm>
            <a:off x="365760" y="822960"/>
            <a:ext cx="2651760" cy="109728"/>
          </a:xfrm>
          <a:prstGeom prst="rect">
            <a:avLst/>
          </a:prstGeom>
          <a:solidFill>
            <a:srgbClr val="F59E0B"/>
          </a:solidFill>
          <a:ln/>
        </p:spPr>
        <p:txBody>
          <a:bodyPr/>
          <a:lstStyle/>
          <a:p>
            <a:endParaRPr lang="en-US"/>
          </a:p>
        </p:txBody>
      </p:sp>
      <p:sp>
        <p:nvSpPr>
          <p:cNvPr id="6" name="Text 3"/>
          <p:cNvSpPr/>
          <p:nvPr/>
        </p:nvSpPr>
        <p:spPr>
          <a:xfrm>
            <a:off x="457200" y="1005840"/>
            <a:ext cx="457200" cy="45720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7" name="Text 4"/>
          <p:cNvSpPr/>
          <p:nvPr/>
        </p:nvSpPr>
        <p:spPr>
          <a:xfrm>
            <a:off x="475488" y="1481328"/>
            <a:ext cx="2432304" cy="347472"/>
          </a:xfrm>
          <a:prstGeom prst="rect">
            <a:avLst/>
          </a:prstGeom>
          <a:noFill/>
          <a:ln/>
        </p:spPr>
        <p:txBody>
          <a:bodyPr wrap="square" lIns="0" tIns="0" rIns="0" bIns="0" rtlCol="0" anchor="ctr"/>
          <a:lstStyle/>
          <a:p>
            <a:pPr marL="0" indent="0">
              <a:buNone/>
            </a:pPr>
            <a:r>
              <a:rPr lang="en-US" sz="1500" b="1" dirty="0">
                <a:solidFill>
                  <a:srgbClr val="F59E0B"/>
                </a:solidFill>
              </a:rPr>
              <a:t>α too small</a:t>
            </a:r>
            <a:endParaRPr lang="en-US" sz="1500" dirty="0"/>
          </a:p>
        </p:txBody>
      </p:sp>
      <p:sp>
        <p:nvSpPr>
          <p:cNvPr id="8" name="Text 5"/>
          <p:cNvSpPr/>
          <p:nvPr/>
        </p:nvSpPr>
        <p:spPr>
          <a:xfrm>
            <a:off x="475488" y="1847088"/>
            <a:ext cx="2432304" cy="320040"/>
          </a:xfrm>
          <a:prstGeom prst="rect">
            <a:avLst/>
          </a:prstGeom>
          <a:noFill/>
          <a:ln/>
        </p:spPr>
        <p:txBody>
          <a:bodyPr wrap="square" lIns="0" tIns="0" rIns="0" bIns="0" rtlCol="0" anchor="ctr"/>
          <a:lstStyle/>
          <a:p>
            <a:pPr marL="0" indent="0">
              <a:buNone/>
            </a:pPr>
            <a:r>
              <a:rPr lang="en-US" sz="1100" i="1" dirty="0">
                <a:solidFill>
                  <a:srgbClr val="94A3B8"/>
                </a:solidFill>
              </a:rPr>
              <a:t>Slow convergence</a:t>
            </a:r>
            <a:endParaRPr lang="en-US" sz="1100" dirty="0"/>
          </a:p>
        </p:txBody>
      </p:sp>
      <p:sp>
        <p:nvSpPr>
          <p:cNvPr id="9" name="Text 6"/>
          <p:cNvSpPr/>
          <p:nvPr/>
        </p:nvSpPr>
        <p:spPr>
          <a:xfrm>
            <a:off x="475488" y="2212848"/>
            <a:ext cx="2432304" cy="981573"/>
          </a:xfrm>
          <a:prstGeom prst="rect">
            <a:avLst/>
          </a:prstGeom>
          <a:noFill/>
          <a:ln/>
        </p:spPr>
        <p:txBody>
          <a:bodyPr wrap="square" lIns="0" tIns="0" rIns="0" bIns="0" rtlCol="0" anchor="ctr"/>
          <a:lstStyle/>
          <a:p>
            <a:pPr marL="0" indent="0">
              <a:lnSpc>
                <a:spcPct val="130000"/>
              </a:lnSpc>
              <a:buNone/>
            </a:pPr>
            <a:r>
              <a:rPr lang="en-US" sz="1200" dirty="0">
                <a:solidFill>
                  <a:srgbClr val="E2E8F0"/>
                </a:solidFill>
              </a:rPr>
              <a:t>The model learns but takes many more steps than necessary. Training is inefficient.</a:t>
            </a:r>
            <a:endParaRPr lang="en-US" sz="1200" dirty="0"/>
          </a:p>
        </p:txBody>
      </p:sp>
      <p:sp>
        <p:nvSpPr>
          <p:cNvPr id="12" name="Shape 9"/>
          <p:cNvSpPr/>
          <p:nvPr/>
        </p:nvSpPr>
        <p:spPr>
          <a:xfrm>
            <a:off x="3200400" y="822960"/>
            <a:ext cx="2651760" cy="3657600"/>
          </a:xfrm>
          <a:prstGeom prst="rect">
            <a:avLst/>
          </a:prstGeom>
          <a:solidFill>
            <a:srgbClr val="0F0F1E"/>
          </a:solidFill>
          <a:ln w="12700">
            <a:solidFill>
              <a:srgbClr val="EF4444"/>
            </a:solidFill>
            <a:prstDash val="solid"/>
          </a:ln>
          <a:effectLst>
            <a:outerShdw blurRad="152400" dist="38100" dir="8100000" algn="bl" rotWithShape="0">
              <a:srgbClr val="000000">
                <a:alpha val="35000"/>
              </a:srgbClr>
            </a:outerShdw>
          </a:effectLst>
        </p:spPr>
        <p:txBody>
          <a:bodyPr/>
          <a:lstStyle/>
          <a:p>
            <a:endParaRPr lang="en-US"/>
          </a:p>
        </p:txBody>
      </p:sp>
      <p:sp>
        <p:nvSpPr>
          <p:cNvPr id="13" name="Shape 10"/>
          <p:cNvSpPr/>
          <p:nvPr/>
        </p:nvSpPr>
        <p:spPr>
          <a:xfrm>
            <a:off x="3200400" y="822960"/>
            <a:ext cx="2651760" cy="109728"/>
          </a:xfrm>
          <a:prstGeom prst="rect">
            <a:avLst/>
          </a:prstGeom>
          <a:solidFill>
            <a:srgbClr val="EF4444"/>
          </a:solidFill>
          <a:ln/>
        </p:spPr>
        <p:txBody>
          <a:bodyPr/>
          <a:lstStyle/>
          <a:p>
            <a:endParaRPr lang="en-US"/>
          </a:p>
        </p:txBody>
      </p:sp>
      <p:sp>
        <p:nvSpPr>
          <p:cNvPr id="14" name="Text 11"/>
          <p:cNvSpPr/>
          <p:nvPr/>
        </p:nvSpPr>
        <p:spPr>
          <a:xfrm>
            <a:off x="3291840" y="1005840"/>
            <a:ext cx="457200" cy="45720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15" name="Text 12"/>
          <p:cNvSpPr/>
          <p:nvPr/>
        </p:nvSpPr>
        <p:spPr>
          <a:xfrm>
            <a:off x="3310128" y="1481328"/>
            <a:ext cx="2432304" cy="347472"/>
          </a:xfrm>
          <a:prstGeom prst="rect">
            <a:avLst/>
          </a:prstGeom>
          <a:noFill/>
          <a:ln/>
        </p:spPr>
        <p:txBody>
          <a:bodyPr wrap="square" lIns="0" tIns="0" rIns="0" bIns="0" rtlCol="0" anchor="ctr"/>
          <a:lstStyle/>
          <a:p>
            <a:pPr marL="0" indent="0">
              <a:buNone/>
            </a:pPr>
            <a:r>
              <a:rPr lang="en-US" sz="1500" b="1" dirty="0">
                <a:solidFill>
                  <a:srgbClr val="EF4444"/>
                </a:solidFill>
              </a:rPr>
              <a:t>α too large</a:t>
            </a:r>
            <a:endParaRPr lang="en-US" sz="1500" dirty="0"/>
          </a:p>
        </p:txBody>
      </p:sp>
      <p:sp>
        <p:nvSpPr>
          <p:cNvPr id="16" name="Text 13"/>
          <p:cNvSpPr/>
          <p:nvPr/>
        </p:nvSpPr>
        <p:spPr>
          <a:xfrm>
            <a:off x="3310128" y="1847088"/>
            <a:ext cx="2432304" cy="320040"/>
          </a:xfrm>
          <a:prstGeom prst="rect">
            <a:avLst/>
          </a:prstGeom>
          <a:noFill/>
          <a:ln/>
        </p:spPr>
        <p:txBody>
          <a:bodyPr wrap="square" lIns="0" tIns="0" rIns="0" bIns="0" rtlCol="0" anchor="ctr"/>
          <a:lstStyle/>
          <a:p>
            <a:pPr marL="0" indent="0">
              <a:buNone/>
            </a:pPr>
            <a:r>
              <a:rPr lang="en-US" sz="1100" i="1" dirty="0">
                <a:solidFill>
                  <a:srgbClr val="94A3B8"/>
                </a:solidFill>
              </a:rPr>
              <a:t>Overshoots / unstable</a:t>
            </a:r>
            <a:endParaRPr lang="en-US" sz="1100" dirty="0"/>
          </a:p>
        </p:txBody>
      </p:sp>
      <p:sp>
        <p:nvSpPr>
          <p:cNvPr id="17" name="Text 14"/>
          <p:cNvSpPr/>
          <p:nvPr/>
        </p:nvSpPr>
        <p:spPr>
          <a:xfrm>
            <a:off x="3310128" y="2212848"/>
            <a:ext cx="2432304" cy="859536"/>
          </a:xfrm>
          <a:prstGeom prst="rect">
            <a:avLst/>
          </a:prstGeom>
          <a:noFill/>
          <a:ln/>
        </p:spPr>
        <p:txBody>
          <a:bodyPr wrap="square" lIns="0" tIns="0" rIns="0" bIns="0" rtlCol="0" anchor="ctr"/>
          <a:lstStyle/>
          <a:p>
            <a:pPr marL="0" indent="0">
              <a:lnSpc>
                <a:spcPct val="130000"/>
              </a:lnSpc>
              <a:buNone/>
            </a:pPr>
            <a:r>
              <a:rPr lang="en-US" sz="1200" dirty="0">
                <a:solidFill>
                  <a:srgbClr val="E2E8F0"/>
                </a:solidFill>
              </a:rPr>
              <a:t>Steps are so big the algorithm bounces past the minimum. Loss may never converge.</a:t>
            </a:r>
            <a:endParaRPr lang="en-US" sz="1200" dirty="0"/>
          </a:p>
        </p:txBody>
      </p:sp>
      <p:sp>
        <p:nvSpPr>
          <p:cNvPr id="20" name="Shape 17"/>
          <p:cNvSpPr/>
          <p:nvPr/>
        </p:nvSpPr>
        <p:spPr>
          <a:xfrm>
            <a:off x="6035040" y="822960"/>
            <a:ext cx="2651760" cy="3657600"/>
          </a:xfrm>
          <a:prstGeom prst="rect">
            <a:avLst/>
          </a:prstGeom>
          <a:solidFill>
            <a:srgbClr val="0F0F1E"/>
          </a:solidFill>
          <a:ln w="12700">
            <a:solidFill>
              <a:srgbClr val="10B981"/>
            </a:solidFill>
            <a:prstDash val="solid"/>
          </a:ln>
          <a:effectLst>
            <a:outerShdw blurRad="152400" dist="38100" dir="8100000" algn="bl" rotWithShape="0">
              <a:srgbClr val="000000">
                <a:alpha val="35000"/>
              </a:srgbClr>
            </a:outerShdw>
          </a:effectLst>
        </p:spPr>
        <p:txBody>
          <a:bodyPr/>
          <a:lstStyle/>
          <a:p>
            <a:endParaRPr lang="en-US"/>
          </a:p>
        </p:txBody>
      </p:sp>
      <p:sp>
        <p:nvSpPr>
          <p:cNvPr id="21" name="Shape 18"/>
          <p:cNvSpPr/>
          <p:nvPr/>
        </p:nvSpPr>
        <p:spPr>
          <a:xfrm>
            <a:off x="6035040" y="822960"/>
            <a:ext cx="2651760" cy="109728"/>
          </a:xfrm>
          <a:prstGeom prst="rect">
            <a:avLst/>
          </a:prstGeom>
          <a:solidFill>
            <a:srgbClr val="10B981"/>
          </a:solidFill>
          <a:ln/>
        </p:spPr>
        <p:txBody>
          <a:bodyPr/>
          <a:lstStyle/>
          <a:p>
            <a:endParaRPr lang="en-US"/>
          </a:p>
        </p:txBody>
      </p:sp>
      <p:sp>
        <p:nvSpPr>
          <p:cNvPr id="22" name="Text 19"/>
          <p:cNvSpPr/>
          <p:nvPr/>
        </p:nvSpPr>
        <p:spPr>
          <a:xfrm>
            <a:off x="6126480" y="1005840"/>
            <a:ext cx="457200" cy="45720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23" name="Text 20"/>
          <p:cNvSpPr/>
          <p:nvPr/>
        </p:nvSpPr>
        <p:spPr>
          <a:xfrm>
            <a:off x="6144768" y="1481328"/>
            <a:ext cx="2432304" cy="347472"/>
          </a:xfrm>
          <a:prstGeom prst="rect">
            <a:avLst/>
          </a:prstGeom>
          <a:noFill/>
          <a:ln/>
        </p:spPr>
        <p:txBody>
          <a:bodyPr wrap="square" lIns="0" tIns="0" rIns="0" bIns="0" rtlCol="0" anchor="ctr"/>
          <a:lstStyle/>
          <a:p>
            <a:pPr marL="0" indent="0">
              <a:buNone/>
            </a:pPr>
            <a:r>
              <a:rPr lang="en-US" sz="1500" b="1" dirty="0">
                <a:solidFill>
                  <a:srgbClr val="10B981"/>
                </a:solidFill>
              </a:rPr>
              <a:t>α just right</a:t>
            </a:r>
            <a:endParaRPr lang="en-US" sz="1500" dirty="0"/>
          </a:p>
        </p:txBody>
      </p:sp>
      <p:sp>
        <p:nvSpPr>
          <p:cNvPr id="24" name="Text 21"/>
          <p:cNvSpPr/>
          <p:nvPr/>
        </p:nvSpPr>
        <p:spPr>
          <a:xfrm>
            <a:off x="6144768" y="1847088"/>
            <a:ext cx="2432304" cy="320040"/>
          </a:xfrm>
          <a:prstGeom prst="rect">
            <a:avLst/>
          </a:prstGeom>
          <a:noFill/>
          <a:ln/>
        </p:spPr>
        <p:txBody>
          <a:bodyPr wrap="square" lIns="0" tIns="0" rIns="0" bIns="0" rtlCol="0" anchor="ctr"/>
          <a:lstStyle/>
          <a:p>
            <a:pPr marL="0" indent="0">
              <a:buNone/>
            </a:pPr>
            <a:r>
              <a:rPr lang="en-US" sz="1100" i="1" dirty="0">
                <a:solidFill>
                  <a:srgbClr val="94A3B8"/>
                </a:solidFill>
              </a:rPr>
              <a:t>Fast, stable convergence</a:t>
            </a:r>
            <a:endParaRPr lang="en-US" sz="1100" dirty="0"/>
          </a:p>
        </p:txBody>
      </p:sp>
      <p:sp>
        <p:nvSpPr>
          <p:cNvPr id="25" name="Text 22"/>
          <p:cNvSpPr/>
          <p:nvPr/>
        </p:nvSpPr>
        <p:spPr>
          <a:xfrm>
            <a:off x="6144768" y="2212848"/>
            <a:ext cx="2432304" cy="662008"/>
          </a:xfrm>
          <a:prstGeom prst="rect">
            <a:avLst/>
          </a:prstGeom>
          <a:noFill/>
          <a:ln/>
        </p:spPr>
        <p:txBody>
          <a:bodyPr wrap="square" lIns="0" tIns="0" rIns="0" bIns="0" rtlCol="0" anchor="ctr"/>
          <a:lstStyle/>
          <a:p>
            <a:pPr marL="0" indent="0">
              <a:lnSpc>
                <a:spcPct val="130000"/>
              </a:lnSpc>
              <a:buNone/>
            </a:pPr>
            <a:r>
              <a:rPr lang="en-US" sz="1200" dirty="0">
                <a:solidFill>
                  <a:srgbClr val="E2E8F0"/>
                </a:solidFill>
              </a:rPr>
              <a:t>Loss decreases steadily each step and reaches a minimum efficiently.</a:t>
            </a:r>
            <a:endParaRPr lang="en-US" sz="1200" dirty="0"/>
          </a:p>
        </p:txBody>
      </p:sp>
      <p:sp>
        <p:nvSpPr>
          <p:cNvPr id="30" name="Text 27"/>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rPr>
              <a:t>LinearMind</a:t>
            </a:r>
            <a:endParaRPr lang="en-US" sz="900" dirty="0"/>
          </a:p>
        </p:txBody>
      </p:sp>
      <p:sp>
        <p:nvSpPr>
          <p:cNvPr id="31" name="Text 28"/>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rPr>
              <a:t>10</a:t>
            </a:r>
            <a:endParaRPr lang="en-US" sz="900" dirty="0"/>
          </a:p>
        </p:txBody>
      </p:sp>
      <p:sp>
        <p:nvSpPr>
          <p:cNvPr id="32" name="Shape 29"/>
          <p:cNvSpPr/>
          <p:nvPr/>
        </p:nvSpPr>
        <p:spPr>
          <a:xfrm>
            <a:off x="274320" y="4873752"/>
            <a:ext cx="8595360" cy="0"/>
          </a:xfrm>
          <a:prstGeom prst="line">
            <a:avLst/>
          </a:prstGeom>
          <a:noFill/>
          <a:ln w="6350">
            <a:solidFill>
              <a:srgbClr val="222226"/>
            </a:solidFill>
            <a:prstDash val="solid"/>
          </a:ln>
        </p:spPr>
        <p:txBody>
          <a:bodyPr/>
          <a:lstStyle/>
          <a:p>
            <a:endParaRPr lang="en-US"/>
          </a:p>
        </p:txBody>
      </p:sp>
      <p:pic>
        <p:nvPicPr>
          <p:cNvPr id="34" name="Picture 33">
            <a:extLst>
              <a:ext uri="{FF2B5EF4-FFF2-40B4-BE49-F238E27FC236}">
                <a16:creationId xmlns:a16="http://schemas.microsoft.com/office/drawing/2014/main" id="{2F68BFC3-8632-B59B-7F16-560113322F51}"/>
              </a:ext>
            </a:extLst>
          </p:cNvPr>
          <p:cNvPicPr>
            <a:picLocks noChangeAspect="1"/>
          </p:cNvPicPr>
          <p:nvPr/>
        </p:nvPicPr>
        <p:blipFill>
          <a:blip r:embed="rId4"/>
          <a:srcRect t="3464"/>
          <a:stretch>
            <a:fillRect/>
          </a:stretch>
        </p:blipFill>
        <p:spPr>
          <a:xfrm>
            <a:off x="415290" y="3212708"/>
            <a:ext cx="2569075" cy="1124308"/>
          </a:xfrm>
          <a:prstGeom prst="rect">
            <a:avLst/>
          </a:prstGeom>
        </p:spPr>
      </p:pic>
      <p:grpSp>
        <p:nvGrpSpPr>
          <p:cNvPr id="42" name="Group 41">
            <a:extLst>
              <a:ext uri="{FF2B5EF4-FFF2-40B4-BE49-F238E27FC236}">
                <a16:creationId xmlns:a16="http://schemas.microsoft.com/office/drawing/2014/main" id="{698D0FBC-3D0D-647B-1931-C74BB47A13E2}"/>
              </a:ext>
            </a:extLst>
          </p:cNvPr>
          <p:cNvGrpSpPr/>
          <p:nvPr/>
        </p:nvGrpSpPr>
        <p:grpSpPr>
          <a:xfrm>
            <a:off x="2336175" y="3767775"/>
            <a:ext cx="243360" cy="133920"/>
            <a:chOff x="2336175" y="3767775"/>
            <a:chExt cx="243360" cy="133920"/>
          </a:xfrm>
        </p:grpSpPr>
        <mc:AlternateContent xmlns:mc="http://schemas.openxmlformats.org/markup-compatibility/2006">
          <mc:Choice xmlns:p14="http://schemas.microsoft.com/office/powerpoint/2010/main" Requires="p14">
            <p:contentPart p14:bwMode="auto" r:id="rId5">
              <p14:nvContentPartPr>
                <p14:cNvPr id="35" name="Ink 34">
                  <a:extLst>
                    <a:ext uri="{FF2B5EF4-FFF2-40B4-BE49-F238E27FC236}">
                      <a16:creationId xmlns:a16="http://schemas.microsoft.com/office/drawing/2014/main" id="{827A8E2B-317A-E596-DB72-7CAFC293C51F}"/>
                    </a:ext>
                  </a:extLst>
                </p14:cNvPr>
                <p14:cNvContentPartPr/>
                <p14:nvPr/>
              </p14:nvContentPartPr>
              <p14:xfrm>
                <a:off x="2534535" y="3767775"/>
                <a:ext cx="45000" cy="26640"/>
              </p14:xfrm>
            </p:contentPart>
          </mc:Choice>
          <mc:Fallback>
            <p:pic>
              <p:nvPicPr>
                <p:cNvPr id="35" name="Ink 34">
                  <a:extLst>
                    <a:ext uri="{FF2B5EF4-FFF2-40B4-BE49-F238E27FC236}">
                      <a16:creationId xmlns:a16="http://schemas.microsoft.com/office/drawing/2014/main" id="{827A8E2B-317A-E596-DB72-7CAFC293C51F}"/>
                    </a:ext>
                  </a:extLst>
                </p:cNvPr>
                <p:cNvPicPr/>
                <p:nvPr/>
              </p:nvPicPr>
              <p:blipFill>
                <a:blip r:embed="rId6"/>
                <a:stretch>
                  <a:fillRect/>
                </a:stretch>
              </p:blipFill>
              <p:spPr>
                <a:xfrm>
                  <a:off x="2528415" y="3761655"/>
                  <a:ext cx="57240" cy="388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6" name="Ink 35">
                  <a:extLst>
                    <a:ext uri="{FF2B5EF4-FFF2-40B4-BE49-F238E27FC236}">
                      <a16:creationId xmlns:a16="http://schemas.microsoft.com/office/drawing/2014/main" id="{3918E5AD-4684-7089-E7F8-77E924DBDB54}"/>
                    </a:ext>
                  </a:extLst>
                </p14:cNvPr>
                <p14:cNvContentPartPr/>
                <p14:nvPr/>
              </p14:nvContentPartPr>
              <p14:xfrm>
                <a:off x="2508255" y="3771735"/>
                <a:ext cx="27360" cy="34920"/>
              </p14:xfrm>
            </p:contentPart>
          </mc:Choice>
          <mc:Fallback>
            <p:pic>
              <p:nvPicPr>
                <p:cNvPr id="36" name="Ink 35">
                  <a:extLst>
                    <a:ext uri="{FF2B5EF4-FFF2-40B4-BE49-F238E27FC236}">
                      <a16:creationId xmlns:a16="http://schemas.microsoft.com/office/drawing/2014/main" id="{3918E5AD-4684-7089-E7F8-77E924DBDB54}"/>
                    </a:ext>
                  </a:extLst>
                </p:cNvPr>
                <p:cNvPicPr/>
                <p:nvPr/>
              </p:nvPicPr>
              <p:blipFill>
                <a:blip r:embed="rId8"/>
                <a:stretch>
                  <a:fillRect/>
                </a:stretch>
              </p:blipFill>
              <p:spPr>
                <a:xfrm>
                  <a:off x="2502135" y="3765615"/>
                  <a:ext cx="39600" cy="471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38" name="Ink 37">
                  <a:extLst>
                    <a:ext uri="{FF2B5EF4-FFF2-40B4-BE49-F238E27FC236}">
                      <a16:creationId xmlns:a16="http://schemas.microsoft.com/office/drawing/2014/main" id="{8358C69E-F5D2-21AF-8CF7-73B493A55CFF}"/>
                    </a:ext>
                  </a:extLst>
                </p14:cNvPr>
                <p14:cNvContentPartPr/>
                <p14:nvPr/>
              </p14:nvContentPartPr>
              <p14:xfrm>
                <a:off x="2441295" y="3808095"/>
                <a:ext cx="48600" cy="12960"/>
              </p14:xfrm>
            </p:contentPart>
          </mc:Choice>
          <mc:Fallback>
            <p:pic>
              <p:nvPicPr>
                <p:cNvPr id="38" name="Ink 37">
                  <a:extLst>
                    <a:ext uri="{FF2B5EF4-FFF2-40B4-BE49-F238E27FC236}">
                      <a16:creationId xmlns:a16="http://schemas.microsoft.com/office/drawing/2014/main" id="{8358C69E-F5D2-21AF-8CF7-73B493A55CFF}"/>
                    </a:ext>
                  </a:extLst>
                </p:cNvPr>
                <p:cNvPicPr/>
                <p:nvPr/>
              </p:nvPicPr>
              <p:blipFill>
                <a:blip r:embed="rId10"/>
                <a:stretch>
                  <a:fillRect/>
                </a:stretch>
              </p:blipFill>
              <p:spPr>
                <a:xfrm>
                  <a:off x="2435175" y="3801975"/>
                  <a:ext cx="6084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39" name="Ink 38">
                  <a:extLst>
                    <a:ext uri="{FF2B5EF4-FFF2-40B4-BE49-F238E27FC236}">
                      <a16:creationId xmlns:a16="http://schemas.microsoft.com/office/drawing/2014/main" id="{C6556AF6-123C-2A87-902A-42A011A345F0}"/>
                    </a:ext>
                  </a:extLst>
                </p14:cNvPr>
                <p14:cNvContentPartPr/>
                <p14:nvPr/>
              </p14:nvContentPartPr>
              <p14:xfrm>
                <a:off x="2420415" y="3796575"/>
                <a:ext cx="32400" cy="49320"/>
              </p14:xfrm>
            </p:contentPart>
          </mc:Choice>
          <mc:Fallback>
            <p:pic>
              <p:nvPicPr>
                <p:cNvPr id="39" name="Ink 38">
                  <a:extLst>
                    <a:ext uri="{FF2B5EF4-FFF2-40B4-BE49-F238E27FC236}">
                      <a16:creationId xmlns:a16="http://schemas.microsoft.com/office/drawing/2014/main" id="{C6556AF6-123C-2A87-902A-42A011A345F0}"/>
                    </a:ext>
                  </a:extLst>
                </p:cNvPr>
                <p:cNvPicPr/>
                <p:nvPr/>
              </p:nvPicPr>
              <p:blipFill>
                <a:blip r:embed="rId12"/>
                <a:stretch>
                  <a:fillRect/>
                </a:stretch>
              </p:blipFill>
              <p:spPr>
                <a:xfrm>
                  <a:off x="2414295" y="3790455"/>
                  <a:ext cx="4464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40" name="Ink 39">
                  <a:extLst>
                    <a:ext uri="{FF2B5EF4-FFF2-40B4-BE49-F238E27FC236}">
                      <a16:creationId xmlns:a16="http://schemas.microsoft.com/office/drawing/2014/main" id="{DD34FEB5-4D1D-3B47-BB8B-998A48EB6E8A}"/>
                    </a:ext>
                  </a:extLst>
                </p14:cNvPr>
                <p14:cNvContentPartPr/>
                <p14:nvPr/>
              </p14:nvContentPartPr>
              <p14:xfrm>
                <a:off x="2336175" y="3848055"/>
                <a:ext cx="77760" cy="53640"/>
              </p14:xfrm>
            </p:contentPart>
          </mc:Choice>
          <mc:Fallback>
            <p:pic>
              <p:nvPicPr>
                <p:cNvPr id="40" name="Ink 39">
                  <a:extLst>
                    <a:ext uri="{FF2B5EF4-FFF2-40B4-BE49-F238E27FC236}">
                      <a16:creationId xmlns:a16="http://schemas.microsoft.com/office/drawing/2014/main" id="{DD34FEB5-4D1D-3B47-BB8B-998A48EB6E8A}"/>
                    </a:ext>
                  </a:extLst>
                </p:cNvPr>
                <p:cNvPicPr/>
                <p:nvPr/>
              </p:nvPicPr>
              <p:blipFill>
                <a:blip r:embed="rId14"/>
                <a:stretch>
                  <a:fillRect/>
                </a:stretch>
              </p:blipFill>
              <p:spPr>
                <a:xfrm>
                  <a:off x="2330055" y="3841935"/>
                  <a:ext cx="90000" cy="65880"/>
                </a:xfrm>
                <a:prstGeom prst="rect">
                  <a:avLst/>
                </a:prstGeom>
              </p:spPr>
            </p:pic>
          </mc:Fallback>
        </mc:AlternateContent>
      </p:grpSp>
      <p:grpSp>
        <p:nvGrpSpPr>
          <p:cNvPr id="49" name="Group 48">
            <a:extLst>
              <a:ext uri="{FF2B5EF4-FFF2-40B4-BE49-F238E27FC236}">
                <a16:creationId xmlns:a16="http://schemas.microsoft.com/office/drawing/2014/main" id="{DCE66BDB-30C9-615E-8450-EF9A94587BEC}"/>
              </a:ext>
            </a:extLst>
          </p:cNvPr>
          <p:cNvGrpSpPr/>
          <p:nvPr/>
        </p:nvGrpSpPr>
        <p:grpSpPr>
          <a:xfrm>
            <a:off x="1708695" y="3910695"/>
            <a:ext cx="604080" cy="168840"/>
            <a:chOff x="1708695" y="3910695"/>
            <a:chExt cx="604080" cy="168840"/>
          </a:xfrm>
        </p:grpSpPr>
        <mc:AlternateContent xmlns:mc="http://schemas.openxmlformats.org/markup-compatibility/2006">
          <mc:Choice xmlns:p14="http://schemas.microsoft.com/office/powerpoint/2010/main" Requires="p14">
            <p:contentPart p14:bwMode="auto" r:id="rId15">
              <p14:nvContentPartPr>
                <p14:cNvPr id="43" name="Ink 42">
                  <a:extLst>
                    <a:ext uri="{FF2B5EF4-FFF2-40B4-BE49-F238E27FC236}">
                      <a16:creationId xmlns:a16="http://schemas.microsoft.com/office/drawing/2014/main" id="{C14C33F3-2458-8AC3-0386-DD64D0019E40}"/>
                    </a:ext>
                  </a:extLst>
                </p14:cNvPr>
                <p14:cNvContentPartPr/>
                <p14:nvPr/>
              </p14:nvContentPartPr>
              <p14:xfrm>
                <a:off x="2200095" y="3910695"/>
                <a:ext cx="112680" cy="76680"/>
              </p14:xfrm>
            </p:contentPart>
          </mc:Choice>
          <mc:Fallback>
            <p:pic>
              <p:nvPicPr>
                <p:cNvPr id="43" name="Ink 42">
                  <a:extLst>
                    <a:ext uri="{FF2B5EF4-FFF2-40B4-BE49-F238E27FC236}">
                      <a16:creationId xmlns:a16="http://schemas.microsoft.com/office/drawing/2014/main" id="{C14C33F3-2458-8AC3-0386-DD64D0019E40}"/>
                    </a:ext>
                  </a:extLst>
                </p:cNvPr>
                <p:cNvPicPr/>
                <p:nvPr/>
              </p:nvPicPr>
              <p:blipFill>
                <a:blip r:embed="rId16"/>
                <a:stretch>
                  <a:fillRect/>
                </a:stretch>
              </p:blipFill>
              <p:spPr>
                <a:xfrm>
                  <a:off x="2193975" y="3904575"/>
                  <a:ext cx="124920" cy="889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44" name="Ink 43">
                  <a:extLst>
                    <a:ext uri="{FF2B5EF4-FFF2-40B4-BE49-F238E27FC236}">
                      <a16:creationId xmlns:a16="http://schemas.microsoft.com/office/drawing/2014/main" id="{8B2E1336-BB5C-9892-6DB1-FFDBC8D71786}"/>
                    </a:ext>
                  </a:extLst>
                </p14:cNvPr>
                <p14:cNvContentPartPr/>
                <p14:nvPr/>
              </p14:nvContentPartPr>
              <p14:xfrm>
                <a:off x="2092095" y="3964335"/>
                <a:ext cx="87480" cy="60480"/>
              </p14:xfrm>
            </p:contentPart>
          </mc:Choice>
          <mc:Fallback>
            <p:pic>
              <p:nvPicPr>
                <p:cNvPr id="44" name="Ink 43">
                  <a:extLst>
                    <a:ext uri="{FF2B5EF4-FFF2-40B4-BE49-F238E27FC236}">
                      <a16:creationId xmlns:a16="http://schemas.microsoft.com/office/drawing/2014/main" id="{8B2E1336-BB5C-9892-6DB1-FFDBC8D71786}"/>
                    </a:ext>
                  </a:extLst>
                </p:cNvPr>
                <p:cNvPicPr/>
                <p:nvPr/>
              </p:nvPicPr>
              <p:blipFill>
                <a:blip r:embed="rId18"/>
                <a:stretch>
                  <a:fillRect/>
                </a:stretch>
              </p:blipFill>
              <p:spPr>
                <a:xfrm>
                  <a:off x="2085975" y="3958215"/>
                  <a:ext cx="99720" cy="7272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45" name="Ink 44">
                  <a:extLst>
                    <a:ext uri="{FF2B5EF4-FFF2-40B4-BE49-F238E27FC236}">
                      <a16:creationId xmlns:a16="http://schemas.microsoft.com/office/drawing/2014/main" id="{46E40D95-4ECF-8A6F-A80F-368032FFCAF3}"/>
                    </a:ext>
                  </a:extLst>
                </p14:cNvPr>
                <p14:cNvContentPartPr/>
                <p14:nvPr/>
              </p14:nvContentPartPr>
              <p14:xfrm>
                <a:off x="1997055" y="3995295"/>
                <a:ext cx="66240" cy="61200"/>
              </p14:xfrm>
            </p:contentPart>
          </mc:Choice>
          <mc:Fallback>
            <p:pic>
              <p:nvPicPr>
                <p:cNvPr id="45" name="Ink 44">
                  <a:extLst>
                    <a:ext uri="{FF2B5EF4-FFF2-40B4-BE49-F238E27FC236}">
                      <a16:creationId xmlns:a16="http://schemas.microsoft.com/office/drawing/2014/main" id="{46E40D95-4ECF-8A6F-A80F-368032FFCAF3}"/>
                    </a:ext>
                  </a:extLst>
                </p:cNvPr>
                <p:cNvPicPr/>
                <p:nvPr/>
              </p:nvPicPr>
              <p:blipFill>
                <a:blip r:embed="rId20"/>
                <a:stretch>
                  <a:fillRect/>
                </a:stretch>
              </p:blipFill>
              <p:spPr>
                <a:xfrm>
                  <a:off x="1990935" y="3989175"/>
                  <a:ext cx="78480" cy="7344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46" name="Ink 45">
                  <a:extLst>
                    <a:ext uri="{FF2B5EF4-FFF2-40B4-BE49-F238E27FC236}">
                      <a16:creationId xmlns:a16="http://schemas.microsoft.com/office/drawing/2014/main" id="{B529B60B-7204-1A3E-9327-ABA13FA29C4B}"/>
                    </a:ext>
                  </a:extLst>
                </p14:cNvPr>
                <p14:cNvContentPartPr/>
                <p14:nvPr/>
              </p14:nvContentPartPr>
              <p14:xfrm>
                <a:off x="1895895" y="4016535"/>
                <a:ext cx="72000" cy="39600"/>
              </p14:xfrm>
            </p:contentPart>
          </mc:Choice>
          <mc:Fallback>
            <p:pic>
              <p:nvPicPr>
                <p:cNvPr id="46" name="Ink 45">
                  <a:extLst>
                    <a:ext uri="{FF2B5EF4-FFF2-40B4-BE49-F238E27FC236}">
                      <a16:creationId xmlns:a16="http://schemas.microsoft.com/office/drawing/2014/main" id="{B529B60B-7204-1A3E-9327-ABA13FA29C4B}"/>
                    </a:ext>
                  </a:extLst>
                </p:cNvPr>
                <p:cNvPicPr/>
                <p:nvPr/>
              </p:nvPicPr>
              <p:blipFill>
                <a:blip r:embed="rId22"/>
                <a:stretch>
                  <a:fillRect/>
                </a:stretch>
              </p:blipFill>
              <p:spPr>
                <a:xfrm>
                  <a:off x="1889775" y="4010415"/>
                  <a:ext cx="8424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47" name="Ink 46">
                  <a:extLst>
                    <a:ext uri="{FF2B5EF4-FFF2-40B4-BE49-F238E27FC236}">
                      <a16:creationId xmlns:a16="http://schemas.microsoft.com/office/drawing/2014/main" id="{1051BBC3-6E6D-C0E5-C635-A6AE737DA500}"/>
                    </a:ext>
                  </a:extLst>
                </p14:cNvPr>
                <p14:cNvContentPartPr/>
                <p14:nvPr/>
              </p14:nvContentPartPr>
              <p14:xfrm>
                <a:off x="1800135" y="4031295"/>
                <a:ext cx="76680" cy="29160"/>
              </p14:xfrm>
            </p:contentPart>
          </mc:Choice>
          <mc:Fallback>
            <p:pic>
              <p:nvPicPr>
                <p:cNvPr id="47" name="Ink 46">
                  <a:extLst>
                    <a:ext uri="{FF2B5EF4-FFF2-40B4-BE49-F238E27FC236}">
                      <a16:creationId xmlns:a16="http://schemas.microsoft.com/office/drawing/2014/main" id="{1051BBC3-6E6D-C0E5-C635-A6AE737DA500}"/>
                    </a:ext>
                  </a:extLst>
                </p:cNvPr>
                <p:cNvPicPr/>
                <p:nvPr/>
              </p:nvPicPr>
              <p:blipFill>
                <a:blip r:embed="rId24"/>
                <a:stretch>
                  <a:fillRect/>
                </a:stretch>
              </p:blipFill>
              <p:spPr>
                <a:xfrm>
                  <a:off x="1794015" y="4025175"/>
                  <a:ext cx="8892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48" name="Ink 47">
                  <a:extLst>
                    <a:ext uri="{FF2B5EF4-FFF2-40B4-BE49-F238E27FC236}">
                      <a16:creationId xmlns:a16="http://schemas.microsoft.com/office/drawing/2014/main" id="{D3B6AB6C-95A8-8345-F827-A5E2E399A3AE}"/>
                    </a:ext>
                  </a:extLst>
                </p14:cNvPr>
                <p14:cNvContentPartPr/>
                <p14:nvPr/>
              </p14:nvContentPartPr>
              <p14:xfrm>
                <a:off x="1708695" y="4026255"/>
                <a:ext cx="53640" cy="53280"/>
              </p14:xfrm>
            </p:contentPart>
          </mc:Choice>
          <mc:Fallback>
            <p:pic>
              <p:nvPicPr>
                <p:cNvPr id="48" name="Ink 47">
                  <a:extLst>
                    <a:ext uri="{FF2B5EF4-FFF2-40B4-BE49-F238E27FC236}">
                      <a16:creationId xmlns:a16="http://schemas.microsoft.com/office/drawing/2014/main" id="{D3B6AB6C-95A8-8345-F827-A5E2E399A3AE}"/>
                    </a:ext>
                  </a:extLst>
                </p:cNvPr>
                <p:cNvPicPr/>
                <p:nvPr/>
              </p:nvPicPr>
              <p:blipFill>
                <a:blip r:embed="rId26"/>
                <a:stretch>
                  <a:fillRect/>
                </a:stretch>
              </p:blipFill>
              <p:spPr>
                <a:xfrm>
                  <a:off x="1702575" y="4020135"/>
                  <a:ext cx="65880" cy="65520"/>
                </a:xfrm>
                <a:prstGeom prst="rect">
                  <a:avLst/>
                </a:prstGeom>
              </p:spPr>
            </p:pic>
          </mc:Fallback>
        </mc:AlternateContent>
      </p:grpSp>
      <p:pic>
        <p:nvPicPr>
          <p:cNvPr id="51" name="Picture 50">
            <a:extLst>
              <a:ext uri="{FF2B5EF4-FFF2-40B4-BE49-F238E27FC236}">
                <a16:creationId xmlns:a16="http://schemas.microsoft.com/office/drawing/2014/main" id="{D0D2EFA0-43A2-0A3A-487F-D9BE07BD560B}"/>
              </a:ext>
            </a:extLst>
          </p:cNvPr>
          <p:cNvPicPr>
            <a:picLocks noChangeAspect="1"/>
          </p:cNvPicPr>
          <p:nvPr/>
        </p:nvPicPr>
        <p:blipFill>
          <a:blip r:embed="rId27"/>
          <a:srcRect t="3154"/>
          <a:stretch>
            <a:fillRect/>
          </a:stretch>
        </p:blipFill>
        <p:spPr>
          <a:xfrm>
            <a:off x="6101080" y="3214210"/>
            <a:ext cx="2550435" cy="1106330"/>
          </a:xfrm>
          <a:prstGeom prst="rect">
            <a:avLst/>
          </a:prstGeom>
        </p:spPr>
      </p:pic>
      <mc:AlternateContent xmlns:mc="http://schemas.openxmlformats.org/markup-compatibility/2006">
        <mc:Choice xmlns:p14="http://schemas.microsoft.com/office/powerpoint/2010/main" Requires="p14">
          <p:contentPart p14:bwMode="auto" r:id="rId28">
            <p14:nvContentPartPr>
              <p14:cNvPr id="58" name="Ink 57">
                <a:extLst>
                  <a:ext uri="{FF2B5EF4-FFF2-40B4-BE49-F238E27FC236}">
                    <a16:creationId xmlns:a16="http://schemas.microsoft.com/office/drawing/2014/main" id="{6A56E752-15DD-1C0F-5F0D-2AD1538FB8B1}"/>
                  </a:ext>
                </a:extLst>
              </p14:cNvPr>
              <p14:cNvContentPartPr/>
              <p14:nvPr/>
            </p14:nvContentPartPr>
            <p14:xfrm>
              <a:off x="7657815" y="3767775"/>
              <a:ext cx="556560" cy="249840"/>
            </p14:xfrm>
          </p:contentPart>
        </mc:Choice>
        <mc:Fallback>
          <p:pic>
            <p:nvPicPr>
              <p:cNvPr id="58" name="Ink 57">
                <a:extLst>
                  <a:ext uri="{FF2B5EF4-FFF2-40B4-BE49-F238E27FC236}">
                    <a16:creationId xmlns:a16="http://schemas.microsoft.com/office/drawing/2014/main" id="{6A56E752-15DD-1C0F-5F0D-2AD1538FB8B1}"/>
                  </a:ext>
                </a:extLst>
              </p:cNvPr>
              <p:cNvPicPr/>
              <p:nvPr/>
            </p:nvPicPr>
            <p:blipFill>
              <a:blip r:embed="rId29"/>
              <a:stretch>
                <a:fillRect/>
              </a:stretch>
            </p:blipFill>
            <p:spPr>
              <a:xfrm>
                <a:off x="7651695" y="3761295"/>
                <a:ext cx="568800" cy="2620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60" name="Ink 59">
                <a:extLst>
                  <a:ext uri="{FF2B5EF4-FFF2-40B4-BE49-F238E27FC236}">
                    <a16:creationId xmlns:a16="http://schemas.microsoft.com/office/drawing/2014/main" id="{2439C4DA-A3A6-9785-9B61-67A286A78367}"/>
                  </a:ext>
                </a:extLst>
              </p14:cNvPr>
              <p14:cNvContentPartPr/>
              <p14:nvPr/>
            </p14:nvContentPartPr>
            <p14:xfrm>
              <a:off x="7427055" y="4006095"/>
              <a:ext cx="204840" cy="82440"/>
            </p14:xfrm>
          </p:contentPart>
        </mc:Choice>
        <mc:Fallback>
          <p:pic>
            <p:nvPicPr>
              <p:cNvPr id="60" name="Ink 59">
                <a:extLst>
                  <a:ext uri="{FF2B5EF4-FFF2-40B4-BE49-F238E27FC236}">
                    <a16:creationId xmlns:a16="http://schemas.microsoft.com/office/drawing/2014/main" id="{2439C4DA-A3A6-9785-9B61-67A286A78367}"/>
                  </a:ext>
                </a:extLst>
              </p:cNvPr>
              <p:cNvPicPr/>
              <p:nvPr/>
            </p:nvPicPr>
            <p:blipFill>
              <a:blip r:embed="rId31"/>
              <a:stretch>
                <a:fillRect/>
              </a:stretch>
            </p:blipFill>
            <p:spPr>
              <a:xfrm>
                <a:off x="7420935" y="3999975"/>
                <a:ext cx="217080" cy="946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61" name="Ink 60">
                <a:extLst>
                  <a:ext uri="{FF2B5EF4-FFF2-40B4-BE49-F238E27FC236}">
                    <a16:creationId xmlns:a16="http://schemas.microsoft.com/office/drawing/2014/main" id="{6E7F48C6-AD51-C5AB-7099-0DD2185BC56F}"/>
                  </a:ext>
                </a:extLst>
              </p14:cNvPr>
              <p14:cNvContentPartPr/>
              <p14:nvPr/>
            </p14:nvContentPartPr>
            <p14:xfrm>
              <a:off x="4592742" y="3847431"/>
              <a:ext cx="360" cy="360"/>
            </p14:xfrm>
          </p:contentPart>
        </mc:Choice>
        <mc:Fallback>
          <p:pic>
            <p:nvPicPr>
              <p:cNvPr id="61" name="Ink 60">
                <a:extLst>
                  <a:ext uri="{FF2B5EF4-FFF2-40B4-BE49-F238E27FC236}">
                    <a16:creationId xmlns:a16="http://schemas.microsoft.com/office/drawing/2014/main" id="{6E7F48C6-AD51-C5AB-7099-0DD2185BC56F}"/>
                  </a:ext>
                </a:extLst>
              </p:cNvPr>
              <p:cNvPicPr/>
              <p:nvPr/>
            </p:nvPicPr>
            <p:blipFill>
              <a:blip r:embed="rId33"/>
              <a:stretch>
                <a:fillRect/>
              </a:stretch>
            </p:blipFill>
            <p:spPr>
              <a:xfrm>
                <a:off x="4586622" y="3841311"/>
                <a:ext cx="12600" cy="12600"/>
              </a:xfrm>
              <a:prstGeom prst="rect">
                <a:avLst/>
              </a:prstGeom>
            </p:spPr>
          </p:pic>
        </mc:Fallback>
      </mc:AlternateContent>
      <p:pic>
        <p:nvPicPr>
          <p:cNvPr id="63" name="Picture 62">
            <a:extLst>
              <a:ext uri="{FF2B5EF4-FFF2-40B4-BE49-F238E27FC236}">
                <a16:creationId xmlns:a16="http://schemas.microsoft.com/office/drawing/2014/main" id="{8BCAAB71-13A9-EB5A-981A-2C3FFD98D896}"/>
              </a:ext>
            </a:extLst>
          </p:cNvPr>
          <p:cNvPicPr>
            <a:picLocks noChangeAspect="1"/>
          </p:cNvPicPr>
          <p:nvPr/>
        </p:nvPicPr>
        <p:blipFill>
          <a:blip r:embed="rId34"/>
          <a:stretch>
            <a:fillRect/>
          </a:stretch>
        </p:blipFill>
        <p:spPr>
          <a:xfrm>
            <a:off x="3242940" y="3195376"/>
            <a:ext cx="2552085" cy="1150456"/>
          </a:xfrm>
          <a:prstGeom prst="rect">
            <a:avLst/>
          </a:prstGeom>
        </p:spPr>
      </p:pic>
      <mc:AlternateContent xmlns:mc="http://schemas.openxmlformats.org/markup-compatibility/2006">
        <mc:Choice xmlns:p14="http://schemas.microsoft.com/office/powerpoint/2010/main" Requires="p14">
          <p:contentPart p14:bwMode="auto" r:id="rId35">
            <p14:nvContentPartPr>
              <p14:cNvPr id="65" name="Ink 64">
                <a:extLst>
                  <a:ext uri="{FF2B5EF4-FFF2-40B4-BE49-F238E27FC236}">
                    <a16:creationId xmlns:a16="http://schemas.microsoft.com/office/drawing/2014/main" id="{D5338AFE-A3D5-B2DF-06FB-6DEA42986C69}"/>
                  </a:ext>
                </a:extLst>
              </p14:cNvPr>
              <p14:cNvContentPartPr/>
              <p14:nvPr/>
            </p14:nvContentPartPr>
            <p14:xfrm>
              <a:off x="3959620" y="3494580"/>
              <a:ext cx="1780920" cy="446400"/>
            </p14:xfrm>
          </p:contentPart>
        </mc:Choice>
        <mc:Fallback>
          <p:pic>
            <p:nvPicPr>
              <p:cNvPr id="65" name="Ink 64">
                <a:extLst>
                  <a:ext uri="{FF2B5EF4-FFF2-40B4-BE49-F238E27FC236}">
                    <a16:creationId xmlns:a16="http://schemas.microsoft.com/office/drawing/2014/main" id="{D5338AFE-A3D5-B2DF-06FB-6DEA42986C69}"/>
                  </a:ext>
                </a:extLst>
              </p:cNvPr>
              <p:cNvPicPr/>
              <p:nvPr/>
            </p:nvPicPr>
            <p:blipFill>
              <a:blip r:embed="rId36"/>
              <a:stretch>
                <a:fillRect/>
              </a:stretch>
            </p:blipFill>
            <p:spPr>
              <a:xfrm>
                <a:off x="3953500" y="3488460"/>
                <a:ext cx="1793160" cy="45864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69" name="Ink 68">
                <a:extLst>
                  <a:ext uri="{FF2B5EF4-FFF2-40B4-BE49-F238E27FC236}">
                    <a16:creationId xmlns:a16="http://schemas.microsoft.com/office/drawing/2014/main" id="{65C40760-2FA9-74B9-207C-821D375C24A8}"/>
                  </a:ext>
                </a:extLst>
              </p14:cNvPr>
              <p14:cNvContentPartPr/>
              <p14:nvPr/>
            </p14:nvContentPartPr>
            <p14:xfrm>
              <a:off x="3947020" y="3784020"/>
              <a:ext cx="1389960" cy="178560"/>
            </p14:xfrm>
          </p:contentPart>
        </mc:Choice>
        <mc:Fallback>
          <p:pic>
            <p:nvPicPr>
              <p:cNvPr id="69" name="Ink 68">
                <a:extLst>
                  <a:ext uri="{FF2B5EF4-FFF2-40B4-BE49-F238E27FC236}">
                    <a16:creationId xmlns:a16="http://schemas.microsoft.com/office/drawing/2014/main" id="{65C40760-2FA9-74B9-207C-821D375C24A8}"/>
                  </a:ext>
                </a:extLst>
              </p:cNvPr>
              <p:cNvPicPr/>
              <p:nvPr/>
            </p:nvPicPr>
            <p:blipFill>
              <a:blip r:embed="rId38"/>
              <a:stretch>
                <a:fillRect/>
              </a:stretch>
            </p:blipFill>
            <p:spPr>
              <a:xfrm>
                <a:off x="3940900" y="3777900"/>
                <a:ext cx="140220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71" name="Ink 70">
                <a:extLst>
                  <a:ext uri="{FF2B5EF4-FFF2-40B4-BE49-F238E27FC236}">
                    <a16:creationId xmlns:a16="http://schemas.microsoft.com/office/drawing/2014/main" id="{F5CDC8C1-6AD0-6EDA-A0D3-3BEC14C5C228}"/>
                  </a:ext>
                </a:extLst>
              </p14:cNvPr>
              <p14:cNvContentPartPr/>
              <p14:nvPr/>
            </p14:nvContentPartPr>
            <p14:xfrm>
              <a:off x="3573700" y="3646140"/>
              <a:ext cx="1795680" cy="133560"/>
            </p14:xfrm>
          </p:contentPart>
        </mc:Choice>
        <mc:Fallback>
          <p:pic>
            <p:nvPicPr>
              <p:cNvPr id="71" name="Ink 70">
                <a:extLst>
                  <a:ext uri="{FF2B5EF4-FFF2-40B4-BE49-F238E27FC236}">
                    <a16:creationId xmlns:a16="http://schemas.microsoft.com/office/drawing/2014/main" id="{F5CDC8C1-6AD0-6EDA-A0D3-3BEC14C5C228}"/>
                  </a:ext>
                </a:extLst>
              </p:cNvPr>
              <p:cNvPicPr/>
              <p:nvPr/>
            </p:nvPicPr>
            <p:blipFill>
              <a:blip r:embed="rId40"/>
              <a:stretch>
                <a:fillRect/>
              </a:stretch>
            </p:blipFill>
            <p:spPr>
              <a:xfrm>
                <a:off x="3567580" y="3640020"/>
                <a:ext cx="1807920" cy="14580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73" name="Ink 72">
                <a:extLst>
                  <a:ext uri="{FF2B5EF4-FFF2-40B4-BE49-F238E27FC236}">
                    <a16:creationId xmlns:a16="http://schemas.microsoft.com/office/drawing/2014/main" id="{4CDDF5A5-3948-C4F0-73EE-F4A6981D1453}"/>
                  </a:ext>
                </a:extLst>
              </p14:cNvPr>
              <p14:cNvContentPartPr/>
              <p14:nvPr/>
            </p14:nvContentPartPr>
            <p14:xfrm>
              <a:off x="3515380" y="3603660"/>
              <a:ext cx="2082960" cy="66600"/>
            </p14:xfrm>
          </p:contentPart>
        </mc:Choice>
        <mc:Fallback>
          <p:pic>
            <p:nvPicPr>
              <p:cNvPr id="73" name="Ink 72">
                <a:extLst>
                  <a:ext uri="{FF2B5EF4-FFF2-40B4-BE49-F238E27FC236}">
                    <a16:creationId xmlns:a16="http://schemas.microsoft.com/office/drawing/2014/main" id="{4CDDF5A5-3948-C4F0-73EE-F4A6981D1453}"/>
                  </a:ext>
                </a:extLst>
              </p:cNvPr>
              <p:cNvPicPr/>
              <p:nvPr/>
            </p:nvPicPr>
            <p:blipFill>
              <a:blip r:embed="rId42"/>
              <a:stretch>
                <a:fillRect/>
              </a:stretch>
            </p:blipFill>
            <p:spPr>
              <a:xfrm>
                <a:off x="3508900" y="3597540"/>
                <a:ext cx="2095200" cy="7884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75" name="Ink 74">
                <a:extLst>
                  <a:ext uri="{FF2B5EF4-FFF2-40B4-BE49-F238E27FC236}">
                    <a16:creationId xmlns:a16="http://schemas.microsoft.com/office/drawing/2014/main" id="{A8FD50BC-6A92-B0EF-770C-BD95079CF74B}"/>
                  </a:ext>
                </a:extLst>
              </p14:cNvPr>
              <p14:cNvContentPartPr/>
              <p14:nvPr/>
            </p14:nvContentPartPr>
            <p14:xfrm>
              <a:off x="3416020" y="3449940"/>
              <a:ext cx="2212560" cy="146520"/>
            </p14:xfrm>
          </p:contentPart>
        </mc:Choice>
        <mc:Fallback>
          <p:pic>
            <p:nvPicPr>
              <p:cNvPr id="75" name="Ink 74">
                <a:extLst>
                  <a:ext uri="{FF2B5EF4-FFF2-40B4-BE49-F238E27FC236}">
                    <a16:creationId xmlns:a16="http://schemas.microsoft.com/office/drawing/2014/main" id="{A8FD50BC-6A92-B0EF-770C-BD95079CF74B}"/>
                  </a:ext>
                </a:extLst>
              </p:cNvPr>
              <p:cNvPicPr/>
              <p:nvPr/>
            </p:nvPicPr>
            <p:blipFill>
              <a:blip r:embed="rId44"/>
              <a:stretch>
                <a:fillRect/>
              </a:stretch>
            </p:blipFill>
            <p:spPr>
              <a:xfrm>
                <a:off x="3409900" y="3443820"/>
                <a:ext cx="2224800" cy="15876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201168"/>
            <a:ext cx="8412480" cy="502920"/>
          </a:xfrm>
          <a:prstGeom prst="rect">
            <a:avLst/>
          </a:prstGeom>
          <a:noFill/>
          <a:ln/>
        </p:spPr>
        <p:txBody>
          <a:bodyPr wrap="square" lIns="0" tIns="0" rIns="0" bIns="0" rtlCol="0" anchor="ctr"/>
          <a:lstStyle/>
          <a:p>
            <a:pPr marL="0" indent="0">
              <a:buNone/>
            </a:pPr>
            <a:r>
              <a:rPr lang="en-US" sz="2600" b="1" dirty="0">
                <a:solidFill>
                  <a:srgbClr val="818CF8"/>
                </a:solidFill>
                <a:latin typeface="Inter" panose="02000503000000020004" pitchFamily="2" charset="0"/>
                <a:ea typeface="Inter" panose="02000503000000020004" pitchFamily="2" charset="0"/>
                <a:cs typeface="Calibri" pitchFamily="34" charset="-120"/>
              </a:rPr>
              <a:t>Training Process — Epochs &amp; Convergence</a:t>
            </a:r>
            <a:endParaRPr lang="en-US" sz="2600" dirty="0">
              <a:latin typeface="Inter" panose="02000503000000020004" pitchFamily="2" charset="0"/>
              <a:ea typeface="Inter" panose="02000503000000020004" pitchFamily="2" charset="0"/>
            </a:endParaRPr>
          </a:p>
        </p:txBody>
      </p:sp>
      <p:sp>
        <p:nvSpPr>
          <p:cNvPr id="4" name="Shape 1"/>
          <p:cNvSpPr/>
          <p:nvPr/>
        </p:nvSpPr>
        <p:spPr>
          <a:xfrm>
            <a:off x="365760" y="822960"/>
            <a:ext cx="4023360" cy="3657600"/>
          </a:xfrm>
          <a:prstGeom prst="rect">
            <a:avLst/>
          </a:prstGeom>
          <a:solidFill>
            <a:srgbClr val="111120"/>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dirty="0">
              <a:latin typeface="Inter" panose="02000503000000020004" pitchFamily="2" charset="0"/>
              <a:ea typeface="Inter" panose="02000503000000020004" pitchFamily="2" charset="0"/>
            </a:endParaRPr>
          </a:p>
        </p:txBody>
      </p:sp>
      <p:sp>
        <p:nvSpPr>
          <p:cNvPr id="5" name="Text 2"/>
          <p:cNvSpPr/>
          <p:nvPr/>
        </p:nvSpPr>
        <p:spPr>
          <a:xfrm>
            <a:off x="548640" y="914400"/>
            <a:ext cx="3840480" cy="365760"/>
          </a:xfrm>
          <a:prstGeom prst="rect">
            <a:avLst/>
          </a:prstGeom>
          <a:noFill/>
          <a:ln/>
        </p:spPr>
        <p:txBody>
          <a:bodyPr wrap="square" lIns="0" tIns="0" rIns="0" bIns="0" rtlCol="0" anchor="ctr"/>
          <a:lstStyle/>
          <a:p>
            <a:pPr marL="0" indent="0">
              <a:buNone/>
            </a:pPr>
            <a:r>
              <a:rPr lang="en-US" sz="1500" b="1" dirty="0">
                <a:solidFill>
                  <a:srgbClr val="818CF8"/>
                </a:solidFill>
                <a:latin typeface="Inter" panose="02000503000000020004" pitchFamily="2" charset="0"/>
                <a:ea typeface="Inter" panose="02000503000000020004" pitchFamily="2" charset="0"/>
              </a:rPr>
              <a:t>The Training Loop:</a:t>
            </a:r>
            <a:endParaRPr lang="en-US" sz="1500" dirty="0">
              <a:latin typeface="Inter" panose="02000503000000020004" pitchFamily="2" charset="0"/>
              <a:ea typeface="Inter" panose="02000503000000020004" pitchFamily="2" charset="0"/>
            </a:endParaRPr>
          </a:p>
        </p:txBody>
      </p:sp>
      <p:sp>
        <p:nvSpPr>
          <p:cNvPr id="6" name="Shape 3"/>
          <p:cNvSpPr/>
          <p:nvPr/>
        </p:nvSpPr>
        <p:spPr>
          <a:xfrm>
            <a:off x="502920" y="1389888"/>
            <a:ext cx="365760" cy="365760"/>
          </a:xfrm>
          <a:prstGeom prst="rect">
            <a:avLst/>
          </a:prstGeom>
          <a:solidFill>
            <a:srgbClr val="6366F1"/>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7" name="Text 4"/>
          <p:cNvSpPr/>
          <p:nvPr/>
        </p:nvSpPr>
        <p:spPr>
          <a:xfrm>
            <a:off x="502920" y="138988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anose="02000503000000020004" pitchFamily="2" charset="0"/>
                <a:ea typeface="Inter" panose="02000503000000020004" pitchFamily="2" charset="0"/>
              </a:rPr>
              <a:t>1</a:t>
            </a:r>
            <a:endParaRPr lang="en-US" sz="1400" dirty="0">
              <a:latin typeface="Inter" panose="02000503000000020004" pitchFamily="2" charset="0"/>
              <a:ea typeface="Inter" panose="02000503000000020004" pitchFamily="2" charset="0"/>
            </a:endParaRPr>
          </a:p>
        </p:txBody>
      </p:sp>
      <p:sp>
        <p:nvSpPr>
          <p:cNvPr id="8" name="Text 5"/>
          <p:cNvSpPr/>
          <p:nvPr/>
        </p:nvSpPr>
        <p:spPr>
          <a:xfrm>
            <a:off x="960120" y="1408176"/>
            <a:ext cx="822960" cy="347472"/>
          </a:xfrm>
          <a:prstGeom prst="rect">
            <a:avLst/>
          </a:prstGeom>
          <a:noFill/>
          <a:ln/>
        </p:spPr>
        <p:txBody>
          <a:bodyPr wrap="square" lIns="0" tIns="0" rIns="0" bIns="0" rtlCol="0" anchor="ctr"/>
          <a:lstStyle/>
          <a:p>
            <a:pPr marL="0" indent="0">
              <a:buNone/>
            </a:pPr>
            <a:r>
              <a:rPr lang="en-US" sz="1300" b="1" dirty="0">
                <a:solidFill>
                  <a:srgbClr val="06B6D4"/>
                </a:solidFill>
                <a:latin typeface="Inter" panose="02000503000000020004" pitchFamily="2" charset="0"/>
                <a:ea typeface="Inter" panose="02000503000000020004" pitchFamily="2" charset="0"/>
              </a:rPr>
              <a:t>Predict — </a:t>
            </a:r>
            <a:endParaRPr lang="en-US" sz="1300" dirty="0">
              <a:latin typeface="Inter" panose="02000503000000020004" pitchFamily="2" charset="0"/>
              <a:ea typeface="Inter" panose="02000503000000020004" pitchFamily="2" charset="0"/>
            </a:endParaRPr>
          </a:p>
        </p:txBody>
      </p:sp>
      <p:sp>
        <p:nvSpPr>
          <p:cNvPr id="9" name="Text 6"/>
          <p:cNvSpPr/>
          <p:nvPr/>
        </p:nvSpPr>
        <p:spPr>
          <a:xfrm>
            <a:off x="1828800" y="1408176"/>
            <a:ext cx="2560320" cy="347472"/>
          </a:xfrm>
          <a:prstGeom prst="rect">
            <a:avLst/>
          </a:prstGeom>
          <a:noFill/>
          <a:ln/>
        </p:spPr>
        <p:txBody>
          <a:bodyPr wrap="square" lIns="0" tIns="0" rIns="0" bIns="0" rtlCol="0" anchor="ctr"/>
          <a:lstStyle/>
          <a:p>
            <a:pPr marL="0" indent="0">
              <a:buNone/>
            </a:pPr>
            <a:r>
              <a:rPr lang="en-US" sz="1200" dirty="0">
                <a:solidFill>
                  <a:srgbClr val="E2E8F0"/>
                </a:solidFill>
                <a:latin typeface="Inter" panose="02000503000000020004" pitchFamily="2" charset="0"/>
                <a:ea typeface="Inter" panose="02000503000000020004" pitchFamily="2" charset="0"/>
              </a:rPr>
              <a:t>Compute ŷ = w·x + b for all inputs</a:t>
            </a:r>
            <a:endParaRPr lang="en-US" sz="1200" dirty="0">
              <a:latin typeface="Inter" panose="02000503000000020004" pitchFamily="2" charset="0"/>
              <a:ea typeface="Inter" panose="02000503000000020004" pitchFamily="2" charset="0"/>
            </a:endParaRPr>
          </a:p>
        </p:txBody>
      </p:sp>
      <p:sp>
        <p:nvSpPr>
          <p:cNvPr id="10" name="Shape 7"/>
          <p:cNvSpPr/>
          <p:nvPr/>
        </p:nvSpPr>
        <p:spPr>
          <a:xfrm>
            <a:off x="502920" y="1965960"/>
            <a:ext cx="365760" cy="365760"/>
          </a:xfrm>
          <a:prstGeom prst="rect">
            <a:avLst/>
          </a:prstGeom>
          <a:solidFill>
            <a:srgbClr val="6366F1"/>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11" name="Text 8"/>
          <p:cNvSpPr/>
          <p:nvPr/>
        </p:nvSpPr>
        <p:spPr>
          <a:xfrm>
            <a:off x="502920" y="19659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anose="02000503000000020004" pitchFamily="2" charset="0"/>
                <a:ea typeface="Inter" panose="02000503000000020004" pitchFamily="2" charset="0"/>
              </a:rPr>
              <a:t>2</a:t>
            </a:r>
            <a:endParaRPr lang="en-US" sz="1400" dirty="0">
              <a:latin typeface="Inter" panose="02000503000000020004" pitchFamily="2" charset="0"/>
              <a:ea typeface="Inter" panose="02000503000000020004" pitchFamily="2" charset="0"/>
            </a:endParaRPr>
          </a:p>
        </p:txBody>
      </p:sp>
      <p:sp>
        <p:nvSpPr>
          <p:cNvPr id="12" name="Text 9"/>
          <p:cNvSpPr/>
          <p:nvPr/>
        </p:nvSpPr>
        <p:spPr>
          <a:xfrm>
            <a:off x="960120" y="1984248"/>
            <a:ext cx="822960" cy="347472"/>
          </a:xfrm>
          <a:prstGeom prst="rect">
            <a:avLst/>
          </a:prstGeom>
          <a:noFill/>
          <a:ln/>
        </p:spPr>
        <p:txBody>
          <a:bodyPr wrap="square" lIns="0" tIns="0" rIns="0" bIns="0" rtlCol="0" anchor="ctr"/>
          <a:lstStyle/>
          <a:p>
            <a:pPr marL="0" indent="0">
              <a:buNone/>
            </a:pPr>
            <a:r>
              <a:rPr lang="en-US" sz="1300" b="1" dirty="0">
                <a:solidFill>
                  <a:srgbClr val="06B6D4"/>
                </a:solidFill>
                <a:latin typeface="Inter" panose="02000503000000020004" pitchFamily="2" charset="0"/>
                <a:ea typeface="Inter" panose="02000503000000020004" pitchFamily="2" charset="0"/>
              </a:rPr>
              <a:t>Loss — </a:t>
            </a:r>
            <a:endParaRPr lang="en-US" sz="1300" dirty="0">
              <a:latin typeface="Inter" panose="02000503000000020004" pitchFamily="2" charset="0"/>
              <a:ea typeface="Inter" panose="02000503000000020004" pitchFamily="2" charset="0"/>
            </a:endParaRPr>
          </a:p>
        </p:txBody>
      </p:sp>
      <p:sp>
        <p:nvSpPr>
          <p:cNvPr id="13" name="Text 10"/>
          <p:cNvSpPr/>
          <p:nvPr/>
        </p:nvSpPr>
        <p:spPr>
          <a:xfrm>
            <a:off x="1828800" y="1984248"/>
            <a:ext cx="2560320" cy="347472"/>
          </a:xfrm>
          <a:prstGeom prst="rect">
            <a:avLst/>
          </a:prstGeom>
          <a:noFill/>
          <a:ln/>
        </p:spPr>
        <p:txBody>
          <a:bodyPr wrap="square" lIns="0" tIns="0" rIns="0" bIns="0" rtlCol="0" anchor="ctr"/>
          <a:lstStyle/>
          <a:p>
            <a:pPr marL="0" indent="0">
              <a:buNone/>
            </a:pPr>
            <a:r>
              <a:rPr lang="en-US" sz="1200" dirty="0">
                <a:solidFill>
                  <a:srgbClr val="E2E8F0"/>
                </a:solidFill>
                <a:latin typeface="Inter" panose="02000503000000020004" pitchFamily="2" charset="0"/>
                <a:ea typeface="Inter" panose="02000503000000020004" pitchFamily="2" charset="0"/>
              </a:rPr>
              <a:t>Compute MSE over all predictions</a:t>
            </a:r>
            <a:endParaRPr lang="en-US" sz="1200" dirty="0">
              <a:latin typeface="Inter" panose="02000503000000020004" pitchFamily="2" charset="0"/>
              <a:ea typeface="Inter" panose="02000503000000020004" pitchFamily="2" charset="0"/>
            </a:endParaRPr>
          </a:p>
        </p:txBody>
      </p:sp>
      <p:sp>
        <p:nvSpPr>
          <p:cNvPr id="14" name="Shape 11"/>
          <p:cNvSpPr/>
          <p:nvPr/>
        </p:nvSpPr>
        <p:spPr>
          <a:xfrm>
            <a:off x="502920" y="2542032"/>
            <a:ext cx="365760" cy="365760"/>
          </a:xfrm>
          <a:prstGeom prst="rect">
            <a:avLst/>
          </a:prstGeom>
          <a:solidFill>
            <a:srgbClr val="6366F1"/>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15" name="Text 12"/>
          <p:cNvSpPr/>
          <p:nvPr/>
        </p:nvSpPr>
        <p:spPr>
          <a:xfrm>
            <a:off x="502920" y="254203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anose="02000503000000020004" pitchFamily="2" charset="0"/>
                <a:ea typeface="Inter" panose="02000503000000020004" pitchFamily="2" charset="0"/>
              </a:rPr>
              <a:t>3</a:t>
            </a:r>
            <a:endParaRPr lang="en-US" sz="1400" dirty="0">
              <a:latin typeface="Inter" panose="02000503000000020004" pitchFamily="2" charset="0"/>
              <a:ea typeface="Inter" panose="02000503000000020004" pitchFamily="2" charset="0"/>
            </a:endParaRPr>
          </a:p>
        </p:txBody>
      </p:sp>
      <p:sp>
        <p:nvSpPr>
          <p:cNvPr id="16" name="Text 13"/>
          <p:cNvSpPr/>
          <p:nvPr/>
        </p:nvSpPr>
        <p:spPr>
          <a:xfrm>
            <a:off x="960120" y="2560320"/>
            <a:ext cx="822960" cy="347472"/>
          </a:xfrm>
          <a:prstGeom prst="rect">
            <a:avLst/>
          </a:prstGeom>
          <a:noFill/>
          <a:ln/>
        </p:spPr>
        <p:txBody>
          <a:bodyPr wrap="square" lIns="0" tIns="0" rIns="0" bIns="0" rtlCol="0" anchor="ctr"/>
          <a:lstStyle/>
          <a:p>
            <a:pPr marL="0" indent="0">
              <a:buNone/>
            </a:pPr>
            <a:r>
              <a:rPr lang="en-US" sz="1300" b="1" dirty="0">
                <a:solidFill>
                  <a:srgbClr val="06B6D4"/>
                </a:solidFill>
                <a:latin typeface="Inter" panose="02000503000000020004" pitchFamily="2" charset="0"/>
                <a:ea typeface="Inter" panose="02000503000000020004" pitchFamily="2" charset="0"/>
              </a:rPr>
              <a:t>Gradient — </a:t>
            </a:r>
            <a:endParaRPr lang="en-US" sz="1300" dirty="0">
              <a:latin typeface="Inter" panose="02000503000000020004" pitchFamily="2" charset="0"/>
              <a:ea typeface="Inter" panose="02000503000000020004" pitchFamily="2" charset="0"/>
            </a:endParaRPr>
          </a:p>
        </p:txBody>
      </p:sp>
      <p:sp>
        <p:nvSpPr>
          <p:cNvPr id="17" name="Text 14"/>
          <p:cNvSpPr/>
          <p:nvPr/>
        </p:nvSpPr>
        <p:spPr>
          <a:xfrm>
            <a:off x="1828800" y="2560320"/>
            <a:ext cx="2560320" cy="347472"/>
          </a:xfrm>
          <a:prstGeom prst="rect">
            <a:avLst/>
          </a:prstGeom>
          <a:noFill/>
          <a:ln/>
        </p:spPr>
        <p:txBody>
          <a:bodyPr wrap="square" lIns="0" tIns="0" rIns="0" bIns="0" rtlCol="0" anchor="ctr"/>
          <a:lstStyle/>
          <a:p>
            <a:pPr marL="0" indent="0">
              <a:buNone/>
            </a:pPr>
            <a:r>
              <a:rPr lang="en-US" sz="1200" dirty="0">
                <a:solidFill>
                  <a:srgbClr val="E2E8F0"/>
                </a:solidFill>
                <a:latin typeface="Inter" panose="02000503000000020004" pitchFamily="2" charset="0"/>
                <a:ea typeface="Inter" panose="02000503000000020004" pitchFamily="2" charset="0"/>
              </a:rPr>
              <a:t>Compute ∂L/∂w and ∂L/∂b</a:t>
            </a:r>
            <a:endParaRPr lang="en-US" sz="1200" dirty="0">
              <a:latin typeface="Inter" panose="02000503000000020004" pitchFamily="2" charset="0"/>
              <a:ea typeface="Inter" panose="02000503000000020004" pitchFamily="2" charset="0"/>
            </a:endParaRPr>
          </a:p>
        </p:txBody>
      </p:sp>
      <p:sp>
        <p:nvSpPr>
          <p:cNvPr id="18" name="Shape 15"/>
          <p:cNvSpPr/>
          <p:nvPr/>
        </p:nvSpPr>
        <p:spPr>
          <a:xfrm>
            <a:off x="502920" y="3118104"/>
            <a:ext cx="365760" cy="365760"/>
          </a:xfrm>
          <a:prstGeom prst="rect">
            <a:avLst/>
          </a:prstGeom>
          <a:solidFill>
            <a:srgbClr val="6366F1"/>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19" name="Text 16"/>
          <p:cNvSpPr/>
          <p:nvPr/>
        </p:nvSpPr>
        <p:spPr>
          <a:xfrm>
            <a:off x="502920" y="311810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anose="02000503000000020004" pitchFamily="2" charset="0"/>
                <a:ea typeface="Inter" panose="02000503000000020004" pitchFamily="2" charset="0"/>
              </a:rPr>
              <a:t>4</a:t>
            </a:r>
            <a:endParaRPr lang="en-US" sz="1400" dirty="0">
              <a:latin typeface="Inter" panose="02000503000000020004" pitchFamily="2" charset="0"/>
              <a:ea typeface="Inter" panose="02000503000000020004" pitchFamily="2" charset="0"/>
            </a:endParaRPr>
          </a:p>
        </p:txBody>
      </p:sp>
      <p:sp>
        <p:nvSpPr>
          <p:cNvPr id="20" name="Text 17"/>
          <p:cNvSpPr/>
          <p:nvPr/>
        </p:nvSpPr>
        <p:spPr>
          <a:xfrm>
            <a:off x="960120" y="3136392"/>
            <a:ext cx="822960" cy="347472"/>
          </a:xfrm>
          <a:prstGeom prst="rect">
            <a:avLst/>
          </a:prstGeom>
          <a:noFill/>
          <a:ln/>
        </p:spPr>
        <p:txBody>
          <a:bodyPr wrap="square" lIns="0" tIns="0" rIns="0" bIns="0" rtlCol="0" anchor="ctr"/>
          <a:lstStyle/>
          <a:p>
            <a:pPr marL="0" indent="0">
              <a:buNone/>
            </a:pPr>
            <a:r>
              <a:rPr lang="en-US" sz="1300" b="1" dirty="0">
                <a:solidFill>
                  <a:srgbClr val="06B6D4"/>
                </a:solidFill>
                <a:latin typeface="Inter" panose="02000503000000020004" pitchFamily="2" charset="0"/>
                <a:ea typeface="Inter" panose="02000503000000020004" pitchFamily="2" charset="0"/>
              </a:rPr>
              <a:t>Update — </a:t>
            </a:r>
            <a:endParaRPr lang="en-US" sz="1300" dirty="0">
              <a:latin typeface="Inter" panose="02000503000000020004" pitchFamily="2" charset="0"/>
              <a:ea typeface="Inter" panose="02000503000000020004" pitchFamily="2" charset="0"/>
            </a:endParaRPr>
          </a:p>
        </p:txBody>
      </p:sp>
      <p:sp>
        <p:nvSpPr>
          <p:cNvPr id="21" name="Text 18"/>
          <p:cNvSpPr/>
          <p:nvPr/>
        </p:nvSpPr>
        <p:spPr>
          <a:xfrm>
            <a:off x="1828800" y="3136392"/>
            <a:ext cx="2560320" cy="347472"/>
          </a:xfrm>
          <a:prstGeom prst="rect">
            <a:avLst/>
          </a:prstGeom>
          <a:noFill/>
          <a:ln/>
        </p:spPr>
        <p:txBody>
          <a:bodyPr wrap="square" lIns="0" tIns="0" rIns="0" bIns="0" rtlCol="0" anchor="ctr"/>
          <a:lstStyle/>
          <a:p>
            <a:pPr marL="0" indent="0">
              <a:buNone/>
            </a:pPr>
            <a:r>
              <a:rPr lang="en-US" sz="1200" dirty="0">
                <a:solidFill>
                  <a:srgbClr val="E2E8F0"/>
                </a:solidFill>
                <a:latin typeface="Inter" panose="02000503000000020004" pitchFamily="2" charset="0"/>
                <a:ea typeface="Inter" panose="02000503000000020004" pitchFamily="2" charset="0"/>
              </a:rPr>
              <a:t>Apply gradient descent step</a:t>
            </a:r>
            <a:endParaRPr lang="en-US" sz="1200" dirty="0">
              <a:latin typeface="Inter" panose="02000503000000020004" pitchFamily="2" charset="0"/>
              <a:ea typeface="Inter" panose="02000503000000020004" pitchFamily="2" charset="0"/>
            </a:endParaRPr>
          </a:p>
        </p:txBody>
      </p:sp>
      <p:sp>
        <p:nvSpPr>
          <p:cNvPr id="22" name="Shape 19"/>
          <p:cNvSpPr/>
          <p:nvPr/>
        </p:nvSpPr>
        <p:spPr>
          <a:xfrm>
            <a:off x="502920" y="3694176"/>
            <a:ext cx="365760" cy="365760"/>
          </a:xfrm>
          <a:prstGeom prst="rect">
            <a:avLst/>
          </a:prstGeom>
          <a:solidFill>
            <a:srgbClr val="6366F1"/>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23" name="Text 20"/>
          <p:cNvSpPr/>
          <p:nvPr/>
        </p:nvSpPr>
        <p:spPr>
          <a:xfrm>
            <a:off x="502920" y="369417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anose="02000503000000020004" pitchFamily="2" charset="0"/>
                <a:ea typeface="Inter" panose="02000503000000020004" pitchFamily="2" charset="0"/>
              </a:rPr>
              <a:t>5</a:t>
            </a:r>
            <a:endParaRPr lang="en-US" sz="1400" dirty="0">
              <a:latin typeface="Inter" panose="02000503000000020004" pitchFamily="2" charset="0"/>
              <a:ea typeface="Inter" panose="02000503000000020004" pitchFamily="2" charset="0"/>
            </a:endParaRPr>
          </a:p>
        </p:txBody>
      </p:sp>
      <p:sp>
        <p:nvSpPr>
          <p:cNvPr id="24" name="Text 21"/>
          <p:cNvSpPr/>
          <p:nvPr/>
        </p:nvSpPr>
        <p:spPr>
          <a:xfrm>
            <a:off x="960120" y="3712464"/>
            <a:ext cx="822960" cy="347472"/>
          </a:xfrm>
          <a:prstGeom prst="rect">
            <a:avLst/>
          </a:prstGeom>
          <a:noFill/>
          <a:ln/>
        </p:spPr>
        <p:txBody>
          <a:bodyPr wrap="square" lIns="0" tIns="0" rIns="0" bIns="0" rtlCol="0" anchor="ctr"/>
          <a:lstStyle/>
          <a:p>
            <a:pPr marL="0" indent="0">
              <a:buNone/>
            </a:pPr>
            <a:r>
              <a:rPr lang="en-US" sz="1300" b="1" dirty="0">
                <a:solidFill>
                  <a:srgbClr val="06B6D4"/>
                </a:solidFill>
                <a:latin typeface="Inter" panose="02000503000000020004" pitchFamily="2" charset="0"/>
                <a:ea typeface="Inter" panose="02000503000000020004" pitchFamily="2" charset="0"/>
              </a:rPr>
              <a:t>Repeat — </a:t>
            </a:r>
            <a:endParaRPr lang="en-US" sz="1300" dirty="0">
              <a:latin typeface="Inter" panose="02000503000000020004" pitchFamily="2" charset="0"/>
              <a:ea typeface="Inter" panose="02000503000000020004" pitchFamily="2" charset="0"/>
            </a:endParaRPr>
          </a:p>
        </p:txBody>
      </p:sp>
      <p:sp>
        <p:nvSpPr>
          <p:cNvPr id="25" name="Text 22"/>
          <p:cNvSpPr/>
          <p:nvPr/>
        </p:nvSpPr>
        <p:spPr>
          <a:xfrm>
            <a:off x="1828800" y="3712464"/>
            <a:ext cx="2560320" cy="347472"/>
          </a:xfrm>
          <a:prstGeom prst="rect">
            <a:avLst/>
          </a:prstGeom>
          <a:noFill/>
          <a:ln/>
        </p:spPr>
        <p:txBody>
          <a:bodyPr wrap="square" lIns="0" tIns="0" rIns="0" bIns="0" rtlCol="0" anchor="ctr"/>
          <a:lstStyle/>
          <a:p>
            <a:pPr marL="0" indent="0">
              <a:buNone/>
            </a:pPr>
            <a:r>
              <a:rPr lang="en-US" sz="1200" dirty="0">
                <a:solidFill>
                  <a:srgbClr val="E2E8F0"/>
                </a:solidFill>
                <a:latin typeface="Inter" panose="02000503000000020004" pitchFamily="2" charset="0"/>
                <a:ea typeface="Inter" panose="02000503000000020004" pitchFamily="2" charset="0"/>
              </a:rPr>
              <a:t>Loop until convergence (epochs)</a:t>
            </a:r>
            <a:endParaRPr lang="en-US" sz="1200" dirty="0">
              <a:latin typeface="Inter" panose="02000503000000020004" pitchFamily="2" charset="0"/>
              <a:ea typeface="Inter" panose="02000503000000020004" pitchFamily="2" charset="0"/>
            </a:endParaRPr>
          </a:p>
        </p:txBody>
      </p:sp>
      <p:sp>
        <p:nvSpPr>
          <p:cNvPr id="26" name="Text 23"/>
          <p:cNvSpPr/>
          <p:nvPr/>
        </p:nvSpPr>
        <p:spPr>
          <a:xfrm>
            <a:off x="502920" y="4091940"/>
            <a:ext cx="3931920" cy="274320"/>
          </a:xfrm>
          <a:prstGeom prst="rect">
            <a:avLst/>
          </a:prstGeom>
          <a:noFill/>
          <a:ln/>
        </p:spPr>
        <p:txBody>
          <a:bodyPr wrap="square" lIns="0" tIns="0" rIns="0" bIns="0" rtlCol="0" anchor="ctr"/>
          <a:lstStyle/>
          <a:p>
            <a:pPr marL="0" indent="0">
              <a:buNone/>
            </a:pPr>
            <a:r>
              <a:rPr lang="en-US" sz="1000" i="1" dirty="0">
                <a:solidFill>
                  <a:srgbClr val="94A3B8"/>
                </a:solidFill>
                <a:latin typeface="Inter" panose="02000503000000020004" pitchFamily="2" charset="0"/>
                <a:ea typeface="Inter" panose="02000503000000020004" pitchFamily="2" charset="0"/>
              </a:rPr>
              <a:t>Convergence: loss stops improving meaningfully.</a:t>
            </a:r>
            <a:endParaRPr lang="en-US" sz="1000" dirty="0">
              <a:latin typeface="Inter" panose="02000503000000020004" pitchFamily="2" charset="0"/>
              <a:ea typeface="Inter" panose="02000503000000020004" pitchFamily="2" charset="0"/>
            </a:endParaRPr>
          </a:p>
        </p:txBody>
      </p:sp>
      <p:sp>
        <p:nvSpPr>
          <p:cNvPr id="29" name="Shape 26"/>
          <p:cNvSpPr/>
          <p:nvPr/>
        </p:nvSpPr>
        <p:spPr>
          <a:xfrm>
            <a:off x="3200400" y="4663440"/>
            <a:ext cx="2743200" cy="292608"/>
          </a:xfrm>
          <a:prstGeom prst="roundRect">
            <a:avLst>
              <a:gd name="adj" fmla="val 31250"/>
            </a:avLst>
          </a:prstGeom>
          <a:solidFill>
            <a:srgbClr val="10B981">
              <a:alpha val="20000"/>
            </a:srgbClr>
          </a:solidFill>
          <a:ln w="12700">
            <a:solidFill>
              <a:srgbClr val="10B981"/>
            </a:solidFill>
            <a:prstDash val="solid"/>
          </a:ln>
        </p:spPr>
        <p:txBody>
          <a:bodyPr/>
          <a:lstStyle/>
          <a:p>
            <a:endParaRPr lang="en-US">
              <a:latin typeface="Inter" panose="02000503000000020004" pitchFamily="2" charset="0"/>
              <a:ea typeface="Inter" panose="02000503000000020004" pitchFamily="2" charset="0"/>
            </a:endParaRPr>
          </a:p>
        </p:txBody>
      </p:sp>
      <p:sp>
        <p:nvSpPr>
          <p:cNvPr id="30" name="Text 27"/>
          <p:cNvSpPr/>
          <p:nvPr/>
        </p:nvSpPr>
        <p:spPr>
          <a:xfrm>
            <a:off x="3200400" y="4663440"/>
            <a:ext cx="274320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Inter" panose="02000503000000020004" pitchFamily="2" charset="0"/>
                <a:ea typeface="Inter" panose="02000503000000020004" pitchFamily="2" charset="0"/>
              </a:rPr>
              <a:t>One full pass through data = one epoch</a:t>
            </a:r>
            <a:endParaRPr lang="en-US" sz="950" dirty="0">
              <a:latin typeface="Inter" panose="02000503000000020004" pitchFamily="2" charset="0"/>
              <a:ea typeface="Inter" panose="02000503000000020004" pitchFamily="2" charset="0"/>
            </a:endParaRPr>
          </a:p>
        </p:txBody>
      </p:sp>
      <p:sp>
        <p:nvSpPr>
          <p:cNvPr id="31" name="Text 28"/>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latin typeface="Inter" panose="02000503000000020004" pitchFamily="2" charset="0"/>
                <a:ea typeface="Inter" panose="02000503000000020004" pitchFamily="2" charset="0"/>
              </a:rPr>
              <a:t>LinearMind</a:t>
            </a:r>
            <a:endParaRPr lang="en-US" sz="900" dirty="0">
              <a:latin typeface="Inter" panose="02000503000000020004" pitchFamily="2" charset="0"/>
              <a:ea typeface="Inter" panose="02000503000000020004" pitchFamily="2" charset="0"/>
            </a:endParaRPr>
          </a:p>
        </p:txBody>
      </p:sp>
      <p:sp>
        <p:nvSpPr>
          <p:cNvPr id="32" name="Text 29"/>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latin typeface="Inter" panose="02000503000000020004" pitchFamily="2" charset="0"/>
                <a:ea typeface="Inter" panose="02000503000000020004" pitchFamily="2" charset="0"/>
              </a:rPr>
              <a:t>11</a:t>
            </a:r>
            <a:endParaRPr lang="en-US" sz="900" dirty="0">
              <a:latin typeface="Inter" panose="02000503000000020004" pitchFamily="2" charset="0"/>
              <a:ea typeface="Inter" panose="02000503000000020004" pitchFamily="2" charset="0"/>
            </a:endParaRPr>
          </a:p>
        </p:txBody>
      </p:sp>
      <p:sp>
        <p:nvSpPr>
          <p:cNvPr id="33" name="Shape 30"/>
          <p:cNvSpPr/>
          <p:nvPr/>
        </p:nvSpPr>
        <p:spPr>
          <a:xfrm>
            <a:off x="274320" y="4873752"/>
            <a:ext cx="8595360" cy="0"/>
          </a:xfrm>
          <a:prstGeom prst="line">
            <a:avLst/>
          </a:prstGeom>
          <a:noFill/>
          <a:ln w="635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pic>
        <p:nvPicPr>
          <p:cNvPr id="40" name="Picture 39">
            <a:extLst>
              <a:ext uri="{FF2B5EF4-FFF2-40B4-BE49-F238E27FC236}">
                <a16:creationId xmlns:a16="http://schemas.microsoft.com/office/drawing/2014/main" id="{70F426D0-1E9E-3B21-8012-811C9F1C3B1A}"/>
              </a:ext>
            </a:extLst>
          </p:cNvPr>
          <p:cNvPicPr>
            <a:picLocks noChangeAspect="1"/>
          </p:cNvPicPr>
          <p:nvPr/>
        </p:nvPicPr>
        <p:blipFill>
          <a:blip r:embed="rId4"/>
          <a:stretch>
            <a:fillRect/>
          </a:stretch>
        </p:blipFill>
        <p:spPr>
          <a:xfrm>
            <a:off x="4389120" y="2009312"/>
            <a:ext cx="4297680" cy="10654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201168"/>
            <a:ext cx="8412480" cy="502920"/>
          </a:xfrm>
          <a:prstGeom prst="rect">
            <a:avLst/>
          </a:prstGeom>
          <a:noFill/>
          <a:ln/>
        </p:spPr>
        <p:txBody>
          <a:bodyPr wrap="square" lIns="0" tIns="0" rIns="0" bIns="0" rtlCol="0" anchor="ctr"/>
          <a:lstStyle/>
          <a:p>
            <a:pPr marL="0" indent="0">
              <a:buNone/>
            </a:pPr>
            <a:r>
              <a:rPr lang="en-US" sz="2600" b="1" dirty="0">
                <a:solidFill>
                  <a:srgbClr val="818CF8"/>
                </a:solidFill>
                <a:latin typeface="Inter" panose="02000503000000020004" pitchFamily="2" charset="0"/>
                <a:ea typeface="Inter" panose="02000503000000020004" pitchFamily="2" charset="0"/>
                <a:cs typeface="Calibri" pitchFamily="34" charset="-120"/>
              </a:rPr>
              <a:t>Failure Cases — When a Line Isn't Enough</a:t>
            </a:r>
            <a:endParaRPr lang="en-US" sz="2600" dirty="0">
              <a:latin typeface="Inter" panose="02000503000000020004" pitchFamily="2" charset="0"/>
              <a:ea typeface="Inter" panose="02000503000000020004" pitchFamily="2" charset="0"/>
            </a:endParaRPr>
          </a:p>
        </p:txBody>
      </p:sp>
      <p:sp>
        <p:nvSpPr>
          <p:cNvPr id="4" name="Shape 1"/>
          <p:cNvSpPr/>
          <p:nvPr/>
        </p:nvSpPr>
        <p:spPr>
          <a:xfrm>
            <a:off x="365760" y="822960"/>
            <a:ext cx="3977640" cy="1737360"/>
          </a:xfrm>
          <a:prstGeom prst="rect">
            <a:avLst/>
          </a:prstGeom>
          <a:solidFill>
            <a:srgbClr val="0F0F1E"/>
          </a:solidFill>
          <a:ln w="12700">
            <a:solidFill>
              <a:srgbClr val="EF4444"/>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5" name="Shape 2"/>
          <p:cNvSpPr/>
          <p:nvPr/>
        </p:nvSpPr>
        <p:spPr>
          <a:xfrm>
            <a:off x="365760" y="822960"/>
            <a:ext cx="64008" cy="1737360"/>
          </a:xfrm>
          <a:prstGeom prst="rect">
            <a:avLst/>
          </a:prstGeom>
          <a:solidFill>
            <a:srgbClr val="EF4444"/>
          </a:solidFill>
          <a:ln/>
        </p:spPr>
        <p:txBody>
          <a:bodyPr/>
          <a:lstStyle/>
          <a:p>
            <a:endParaRPr lang="en-US">
              <a:latin typeface="Inter" panose="02000503000000020004" pitchFamily="2" charset="0"/>
              <a:ea typeface="Inter" panose="02000503000000020004" pitchFamily="2" charset="0"/>
            </a:endParaRPr>
          </a:p>
        </p:txBody>
      </p:sp>
      <p:sp>
        <p:nvSpPr>
          <p:cNvPr id="6" name="Text 3"/>
          <p:cNvSpPr/>
          <p:nvPr/>
        </p:nvSpPr>
        <p:spPr>
          <a:xfrm>
            <a:off x="530352" y="914400"/>
            <a:ext cx="3657600" cy="365760"/>
          </a:xfrm>
          <a:prstGeom prst="rect">
            <a:avLst/>
          </a:prstGeom>
          <a:noFill/>
          <a:ln/>
        </p:spPr>
        <p:txBody>
          <a:bodyPr wrap="square" lIns="0" tIns="0" rIns="0" bIns="0" rtlCol="0" anchor="ctr"/>
          <a:lstStyle/>
          <a:p>
            <a:pPr marL="0" indent="0">
              <a:buNone/>
            </a:pPr>
            <a:r>
              <a:rPr lang="en-US" sz="1400" b="1" dirty="0">
                <a:solidFill>
                  <a:srgbClr val="EF4444"/>
                </a:solidFill>
                <a:latin typeface="Inter" panose="02000503000000020004" pitchFamily="2" charset="0"/>
                <a:ea typeface="Inter" panose="02000503000000020004" pitchFamily="2" charset="0"/>
              </a:rPr>
              <a:t>Outliers</a:t>
            </a:r>
            <a:endParaRPr lang="en-US" sz="1400" dirty="0">
              <a:latin typeface="Inter" panose="02000503000000020004" pitchFamily="2" charset="0"/>
              <a:ea typeface="Inter" panose="02000503000000020004" pitchFamily="2" charset="0"/>
            </a:endParaRPr>
          </a:p>
        </p:txBody>
      </p:sp>
      <p:sp>
        <p:nvSpPr>
          <p:cNvPr id="7" name="Text 4"/>
          <p:cNvSpPr/>
          <p:nvPr/>
        </p:nvSpPr>
        <p:spPr>
          <a:xfrm>
            <a:off x="530352" y="1325880"/>
            <a:ext cx="3657600" cy="1097280"/>
          </a:xfrm>
          <a:prstGeom prst="rect">
            <a:avLst/>
          </a:prstGeom>
          <a:noFill/>
          <a:ln/>
        </p:spPr>
        <p:txBody>
          <a:bodyPr wrap="square" lIns="0" tIns="0" rIns="0" bIns="0" rtlCol="0" anchor="ctr"/>
          <a:lstStyle/>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A single extreme point can drag the regression line significantly, distorting predictions for all other data.</a:t>
            </a:r>
            <a:endParaRPr lang="en-US" sz="1200" dirty="0">
              <a:latin typeface="Inter" panose="02000503000000020004" pitchFamily="2" charset="0"/>
              <a:ea typeface="Inter" panose="02000503000000020004" pitchFamily="2" charset="0"/>
            </a:endParaRPr>
          </a:p>
        </p:txBody>
      </p:sp>
      <p:sp>
        <p:nvSpPr>
          <p:cNvPr id="8" name="Shape 5"/>
          <p:cNvSpPr/>
          <p:nvPr/>
        </p:nvSpPr>
        <p:spPr>
          <a:xfrm>
            <a:off x="4617720" y="822960"/>
            <a:ext cx="3977640" cy="1737360"/>
          </a:xfrm>
          <a:prstGeom prst="rect">
            <a:avLst/>
          </a:prstGeom>
          <a:solidFill>
            <a:srgbClr val="0F0F1E"/>
          </a:solidFill>
          <a:ln w="12700">
            <a:solidFill>
              <a:srgbClr val="F59E0B"/>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9" name="Shape 6"/>
          <p:cNvSpPr/>
          <p:nvPr/>
        </p:nvSpPr>
        <p:spPr>
          <a:xfrm>
            <a:off x="4617720" y="822960"/>
            <a:ext cx="64008" cy="1737360"/>
          </a:xfrm>
          <a:prstGeom prst="rect">
            <a:avLst/>
          </a:prstGeom>
          <a:solidFill>
            <a:srgbClr val="F59E0B"/>
          </a:solidFill>
          <a:ln/>
        </p:spPr>
        <p:txBody>
          <a:bodyPr/>
          <a:lstStyle/>
          <a:p>
            <a:endParaRPr lang="en-US">
              <a:latin typeface="Inter" panose="02000503000000020004" pitchFamily="2" charset="0"/>
              <a:ea typeface="Inter" panose="02000503000000020004" pitchFamily="2" charset="0"/>
            </a:endParaRPr>
          </a:p>
        </p:txBody>
      </p:sp>
      <p:sp>
        <p:nvSpPr>
          <p:cNvPr id="10" name="Text 7"/>
          <p:cNvSpPr/>
          <p:nvPr/>
        </p:nvSpPr>
        <p:spPr>
          <a:xfrm>
            <a:off x="4782312" y="914400"/>
            <a:ext cx="3657600" cy="365760"/>
          </a:xfrm>
          <a:prstGeom prst="rect">
            <a:avLst/>
          </a:prstGeom>
          <a:noFill/>
          <a:ln/>
        </p:spPr>
        <p:txBody>
          <a:bodyPr wrap="square" lIns="0" tIns="0" rIns="0" bIns="0" rtlCol="0" anchor="ctr"/>
          <a:lstStyle/>
          <a:p>
            <a:pPr marL="0" indent="0">
              <a:buNone/>
            </a:pPr>
            <a:r>
              <a:rPr lang="en-US" sz="1400" b="1" dirty="0">
                <a:solidFill>
                  <a:srgbClr val="F59E0B"/>
                </a:solidFill>
                <a:latin typeface="Inter" panose="02000503000000020004" pitchFamily="2" charset="0"/>
                <a:ea typeface="Inter" panose="02000503000000020004" pitchFamily="2" charset="0"/>
              </a:rPr>
              <a:t>Nonlinearity</a:t>
            </a:r>
            <a:endParaRPr lang="en-US" sz="1400" dirty="0">
              <a:latin typeface="Inter" panose="02000503000000020004" pitchFamily="2" charset="0"/>
              <a:ea typeface="Inter" panose="02000503000000020004" pitchFamily="2" charset="0"/>
            </a:endParaRPr>
          </a:p>
        </p:txBody>
      </p:sp>
      <p:sp>
        <p:nvSpPr>
          <p:cNvPr id="11" name="Text 8"/>
          <p:cNvSpPr/>
          <p:nvPr/>
        </p:nvSpPr>
        <p:spPr>
          <a:xfrm>
            <a:off x="4782312" y="1325880"/>
            <a:ext cx="3657600" cy="1097280"/>
          </a:xfrm>
          <a:prstGeom prst="rect">
            <a:avLst/>
          </a:prstGeom>
          <a:noFill/>
          <a:ln/>
        </p:spPr>
        <p:txBody>
          <a:bodyPr wrap="square" lIns="0" tIns="0" rIns="0" bIns="0" rtlCol="0" anchor="ctr"/>
          <a:lstStyle/>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If the true relationship curves, a straight line will systematically under- or over-predict in different regions.</a:t>
            </a:r>
            <a:endParaRPr lang="en-US" sz="1200" dirty="0">
              <a:latin typeface="Inter" panose="02000503000000020004" pitchFamily="2" charset="0"/>
              <a:ea typeface="Inter" panose="02000503000000020004" pitchFamily="2" charset="0"/>
            </a:endParaRPr>
          </a:p>
        </p:txBody>
      </p:sp>
      <p:sp>
        <p:nvSpPr>
          <p:cNvPr id="12" name="Shape 9"/>
          <p:cNvSpPr/>
          <p:nvPr/>
        </p:nvSpPr>
        <p:spPr>
          <a:xfrm>
            <a:off x="365760" y="2743200"/>
            <a:ext cx="3977640" cy="1737360"/>
          </a:xfrm>
          <a:prstGeom prst="rect">
            <a:avLst/>
          </a:prstGeom>
          <a:solidFill>
            <a:srgbClr val="0F0F1E"/>
          </a:solidFill>
          <a:ln w="12700">
            <a:solidFill>
              <a:srgbClr val="A855F7"/>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13" name="Shape 10"/>
          <p:cNvSpPr/>
          <p:nvPr/>
        </p:nvSpPr>
        <p:spPr>
          <a:xfrm>
            <a:off x="365760" y="2743200"/>
            <a:ext cx="64008" cy="1737360"/>
          </a:xfrm>
          <a:prstGeom prst="rect">
            <a:avLst/>
          </a:prstGeom>
          <a:solidFill>
            <a:srgbClr val="A855F7"/>
          </a:solidFill>
          <a:ln/>
        </p:spPr>
        <p:txBody>
          <a:bodyPr/>
          <a:lstStyle/>
          <a:p>
            <a:endParaRPr lang="en-US">
              <a:latin typeface="Inter" panose="02000503000000020004" pitchFamily="2" charset="0"/>
              <a:ea typeface="Inter" panose="02000503000000020004" pitchFamily="2" charset="0"/>
            </a:endParaRPr>
          </a:p>
        </p:txBody>
      </p:sp>
      <p:sp>
        <p:nvSpPr>
          <p:cNvPr id="14" name="Text 11"/>
          <p:cNvSpPr/>
          <p:nvPr/>
        </p:nvSpPr>
        <p:spPr>
          <a:xfrm>
            <a:off x="530352" y="2834640"/>
            <a:ext cx="3657600" cy="365760"/>
          </a:xfrm>
          <a:prstGeom prst="rect">
            <a:avLst/>
          </a:prstGeom>
          <a:noFill/>
          <a:ln/>
        </p:spPr>
        <p:txBody>
          <a:bodyPr wrap="square" lIns="0" tIns="0" rIns="0" bIns="0" rtlCol="0" anchor="ctr"/>
          <a:lstStyle/>
          <a:p>
            <a:pPr marL="0" indent="0">
              <a:buNone/>
            </a:pPr>
            <a:r>
              <a:rPr lang="en-US" sz="1400" b="1" dirty="0">
                <a:solidFill>
                  <a:srgbClr val="A855F7"/>
                </a:solidFill>
                <a:latin typeface="Inter" panose="02000503000000020004" pitchFamily="2" charset="0"/>
                <a:ea typeface="Inter" panose="02000503000000020004" pitchFamily="2" charset="0"/>
              </a:rPr>
              <a:t>Heteroscedasticity</a:t>
            </a:r>
            <a:endParaRPr lang="en-US" sz="1400" dirty="0">
              <a:latin typeface="Inter" panose="02000503000000020004" pitchFamily="2" charset="0"/>
              <a:ea typeface="Inter" panose="02000503000000020004" pitchFamily="2" charset="0"/>
            </a:endParaRPr>
          </a:p>
        </p:txBody>
      </p:sp>
      <p:sp>
        <p:nvSpPr>
          <p:cNvPr id="15" name="Text 12"/>
          <p:cNvSpPr/>
          <p:nvPr/>
        </p:nvSpPr>
        <p:spPr>
          <a:xfrm>
            <a:off x="530352" y="3246120"/>
            <a:ext cx="3657600" cy="1097280"/>
          </a:xfrm>
          <a:prstGeom prst="rect">
            <a:avLst/>
          </a:prstGeom>
          <a:noFill/>
          <a:ln/>
        </p:spPr>
        <p:txBody>
          <a:bodyPr wrap="square" lIns="0" tIns="0" rIns="0" bIns="0" rtlCol="0" anchor="ctr"/>
          <a:lstStyle/>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When the spread of residuals increases with x, standard linear regression becomes unreliable.</a:t>
            </a:r>
            <a:endParaRPr lang="en-US" sz="1200" dirty="0">
              <a:latin typeface="Inter" panose="02000503000000020004" pitchFamily="2" charset="0"/>
              <a:ea typeface="Inter" panose="02000503000000020004" pitchFamily="2" charset="0"/>
            </a:endParaRPr>
          </a:p>
        </p:txBody>
      </p:sp>
      <p:sp>
        <p:nvSpPr>
          <p:cNvPr id="16" name="Shape 13"/>
          <p:cNvSpPr/>
          <p:nvPr/>
        </p:nvSpPr>
        <p:spPr>
          <a:xfrm>
            <a:off x="4617720" y="2743200"/>
            <a:ext cx="3977640" cy="1737360"/>
          </a:xfrm>
          <a:prstGeom prst="rect">
            <a:avLst/>
          </a:prstGeom>
          <a:solidFill>
            <a:srgbClr val="0F0F1E"/>
          </a:solidFill>
          <a:ln w="12700">
            <a:solidFill>
              <a:srgbClr val="06B6D4"/>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17" name="Shape 14"/>
          <p:cNvSpPr/>
          <p:nvPr/>
        </p:nvSpPr>
        <p:spPr>
          <a:xfrm>
            <a:off x="4617720" y="2743200"/>
            <a:ext cx="64008" cy="1737360"/>
          </a:xfrm>
          <a:prstGeom prst="rect">
            <a:avLst/>
          </a:prstGeom>
          <a:solidFill>
            <a:srgbClr val="06B6D4"/>
          </a:solidFill>
          <a:ln/>
        </p:spPr>
        <p:txBody>
          <a:bodyPr/>
          <a:lstStyle/>
          <a:p>
            <a:endParaRPr lang="en-US">
              <a:latin typeface="Inter" panose="02000503000000020004" pitchFamily="2" charset="0"/>
              <a:ea typeface="Inter" panose="02000503000000020004" pitchFamily="2" charset="0"/>
            </a:endParaRPr>
          </a:p>
        </p:txBody>
      </p:sp>
      <p:sp>
        <p:nvSpPr>
          <p:cNvPr id="18" name="Text 15"/>
          <p:cNvSpPr/>
          <p:nvPr/>
        </p:nvSpPr>
        <p:spPr>
          <a:xfrm>
            <a:off x="4782312" y="2834640"/>
            <a:ext cx="3657600" cy="365760"/>
          </a:xfrm>
          <a:prstGeom prst="rect">
            <a:avLst/>
          </a:prstGeom>
          <a:noFill/>
          <a:ln/>
        </p:spPr>
        <p:txBody>
          <a:bodyPr wrap="square" lIns="0" tIns="0" rIns="0" bIns="0" rtlCol="0" anchor="ctr"/>
          <a:lstStyle/>
          <a:p>
            <a:pPr marL="0" indent="0">
              <a:buNone/>
            </a:pPr>
            <a:r>
              <a:rPr lang="en-US" sz="1400" b="1" dirty="0">
                <a:solidFill>
                  <a:srgbClr val="06B6D4"/>
                </a:solidFill>
                <a:latin typeface="Inter" panose="02000503000000020004" pitchFamily="2" charset="0"/>
                <a:ea typeface="Inter" panose="02000503000000020004" pitchFamily="2" charset="0"/>
              </a:rPr>
              <a:t>Multicollinearity</a:t>
            </a:r>
            <a:endParaRPr lang="en-US" sz="1400" dirty="0">
              <a:latin typeface="Inter" panose="02000503000000020004" pitchFamily="2" charset="0"/>
              <a:ea typeface="Inter" panose="02000503000000020004" pitchFamily="2" charset="0"/>
            </a:endParaRPr>
          </a:p>
        </p:txBody>
      </p:sp>
      <p:sp>
        <p:nvSpPr>
          <p:cNvPr id="19" name="Text 16"/>
          <p:cNvSpPr/>
          <p:nvPr/>
        </p:nvSpPr>
        <p:spPr>
          <a:xfrm>
            <a:off x="4782312" y="3246120"/>
            <a:ext cx="3657600" cy="1097280"/>
          </a:xfrm>
          <a:prstGeom prst="rect">
            <a:avLst/>
          </a:prstGeom>
          <a:noFill/>
          <a:ln/>
        </p:spPr>
        <p:txBody>
          <a:bodyPr wrap="square" lIns="0" tIns="0" rIns="0" bIns="0" rtlCol="0" anchor="ctr"/>
          <a:lstStyle/>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In multi-feature setups, highly correlated inputs cause unstable, unreliable coefficient estimates.</a:t>
            </a:r>
            <a:endParaRPr lang="en-US" sz="1200" dirty="0">
              <a:latin typeface="Inter" panose="02000503000000020004" pitchFamily="2" charset="0"/>
              <a:ea typeface="Inter" panose="02000503000000020004" pitchFamily="2" charset="0"/>
            </a:endParaRPr>
          </a:p>
        </p:txBody>
      </p:sp>
      <p:sp>
        <p:nvSpPr>
          <p:cNvPr id="22" name="Text 19"/>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latin typeface="Inter" panose="02000503000000020004" pitchFamily="2" charset="0"/>
                <a:ea typeface="Inter" panose="02000503000000020004" pitchFamily="2" charset="0"/>
              </a:rPr>
              <a:t>LinearMind</a:t>
            </a:r>
            <a:endParaRPr lang="en-US" sz="900" dirty="0">
              <a:latin typeface="Inter" panose="02000503000000020004" pitchFamily="2" charset="0"/>
              <a:ea typeface="Inter" panose="02000503000000020004" pitchFamily="2" charset="0"/>
            </a:endParaRPr>
          </a:p>
        </p:txBody>
      </p:sp>
      <p:sp>
        <p:nvSpPr>
          <p:cNvPr id="23" name="Text 20"/>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latin typeface="Inter" panose="02000503000000020004" pitchFamily="2" charset="0"/>
                <a:ea typeface="Inter" panose="02000503000000020004" pitchFamily="2" charset="0"/>
              </a:rPr>
              <a:t>12</a:t>
            </a:r>
            <a:endParaRPr lang="en-US" sz="900" dirty="0">
              <a:latin typeface="Inter" panose="02000503000000020004" pitchFamily="2" charset="0"/>
              <a:ea typeface="Inter" panose="02000503000000020004" pitchFamily="2" charset="0"/>
            </a:endParaRPr>
          </a:p>
        </p:txBody>
      </p:sp>
      <p:sp>
        <p:nvSpPr>
          <p:cNvPr id="24" name="Shape 21"/>
          <p:cNvSpPr/>
          <p:nvPr/>
        </p:nvSpPr>
        <p:spPr>
          <a:xfrm>
            <a:off x="274320" y="4873752"/>
            <a:ext cx="8595360" cy="0"/>
          </a:xfrm>
          <a:prstGeom prst="line">
            <a:avLst/>
          </a:prstGeom>
          <a:noFill/>
          <a:ln w="635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201168"/>
            <a:ext cx="8412480" cy="502920"/>
          </a:xfrm>
          <a:prstGeom prst="rect">
            <a:avLst/>
          </a:prstGeom>
          <a:noFill/>
          <a:ln/>
        </p:spPr>
        <p:txBody>
          <a:bodyPr wrap="square" lIns="0" tIns="0" rIns="0" bIns="0" rtlCol="0" anchor="ctr"/>
          <a:lstStyle/>
          <a:p>
            <a:pPr marL="0" indent="0">
              <a:buNone/>
            </a:pPr>
            <a:r>
              <a:rPr lang="en-US" sz="2600" b="1" dirty="0">
                <a:solidFill>
                  <a:srgbClr val="818CF8"/>
                </a:solidFill>
                <a:latin typeface="Calibri" pitchFamily="34" charset="0"/>
                <a:ea typeface="Calibri" pitchFamily="34" charset="-122"/>
                <a:cs typeface="Calibri" pitchFamily="34" charset="-120"/>
              </a:rPr>
              <a:t>Multivariable Regression — More Features</a:t>
            </a:r>
            <a:endParaRPr lang="en-US" sz="2600" dirty="0"/>
          </a:p>
        </p:txBody>
      </p:sp>
      <p:sp>
        <p:nvSpPr>
          <p:cNvPr id="4" name="Shape 1"/>
          <p:cNvSpPr/>
          <p:nvPr/>
        </p:nvSpPr>
        <p:spPr>
          <a:xfrm>
            <a:off x="365760" y="822960"/>
            <a:ext cx="4206240" cy="3657600"/>
          </a:xfrm>
          <a:prstGeom prst="rect">
            <a:avLst/>
          </a:prstGeom>
          <a:solidFill>
            <a:srgbClr val="111120"/>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p>
        </p:txBody>
      </p:sp>
      <p:sp>
        <p:nvSpPr>
          <p:cNvPr id="5" name="Shape 2"/>
          <p:cNvSpPr/>
          <p:nvPr/>
        </p:nvSpPr>
        <p:spPr>
          <a:xfrm>
            <a:off x="502920" y="960120"/>
            <a:ext cx="3922776" cy="685800"/>
          </a:xfrm>
          <a:prstGeom prst="rect">
            <a:avLst/>
          </a:prstGeom>
          <a:solidFill>
            <a:srgbClr val="0F0F1E"/>
          </a:solidFill>
          <a:ln w="12700">
            <a:solidFill>
              <a:srgbClr val="A855F7"/>
            </a:solidFill>
            <a:prstDash val="solid"/>
          </a:ln>
          <a:effectLst>
            <a:outerShdw blurRad="152400" dist="38100" dir="8100000" algn="bl" rotWithShape="0">
              <a:srgbClr val="000000">
                <a:alpha val="35000"/>
              </a:srgbClr>
            </a:outerShdw>
          </a:effectLst>
        </p:spPr>
        <p:txBody>
          <a:bodyPr/>
          <a:lstStyle/>
          <a:p>
            <a:endParaRPr lang="en-US"/>
          </a:p>
        </p:txBody>
      </p:sp>
      <p:sp>
        <p:nvSpPr>
          <p:cNvPr id="6" name="Text 3"/>
          <p:cNvSpPr/>
          <p:nvPr/>
        </p:nvSpPr>
        <p:spPr>
          <a:xfrm>
            <a:off x="502920" y="960120"/>
            <a:ext cx="448056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ŷ = w₁x₁ + w₂x₂ + … + wₙxₙ + b</a:t>
            </a:r>
            <a:endParaRPr lang="en-US" sz="1400" dirty="0"/>
          </a:p>
        </p:txBody>
      </p:sp>
      <p:sp>
        <p:nvSpPr>
          <p:cNvPr id="7" name="Text 4"/>
          <p:cNvSpPr/>
          <p:nvPr/>
        </p:nvSpPr>
        <p:spPr>
          <a:xfrm>
            <a:off x="548640" y="1691640"/>
            <a:ext cx="3877056" cy="2651760"/>
          </a:xfrm>
          <a:prstGeom prst="rect">
            <a:avLst/>
          </a:prstGeom>
          <a:noFill/>
          <a:ln/>
        </p:spPr>
        <p:txBody>
          <a:bodyPr wrap="square" lIns="0" tIns="0" rIns="0" bIns="0" rtlCol="0" anchor="ctr"/>
          <a:lstStyle/>
          <a:p>
            <a:pPr marL="0" indent="0">
              <a:lnSpc>
                <a:spcPct val="130000"/>
              </a:lnSpc>
              <a:buNone/>
            </a:pPr>
            <a:r>
              <a:rPr lang="en-US" sz="600" dirty="0">
                <a:solidFill>
                  <a:srgbClr val="000000"/>
                </a:solidFill>
              </a:rPr>
              <a:t> </a:t>
            </a:r>
            <a:endParaRPr lang="en-US" sz="1300" dirty="0"/>
          </a:p>
          <a:p>
            <a:pPr marL="0" indent="0">
              <a:lnSpc>
                <a:spcPct val="130000"/>
              </a:lnSpc>
              <a:buNone/>
            </a:pPr>
            <a:r>
              <a:rPr lang="en-US" sz="1300" b="1" dirty="0">
                <a:solidFill>
                  <a:srgbClr val="818CF8"/>
                </a:solidFill>
              </a:rPr>
              <a:t>Each weight</a:t>
            </a:r>
            <a:r>
              <a:rPr lang="en-US" sz="1300" dirty="0">
                <a:solidFill>
                  <a:srgbClr val="E2E8F0"/>
                </a:solidFill>
              </a:rPr>
              <a:t> wᵢ reflects feature xᵢ's contribution</a:t>
            </a:r>
            <a:endParaRPr lang="en-US" sz="1300" dirty="0"/>
          </a:p>
          <a:p>
            <a:pPr marL="0" indent="0">
              <a:lnSpc>
                <a:spcPct val="130000"/>
              </a:lnSpc>
              <a:buNone/>
            </a:pPr>
            <a:r>
              <a:rPr lang="en-US" sz="1300" dirty="0">
                <a:solidFill>
                  <a:srgbClr val="E2E8F0"/>
                </a:solidFill>
              </a:rPr>
              <a:t>to the prediction, holding all others constant.</a:t>
            </a:r>
            <a:endParaRPr lang="en-US" sz="1300" dirty="0"/>
          </a:p>
          <a:p>
            <a:pPr marL="0" indent="0">
              <a:lnSpc>
                <a:spcPct val="130000"/>
              </a:lnSpc>
              <a:buNone/>
            </a:pPr>
            <a:r>
              <a:rPr lang="en-US" sz="600" dirty="0">
                <a:solidFill>
                  <a:srgbClr val="000000"/>
                </a:solidFill>
              </a:rPr>
              <a:t> </a:t>
            </a:r>
            <a:endParaRPr lang="en-US" sz="1300" dirty="0"/>
          </a:p>
          <a:p>
            <a:pPr marL="0" indent="0">
              <a:lnSpc>
                <a:spcPct val="130000"/>
              </a:lnSpc>
              <a:buNone/>
            </a:pPr>
            <a:r>
              <a:rPr lang="en-US" sz="1300" b="1" dirty="0">
                <a:solidFill>
                  <a:srgbClr val="A855F7"/>
                </a:solidFill>
              </a:rPr>
              <a:t>More power</a:t>
            </a:r>
            <a:r>
              <a:rPr lang="en-US" sz="1300" dirty="0">
                <a:solidFill>
                  <a:srgbClr val="E2E8F0"/>
                </a:solidFill>
              </a:rPr>
              <a:t> — but also more responsibility:</a:t>
            </a:r>
            <a:endParaRPr lang="en-US" sz="1300" dirty="0"/>
          </a:p>
          <a:p>
            <a:pPr marL="0" indent="0">
              <a:lnSpc>
                <a:spcPct val="130000"/>
              </a:lnSpc>
              <a:buNone/>
            </a:pPr>
            <a:r>
              <a:rPr lang="en-US" sz="1300" dirty="0">
                <a:solidFill>
                  <a:srgbClr val="E2E8F0"/>
                </a:solidFill>
              </a:rPr>
              <a:t>• Careful evaluation needed</a:t>
            </a:r>
            <a:endParaRPr lang="en-US" sz="1300" dirty="0"/>
          </a:p>
          <a:p>
            <a:pPr marL="0" indent="0">
              <a:lnSpc>
                <a:spcPct val="130000"/>
              </a:lnSpc>
              <a:buNone/>
            </a:pPr>
            <a:r>
              <a:rPr lang="en-US" sz="1300" dirty="0">
                <a:solidFill>
                  <a:srgbClr val="E2E8F0"/>
                </a:solidFill>
              </a:rPr>
              <a:t>• Feature scaling matters</a:t>
            </a:r>
            <a:endParaRPr lang="en-US" sz="1300" dirty="0"/>
          </a:p>
          <a:p>
            <a:pPr marL="0" indent="0">
              <a:lnSpc>
                <a:spcPct val="130000"/>
              </a:lnSpc>
              <a:buNone/>
            </a:pPr>
            <a:r>
              <a:rPr lang="en-US" sz="1300" dirty="0">
                <a:solidFill>
                  <a:srgbClr val="E2E8F0"/>
                </a:solidFill>
              </a:rPr>
              <a:t>• Risk of overfitting increases</a:t>
            </a:r>
            <a:endParaRPr lang="en-US" sz="1300" dirty="0"/>
          </a:p>
          <a:p>
            <a:pPr marL="0" indent="0">
              <a:lnSpc>
                <a:spcPct val="130000"/>
              </a:lnSpc>
              <a:buNone/>
            </a:pPr>
            <a:r>
              <a:rPr lang="en-US" sz="1300" dirty="0">
                <a:solidFill>
                  <a:srgbClr val="E2E8F0"/>
                </a:solidFill>
              </a:rPr>
              <a:t>• Interpretability can decline</a:t>
            </a:r>
            <a:endParaRPr lang="en-US" sz="1300" dirty="0"/>
          </a:p>
        </p:txBody>
      </p:sp>
      <p:sp>
        <p:nvSpPr>
          <p:cNvPr id="12" name="Text 9"/>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rPr>
              <a:t>LinearMind</a:t>
            </a:r>
            <a:endParaRPr lang="en-US" sz="900" dirty="0"/>
          </a:p>
        </p:txBody>
      </p:sp>
      <p:sp>
        <p:nvSpPr>
          <p:cNvPr id="13" name="Text 10"/>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rPr>
              <a:t>13</a:t>
            </a:r>
            <a:endParaRPr lang="en-US" sz="900" dirty="0"/>
          </a:p>
        </p:txBody>
      </p:sp>
      <p:sp>
        <p:nvSpPr>
          <p:cNvPr id="14" name="Shape 11"/>
          <p:cNvSpPr/>
          <p:nvPr/>
        </p:nvSpPr>
        <p:spPr>
          <a:xfrm>
            <a:off x="274320" y="4873752"/>
            <a:ext cx="8595360" cy="0"/>
          </a:xfrm>
          <a:prstGeom prst="line">
            <a:avLst/>
          </a:prstGeom>
          <a:noFill/>
          <a:ln w="6350">
            <a:solidFill>
              <a:srgbClr val="222226"/>
            </a:solidFill>
            <a:prstDash val="solid"/>
          </a:ln>
        </p:spPr>
        <p:txBody>
          <a:bodyPr/>
          <a:lstStyle/>
          <a:p>
            <a:endParaRPr lang="en-US"/>
          </a:p>
        </p:txBody>
      </p:sp>
      <p:pic>
        <p:nvPicPr>
          <p:cNvPr id="18" name="Picture 17">
            <a:extLst>
              <a:ext uri="{FF2B5EF4-FFF2-40B4-BE49-F238E27FC236}">
                <a16:creationId xmlns:a16="http://schemas.microsoft.com/office/drawing/2014/main" id="{535BB8F3-CFAA-1260-2057-45C5B790994C}"/>
              </a:ext>
            </a:extLst>
          </p:cNvPr>
          <p:cNvPicPr>
            <a:picLocks noChangeAspect="1"/>
          </p:cNvPicPr>
          <p:nvPr/>
        </p:nvPicPr>
        <p:blipFill>
          <a:blip r:embed="rId4"/>
          <a:srcRect l="4783" t="-1" r="1883" b="2431"/>
          <a:stretch>
            <a:fillRect/>
          </a:stretch>
        </p:blipFill>
        <p:spPr>
          <a:xfrm>
            <a:off x="5077968" y="1234440"/>
            <a:ext cx="3627120" cy="26974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201168"/>
            <a:ext cx="8412480" cy="502920"/>
          </a:xfrm>
          <a:prstGeom prst="rect">
            <a:avLst/>
          </a:prstGeom>
          <a:noFill/>
          <a:ln/>
        </p:spPr>
        <p:txBody>
          <a:bodyPr wrap="square" lIns="0" tIns="0" rIns="0" bIns="0" rtlCol="0" anchor="ctr"/>
          <a:lstStyle/>
          <a:p>
            <a:pPr marL="0" indent="0">
              <a:buNone/>
            </a:pPr>
            <a:r>
              <a:rPr lang="en-US" sz="2600" b="1" dirty="0">
                <a:solidFill>
                  <a:srgbClr val="818CF8"/>
                </a:solidFill>
                <a:latin typeface="Inter" panose="02000503000000020004" pitchFamily="2" charset="0"/>
                <a:ea typeface="Inter" panose="02000503000000020004" pitchFamily="2" charset="0"/>
                <a:cs typeface="Calibri" pitchFamily="34" charset="-120"/>
              </a:rPr>
              <a:t>Evaluation Metrics — Beyond MSE</a:t>
            </a:r>
            <a:endParaRPr lang="en-US" sz="2600" dirty="0">
              <a:latin typeface="Inter" panose="02000503000000020004" pitchFamily="2" charset="0"/>
              <a:ea typeface="Inter" panose="02000503000000020004" pitchFamily="2" charset="0"/>
            </a:endParaRPr>
          </a:p>
        </p:txBody>
      </p:sp>
      <p:sp>
        <p:nvSpPr>
          <p:cNvPr id="4" name="Shape 1"/>
          <p:cNvSpPr/>
          <p:nvPr/>
        </p:nvSpPr>
        <p:spPr>
          <a:xfrm>
            <a:off x="365760" y="822960"/>
            <a:ext cx="3977640" cy="1737360"/>
          </a:xfrm>
          <a:prstGeom prst="rect">
            <a:avLst/>
          </a:prstGeom>
          <a:solidFill>
            <a:srgbClr val="0F0F1E"/>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p>
        </p:txBody>
      </p:sp>
      <p:sp>
        <p:nvSpPr>
          <p:cNvPr id="5" name="Shape 2"/>
          <p:cNvSpPr/>
          <p:nvPr/>
        </p:nvSpPr>
        <p:spPr>
          <a:xfrm>
            <a:off x="365760" y="822960"/>
            <a:ext cx="3977640" cy="91440"/>
          </a:xfrm>
          <a:prstGeom prst="rect">
            <a:avLst/>
          </a:prstGeom>
          <a:solidFill>
            <a:srgbClr val="6366F1"/>
          </a:solidFill>
          <a:ln/>
        </p:spPr>
        <p:txBody>
          <a:bodyPr/>
          <a:lstStyle/>
          <a:p>
            <a:endParaRPr lang="en-US"/>
          </a:p>
        </p:txBody>
      </p:sp>
      <p:sp>
        <p:nvSpPr>
          <p:cNvPr id="6" name="Text 3"/>
          <p:cNvSpPr/>
          <p:nvPr/>
        </p:nvSpPr>
        <p:spPr>
          <a:xfrm>
            <a:off x="502920" y="987552"/>
            <a:ext cx="1097280" cy="384048"/>
          </a:xfrm>
          <a:prstGeom prst="rect">
            <a:avLst/>
          </a:prstGeom>
          <a:noFill/>
          <a:ln/>
        </p:spPr>
        <p:txBody>
          <a:bodyPr wrap="square" lIns="0" tIns="0" rIns="0" bIns="0" rtlCol="0" anchor="ctr"/>
          <a:lstStyle/>
          <a:p>
            <a:pPr marL="0" indent="0">
              <a:buNone/>
            </a:pPr>
            <a:r>
              <a:rPr lang="en-US" sz="1800" b="1" dirty="0">
                <a:solidFill>
                  <a:srgbClr val="6366F1"/>
                </a:solidFill>
                <a:latin typeface="Inter" panose="02000503000000020004" pitchFamily="2" charset="0"/>
                <a:ea typeface="Inter" panose="02000503000000020004" pitchFamily="2" charset="0"/>
              </a:rPr>
              <a:t>MAE</a:t>
            </a:r>
            <a:endParaRPr lang="en-US" sz="1800" dirty="0">
              <a:latin typeface="Inter" panose="02000503000000020004" pitchFamily="2" charset="0"/>
              <a:ea typeface="Inter" panose="02000503000000020004" pitchFamily="2" charset="0"/>
            </a:endParaRPr>
          </a:p>
        </p:txBody>
      </p:sp>
      <p:sp>
        <p:nvSpPr>
          <p:cNvPr id="7" name="Text 4"/>
          <p:cNvSpPr/>
          <p:nvPr/>
        </p:nvSpPr>
        <p:spPr>
          <a:xfrm>
            <a:off x="1645920" y="1024128"/>
            <a:ext cx="2560320" cy="347472"/>
          </a:xfrm>
          <a:prstGeom prst="rect">
            <a:avLst/>
          </a:prstGeom>
          <a:noFill/>
          <a:ln/>
        </p:spPr>
        <p:txBody>
          <a:bodyPr wrap="square" lIns="0" tIns="0" rIns="0" bIns="0" rtlCol="0" anchor="ctr"/>
          <a:lstStyle/>
          <a:p>
            <a:pPr marL="0" indent="0">
              <a:buNone/>
            </a:pPr>
            <a:r>
              <a:rPr lang="en-US" sz="1100" i="1" dirty="0">
                <a:solidFill>
                  <a:srgbClr val="94A3B8"/>
                </a:solidFill>
                <a:latin typeface="Inter" panose="02000503000000020004" pitchFamily="2" charset="0"/>
                <a:ea typeface="Inter" panose="02000503000000020004" pitchFamily="2" charset="0"/>
              </a:rPr>
              <a:t>Mean Absolute Error</a:t>
            </a:r>
            <a:endParaRPr lang="en-US" sz="1100" dirty="0">
              <a:latin typeface="Inter" panose="02000503000000020004" pitchFamily="2" charset="0"/>
              <a:ea typeface="Inter" panose="02000503000000020004" pitchFamily="2" charset="0"/>
            </a:endParaRPr>
          </a:p>
        </p:txBody>
      </p:sp>
      <p:sp>
        <p:nvSpPr>
          <p:cNvPr id="8" name="Text 5"/>
          <p:cNvSpPr/>
          <p:nvPr/>
        </p:nvSpPr>
        <p:spPr>
          <a:xfrm>
            <a:off x="502920" y="1417320"/>
            <a:ext cx="3657600" cy="32004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MAE = (1/n) · Σ|yᵢ − ŷᵢ|</a:t>
            </a:r>
            <a:endParaRPr lang="en-US" sz="1100" dirty="0"/>
          </a:p>
        </p:txBody>
      </p:sp>
      <p:sp>
        <p:nvSpPr>
          <p:cNvPr id="9" name="Text 6"/>
          <p:cNvSpPr/>
          <p:nvPr/>
        </p:nvSpPr>
        <p:spPr>
          <a:xfrm>
            <a:off x="502920" y="1783080"/>
            <a:ext cx="3657600" cy="685800"/>
          </a:xfrm>
          <a:prstGeom prst="rect">
            <a:avLst/>
          </a:prstGeom>
          <a:noFill/>
          <a:ln/>
        </p:spPr>
        <p:txBody>
          <a:bodyPr wrap="square" lIns="0" tIns="0" rIns="0" bIns="0" rtlCol="0" anchor="ctr"/>
          <a:lstStyle/>
          <a:p>
            <a:pPr marL="0" indent="0">
              <a:lnSpc>
                <a:spcPct val="120000"/>
              </a:lnSpc>
              <a:buNone/>
            </a:pPr>
            <a:r>
              <a:rPr lang="en-US" sz="1100" dirty="0">
                <a:solidFill>
                  <a:srgbClr val="E2E8F0"/>
                </a:solidFill>
                <a:latin typeface="Inter" panose="02000503000000020004" pitchFamily="2" charset="0"/>
                <a:ea typeface="Inter" panose="02000503000000020004" pitchFamily="2" charset="0"/>
              </a:rPr>
              <a:t>Use when: When large errors are not disproportionately worse; more interpretable units.</a:t>
            </a:r>
            <a:endParaRPr lang="en-US" sz="1100" dirty="0">
              <a:latin typeface="Inter" panose="02000503000000020004" pitchFamily="2" charset="0"/>
              <a:ea typeface="Inter" panose="02000503000000020004" pitchFamily="2" charset="0"/>
            </a:endParaRPr>
          </a:p>
        </p:txBody>
      </p:sp>
      <p:sp>
        <p:nvSpPr>
          <p:cNvPr id="10" name="Shape 7"/>
          <p:cNvSpPr/>
          <p:nvPr/>
        </p:nvSpPr>
        <p:spPr>
          <a:xfrm>
            <a:off x="4617720" y="822960"/>
            <a:ext cx="3977640" cy="1737360"/>
          </a:xfrm>
          <a:prstGeom prst="rect">
            <a:avLst/>
          </a:prstGeom>
          <a:solidFill>
            <a:srgbClr val="0F0F1E"/>
          </a:solidFill>
          <a:ln w="12700">
            <a:solidFill>
              <a:srgbClr val="A855F7"/>
            </a:solidFill>
            <a:prstDash val="solid"/>
          </a:ln>
          <a:effectLst>
            <a:outerShdw blurRad="152400" dist="38100" dir="8100000" algn="bl" rotWithShape="0">
              <a:srgbClr val="000000">
                <a:alpha val="35000"/>
              </a:srgbClr>
            </a:outerShdw>
          </a:effectLst>
        </p:spPr>
        <p:txBody>
          <a:bodyPr/>
          <a:lstStyle/>
          <a:p>
            <a:endParaRPr lang="en-US"/>
          </a:p>
        </p:txBody>
      </p:sp>
      <p:sp>
        <p:nvSpPr>
          <p:cNvPr id="11" name="Shape 8"/>
          <p:cNvSpPr/>
          <p:nvPr/>
        </p:nvSpPr>
        <p:spPr>
          <a:xfrm>
            <a:off x="4617720" y="822960"/>
            <a:ext cx="3977640" cy="91440"/>
          </a:xfrm>
          <a:prstGeom prst="rect">
            <a:avLst/>
          </a:prstGeom>
          <a:solidFill>
            <a:srgbClr val="A855F7"/>
          </a:solidFill>
          <a:ln/>
        </p:spPr>
        <p:txBody>
          <a:bodyPr/>
          <a:lstStyle/>
          <a:p>
            <a:endParaRPr lang="en-US"/>
          </a:p>
        </p:txBody>
      </p:sp>
      <p:sp>
        <p:nvSpPr>
          <p:cNvPr id="12" name="Text 9"/>
          <p:cNvSpPr/>
          <p:nvPr/>
        </p:nvSpPr>
        <p:spPr>
          <a:xfrm>
            <a:off x="4754880" y="987552"/>
            <a:ext cx="1097280" cy="384048"/>
          </a:xfrm>
          <a:prstGeom prst="rect">
            <a:avLst/>
          </a:prstGeom>
          <a:noFill/>
          <a:ln/>
        </p:spPr>
        <p:txBody>
          <a:bodyPr wrap="square" lIns="0" tIns="0" rIns="0" bIns="0" rtlCol="0" anchor="ctr"/>
          <a:lstStyle/>
          <a:p>
            <a:pPr marL="0" indent="0">
              <a:buNone/>
            </a:pPr>
            <a:r>
              <a:rPr lang="en-US" sz="1800" b="1" dirty="0">
                <a:solidFill>
                  <a:srgbClr val="A855F7"/>
                </a:solidFill>
                <a:latin typeface="Inter" panose="02000503000000020004" pitchFamily="2" charset="0"/>
                <a:ea typeface="Inter" panose="02000503000000020004" pitchFamily="2" charset="0"/>
              </a:rPr>
              <a:t>MSE</a:t>
            </a:r>
            <a:endParaRPr lang="en-US" sz="1800" dirty="0">
              <a:latin typeface="Inter" panose="02000503000000020004" pitchFamily="2" charset="0"/>
              <a:ea typeface="Inter" panose="02000503000000020004" pitchFamily="2" charset="0"/>
            </a:endParaRPr>
          </a:p>
        </p:txBody>
      </p:sp>
      <p:sp>
        <p:nvSpPr>
          <p:cNvPr id="13" name="Text 10"/>
          <p:cNvSpPr/>
          <p:nvPr/>
        </p:nvSpPr>
        <p:spPr>
          <a:xfrm>
            <a:off x="5897880" y="1024128"/>
            <a:ext cx="2560320" cy="347472"/>
          </a:xfrm>
          <a:prstGeom prst="rect">
            <a:avLst/>
          </a:prstGeom>
          <a:noFill/>
          <a:ln/>
        </p:spPr>
        <p:txBody>
          <a:bodyPr wrap="square" lIns="0" tIns="0" rIns="0" bIns="0" rtlCol="0" anchor="ctr"/>
          <a:lstStyle/>
          <a:p>
            <a:pPr marL="0" indent="0">
              <a:buNone/>
            </a:pPr>
            <a:r>
              <a:rPr lang="en-US" sz="1100" i="1" dirty="0">
                <a:solidFill>
                  <a:srgbClr val="94A3B8"/>
                </a:solidFill>
                <a:latin typeface="Inter" panose="02000503000000020004" pitchFamily="2" charset="0"/>
                <a:ea typeface="Inter" panose="02000503000000020004" pitchFamily="2" charset="0"/>
              </a:rPr>
              <a:t>Mean Squared Error</a:t>
            </a:r>
            <a:endParaRPr lang="en-US" sz="1100" dirty="0">
              <a:latin typeface="Inter" panose="02000503000000020004" pitchFamily="2" charset="0"/>
              <a:ea typeface="Inter" panose="02000503000000020004" pitchFamily="2" charset="0"/>
            </a:endParaRPr>
          </a:p>
        </p:txBody>
      </p:sp>
      <p:sp>
        <p:nvSpPr>
          <p:cNvPr id="14" name="Text 11"/>
          <p:cNvSpPr/>
          <p:nvPr/>
        </p:nvSpPr>
        <p:spPr>
          <a:xfrm>
            <a:off x="4754880" y="1417320"/>
            <a:ext cx="3657600" cy="32004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MSE = (1/n) · Σ(yᵢ − ŷᵢ)²</a:t>
            </a:r>
            <a:endParaRPr lang="en-US" sz="1100" dirty="0"/>
          </a:p>
        </p:txBody>
      </p:sp>
      <p:sp>
        <p:nvSpPr>
          <p:cNvPr id="15" name="Text 12"/>
          <p:cNvSpPr/>
          <p:nvPr/>
        </p:nvSpPr>
        <p:spPr>
          <a:xfrm>
            <a:off x="4754880" y="1783080"/>
            <a:ext cx="3657600" cy="685800"/>
          </a:xfrm>
          <a:prstGeom prst="rect">
            <a:avLst/>
          </a:prstGeom>
          <a:noFill/>
          <a:ln/>
        </p:spPr>
        <p:txBody>
          <a:bodyPr wrap="square" lIns="0" tIns="0" rIns="0" bIns="0" rtlCol="0" anchor="ctr"/>
          <a:lstStyle/>
          <a:p>
            <a:pPr marL="0" indent="0">
              <a:lnSpc>
                <a:spcPct val="120000"/>
              </a:lnSpc>
              <a:buNone/>
            </a:pPr>
            <a:r>
              <a:rPr lang="en-US" sz="1100" dirty="0">
                <a:solidFill>
                  <a:srgbClr val="E2E8F0"/>
                </a:solidFill>
                <a:latin typeface="Inter" panose="02000503000000020004" pitchFamily="2" charset="0"/>
                <a:ea typeface="Inter" panose="02000503000000020004" pitchFamily="2" charset="0"/>
              </a:rPr>
              <a:t>Use when: Optimisation target; penalises large errors more.</a:t>
            </a:r>
            <a:endParaRPr lang="en-US" sz="1100" dirty="0">
              <a:latin typeface="Inter" panose="02000503000000020004" pitchFamily="2" charset="0"/>
              <a:ea typeface="Inter" panose="02000503000000020004" pitchFamily="2" charset="0"/>
            </a:endParaRPr>
          </a:p>
        </p:txBody>
      </p:sp>
      <p:sp>
        <p:nvSpPr>
          <p:cNvPr id="16" name="Shape 13"/>
          <p:cNvSpPr/>
          <p:nvPr/>
        </p:nvSpPr>
        <p:spPr>
          <a:xfrm>
            <a:off x="365760" y="2743200"/>
            <a:ext cx="3977640" cy="1737360"/>
          </a:xfrm>
          <a:prstGeom prst="rect">
            <a:avLst/>
          </a:prstGeom>
          <a:solidFill>
            <a:srgbClr val="0F0F1E"/>
          </a:solidFill>
          <a:ln w="12700">
            <a:solidFill>
              <a:srgbClr val="06B6D4"/>
            </a:solidFill>
            <a:prstDash val="solid"/>
          </a:ln>
          <a:effectLst>
            <a:outerShdw blurRad="152400" dist="38100" dir="8100000" algn="bl" rotWithShape="0">
              <a:srgbClr val="000000">
                <a:alpha val="35000"/>
              </a:srgbClr>
            </a:outerShdw>
          </a:effectLst>
        </p:spPr>
        <p:txBody>
          <a:bodyPr/>
          <a:lstStyle/>
          <a:p>
            <a:endParaRPr lang="en-US"/>
          </a:p>
        </p:txBody>
      </p:sp>
      <p:sp>
        <p:nvSpPr>
          <p:cNvPr id="17" name="Shape 14"/>
          <p:cNvSpPr/>
          <p:nvPr/>
        </p:nvSpPr>
        <p:spPr>
          <a:xfrm>
            <a:off x="365760" y="2743200"/>
            <a:ext cx="3977640" cy="91440"/>
          </a:xfrm>
          <a:prstGeom prst="rect">
            <a:avLst/>
          </a:prstGeom>
          <a:solidFill>
            <a:srgbClr val="06B6D4"/>
          </a:solidFill>
          <a:ln/>
        </p:spPr>
        <p:txBody>
          <a:bodyPr/>
          <a:lstStyle/>
          <a:p>
            <a:endParaRPr lang="en-US"/>
          </a:p>
        </p:txBody>
      </p:sp>
      <p:sp>
        <p:nvSpPr>
          <p:cNvPr id="18" name="Text 15"/>
          <p:cNvSpPr/>
          <p:nvPr/>
        </p:nvSpPr>
        <p:spPr>
          <a:xfrm>
            <a:off x="502920" y="2907792"/>
            <a:ext cx="1097280" cy="384048"/>
          </a:xfrm>
          <a:prstGeom prst="rect">
            <a:avLst/>
          </a:prstGeom>
          <a:noFill/>
          <a:ln/>
        </p:spPr>
        <p:txBody>
          <a:bodyPr wrap="square" lIns="0" tIns="0" rIns="0" bIns="0" rtlCol="0" anchor="ctr"/>
          <a:lstStyle/>
          <a:p>
            <a:pPr marL="0" indent="0">
              <a:buNone/>
            </a:pPr>
            <a:r>
              <a:rPr lang="en-US" sz="1800" b="1" dirty="0">
                <a:solidFill>
                  <a:srgbClr val="06B6D4"/>
                </a:solidFill>
                <a:latin typeface="Inter" panose="02000503000000020004" pitchFamily="2" charset="0"/>
                <a:ea typeface="Inter" panose="02000503000000020004" pitchFamily="2" charset="0"/>
              </a:rPr>
              <a:t>RMSE</a:t>
            </a:r>
            <a:endParaRPr lang="en-US" sz="1800" dirty="0">
              <a:latin typeface="Inter" panose="02000503000000020004" pitchFamily="2" charset="0"/>
              <a:ea typeface="Inter" panose="02000503000000020004" pitchFamily="2" charset="0"/>
            </a:endParaRPr>
          </a:p>
        </p:txBody>
      </p:sp>
      <p:sp>
        <p:nvSpPr>
          <p:cNvPr id="19" name="Text 16"/>
          <p:cNvSpPr/>
          <p:nvPr/>
        </p:nvSpPr>
        <p:spPr>
          <a:xfrm>
            <a:off x="1645920" y="2944368"/>
            <a:ext cx="2560320" cy="347472"/>
          </a:xfrm>
          <a:prstGeom prst="rect">
            <a:avLst/>
          </a:prstGeom>
          <a:noFill/>
          <a:ln/>
        </p:spPr>
        <p:txBody>
          <a:bodyPr wrap="square" lIns="0" tIns="0" rIns="0" bIns="0" rtlCol="0" anchor="ctr"/>
          <a:lstStyle/>
          <a:p>
            <a:pPr marL="0" indent="0">
              <a:buNone/>
            </a:pPr>
            <a:r>
              <a:rPr lang="en-US" sz="1100" i="1" dirty="0">
                <a:solidFill>
                  <a:srgbClr val="94A3B8"/>
                </a:solidFill>
                <a:latin typeface="Inter" panose="02000503000000020004" pitchFamily="2" charset="0"/>
                <a:ea typeface="Inter" panose="02000503000000020004" pitchFamily="2" charset="0"/>
              </a:rPr>
              <a:t>Root Mean Squared Error</a:t>
            </a:r>
            <a:endParaRPr lang="en-US" sz="1100" dirty="0">
              <a:latin typeface="Inter" panose="02000503000000020004" pitchFamily="2" charset="0"/>
              <a:ea typeface="Inter" panose="02000503000000020004" pitchFamily="2" charset="0"/>
            </a:endParaRPr>
          </a:p>
        </p:txBody>
      </p:sp>
      <p:sp>
        <p:nvSpPr>
          <p:cNvPr id="20" name="Text 17"/>
          <p:cNvSpPr/>
          <p:nvPr/>
        </p:nvSpPr>
        <p:spPr>
          <a:xfrm>
            <a:off x="502920" y="3337560"/>
            <a:ext cx="3657600" cy="32004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RMSE = √MSE</a:t>
            </a:r>
            <a:endParaRPr lang="en-US" sz="1100" dirty="0"/>
          </a:p>
        </p:txBody>
      </p:sp>
      <p:sp>
        <p:nvSpPr>
          <p:cNvPr id="21" name="Text 18"/>
          <p:cNvSpPr/>
          <p:nvPr/>
        </p:nvSpPr>
        <p:spPr>
          <a:xfrm>
            <a:off x="502920" y="3703320"/>
            <a:ext cx="3657600" cy="685800"/>
          </a:xfrm>
          <a:prstGeom prst="rect">
            <a:avLst/>
          </a:prstGeom>
          <a:noFill/>
          <a:ln/>
        </p:spPr>
        <p:txBody>
          <a:bodyPr wrap="square" lIns="0" tIns="0" rIns="0" bIns="0" rtlCol="0" anchor="ctr"/>
          <a:lstStyle/>
          <a:p>
            <a:pPr marL="0" indent="0">
              <a:lnSpc>
                <a:spcPct val="120000"/>
              </a:lnSpc>
              <a:buNone/>
            </a:pPr>
            <a:r>
              <a:rPr lang="en-US" sz="1100" dirty="0">
                <a:solidFill>
                  <a:srgbClr val="E2E8F0"/>
                </a:solidFill>
                <a:latin typeface="Inter" panose="02000503000000020004" pitchFamily="2" charset="0"/>
                <a:ea typeface="Inter" panose="02000503000000020004" pitchFamily="2" charset="0"/>
              </a:rPr>
              <a:t>Use when: Same units as target variable — easier to interpret than MSE.</a:t>
            </a:r>
            <a:endParaRPr lang="en-US" sz="1100" dirty="0">
              <a:latin typeface="Inter" panose="02000503000000020004" pitchFamily="2" charset="0"/>
              <a:ea typeface="Inter" panose="02000503000000020004" pitchFamily="2" charset="0"/>
            </a:endParaRPr>
          </a:p>
        </p:txBody>
      </p:sp>
      <p:sp>
        <p:nvSpPr>
          <p:cNvPr id="22" name="Shape 19"/>
          <p:cNvSpPr/>
          <p:nvPr/>
        </p:nvSpPr>
        <p:spPr>
          <a:xfrm>
            <a:off x="4617720" y="2743200"/>
            <a:ext cx="3977640" cy="1737360"/>
          </a:xfrm>
          <a:prstGeom prst="rect">
            <a:avLst/>
          </a:prstGeom>
          <a:solidFill>
            <a:srgbClr val="0F0F1E"/>
          </a:solidFill>
          <a:ln w="12700">
            <a:solidFill>
              <a:srgbClr val="10B981"/>
            </a:solidFill>
            <a:prstDash val="solid"/>
          </a:ln>
          <a:effectLst>
            <a:outerShdw blurRad="152400" dist="38100" dir="8100000" algn="bl" rotWithShape="0">
              <a:srgbClr val="000000">
                <a:alpha val="35000"/>
              </a:srgbClr>
            </a:outerShdw>
          </a:effectLst>
        </p:spPr>
        <p:txBody>
          <a:bodyPr/>
          <a:lstStyle/>
          <a:p>
            <a:endParaRPr lang="en-US"/>
          </a:p>
        </p:txBody>
      </p:sp>
      <p:sp>
        <p:nvSpPr>
          <p:cNvPr id="23" name="Shape 20"/>
          <p:cNvSpPr/>
          <p:nvPr/>
        </p:nvSpPr>
        <p:spPr>
          <a:xfrm>
            <a:off x="4617720" y="2743200"/>
            <a:ext cx="3977640" cy="91440"/>
          </a:xfrm>
          <a:prstGeom prst="rect">
            <a:avLst/>
          </a:prstGeom>
          <a:solidFill>
            <a:srgbClr val="10B981"/>
          </a:solidFill>
          <a:ln/>
        </p:spPr>
        <p:txBody>
          <a:bodyPr/>
          <a:lstStyle/>
          <a:p>
            <a:endParaRPr lang="en-US"/>
          </a:p>
        </p:txBody>
      </p:sp>
      <p:sp>
        <p:nvSpPr>
          <p:cNvPr id="24" name="Text 21"/>
          <p:cNvSpPr/>
          <p:nvPr/>
        </p:nvSpPr>
        <p:spPr>
          <a:xfrm>
            <a:off x="4754880" y="2907792"/>
            <a:ext cx="1097280" cy="384048"/>
          </a:xfrm>
          <a:prstGeom prst="rect">
            <a:avLst/>
          </a:prstGeom>
          <a:noFill/>
          <a:ln/>
        </p:spPr>
        <p:txBody>
          <a:bodyPr wrap="square" lIns="0" tIns="0" rIns="0" bIns="0" rtlCol="0" anchor="ctr"/>
          <a:lstStyle/>
          <a:p>
            <a:pPr marL="0" indent="0">
              <a:buNone/>
            </a:pPr>
            <a:r>
              <a:rPr lang="en-US" sz="1800" b="1" dirty="0">
                <a:solidFill>
                  <a:srgbClr val="10B981"/>
                </a:solidFill>
                <a:latin typeface="Inter" panose="02000503000000020004" pitchFamily="2" charset="0"/>
                <a:ea typeface="Inter" panose="02000503000000020004" pitchFamily="2" charset="0"/>
              </a:rPr>
              <a:t>R²</a:t>
            </a:r>
            <a:endParaRPr lang="en-US" sz="1800" dirty="0">
              <a:latin typeface="Inter" panose="02000503000000020004" pitchFamily="2" charset="0"/>
              <a:ea typeface="Inter" panose="02000503000000020004" pitchFamily="2" charset="0"/>
            </a:endParaRPr>
          </a:p>
        </p:txBody>
      </p:sp>
      <p:sp>
        <p:nvSpPr>
          <p:cNvPr id="25" name="Text 22"/>
          <p:cNvSpPr/>
          <p:nvPr/>
        </p:nvSpPr>
        <p:spPr>
          <a:xfrm>
            <a:off x="5897880" y="2944368"/>
            <a:ext cx="2560320" cy="347472"/>
          </a:xfrm>
          <a:prstGeom prst="rect">
            <a:avLst/>
          </a:prstGeom>
          <a:noFill/>
          <a:ln/>
        </p:spPr>
        <p:txBody>
          <a:bodyPr wrap="square" lIns="0" tIns="0" rIns="0" bIns="0" rtlCol="0" anchor="ctr"/>
          <a:lstStyle/>
          <a:p>
            <a:pPr marL="0" indent="0">
              <a:buNone/>
            </a:pPr>
            <a:r>
              <a:rPr lang="en-US" sz="1100" i="1" dirty="0">
                <a:solidFill>
                  <a:srgbClr val="94A3B8"/>
                </a:solidFill>
                <a:latin typeface="Inter" panose="02000503000000020004" pitchFamily="2" charset="0"/>
                <a:ea typeface="Inter" panose="02000503000000020004" pitchFamily="2" charset="0"/>
              </a:rPr>
              <a:t>Coefficient of Determination</a:t>
            </a:r>
            <a:endParaRPr lang="en-US" sz="1100" dirty="0">
              <a:latin typeface="Inter" panose="02000503000000020004" pitchFamily="2" charset="0"/>
              <a:ea typeface="Inter" panose="02000503000000020004" pitchFamily="2" charset="0"/>
            </a:endParaRPr>
          </a:p>
        </p:txBody>
      </p:sp>
      <p:sp>
        <p:nvSpPr>
          <p:cNvPr id="26" name="Text 23"/>
          <p:cNvSpPr/>
          <p:nvPr/>
        </p:nvSpPr>
        <p:spPr>
          <a:xfrm>
            <a:off x="4754880" y="3337560"/>
            <a:ext cx="3657600" cy="32004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R² = 1 − (SS_res / SS_tot)</a:t>
            </a:r>
            <a:endParaRPr lang="en-US" sz="1100" dirty="0"/>
          </a:p>
        </p:txBody>
      </p:sp>
      <p:sp>
        <p:nvSpPr>
          <p:cNvPr id="27" name="Text 24"/>
          <p:cNvSpPr/>
          <p:nvPr/>
        </p:nvSpPr>
        <p:spPr>
          <a:xfrm>
            <a:off x="4754880" y="3703320"/>
            <a:ext cx="3657600" cy="685800"/>
          </a:xfrm>
          <a:prstGeom prst="rect">
            <a:avLst/>
          </a:prstGeom>
          <a:noFill/>
          <a:ln/>
        </p:spPr>
        <p:txBody>
          <a:bodyPr wrap="square" lIns="0" tIns="0" rIns="0" bIns="0" rtlCol="0" anchor="ctr"/>
          <a:lstStyle/>
          <a:p>
            <a:pPr marL="0" indent="0">
              <a:lnSpc>
                <a:spcPct val="120000"/>
              </a:lnSpc>
              <a:buNone/>
            </a:pPr>
            <a:r>
              <a:rPr lang="en-US" sz="1100" dirty="0">
                <a:solidFill>
                  <a:srgbClr val="E2E8F0"/>
                </a:solidFill>
                <a:latin typeface="Inter" panose="02000503000000020004" pitchFamily="2" charset="0"/>
                <a:ea typeface="Inter" panose="02000503000000020004" pitchFamily="2" charset="0"/>
              </a:rPr>
              <a:t>Use when: Fraction of variance explained; 1.0 is perfect, 0 is no better than mean.</a:t>
            </a:r>
            <a:endParaRPr lang="en-US" sz="1100" dirty="0">
              <a:latin typeface="Inter" panose="02000503000000020004" pitchFamily="2" charset="0"/>
              <a:ea typeface="Inter" panose="02000503000000020004" pitchFamily="2" charset="0"/>
            </a:endParaRPr>
          </a:p>
        </p:txBody>
      </p:sp>
      <p:sp>
        <p:nvSpPr>
          <p:cNvPr id="29" name="Text 26"/>
          <p:cNvSpPr/>
          <p:nvPr/>
        </p:nvSpPr>
        <p:spPr>
          <a:xfrm>
            <a:off x="3200400" y="4546092"/>
            <a:ext cx="2743200" cy="292608"/>
          </a:xfrm>
          <a:prstGeom prst="rect">
            <a:avLst/>
          </a:prstGeom>
          <a:noFill/>
          <a:ln/>
        </p:spPr>
        <p:txBody>
          <a:bodyPr wrap="square" lIns="0" tIns="0" rIns="0" bIns="0" rtlCol="0" anchor="ctr"/>
          <a:lstStyle/>
          <a:p>
            <a:pPr marL="0" indent="0" algn="ctr">
              <a:buNone/>
            </a:pPr>
            <a:r>
              <a:rPr lang="en-US" sz="800" b="1" dirty="0">
                <a:solidFill>
                  <a:srgbClr val="FFFFFF"/>
                </a:solidFill>
              </a:rPr>
              <a:t>R² = 0.85 means the model explains 85% of variance</a:t>
            </a:r>
            <a:endParaRPr lang="en-US" sz="800" dirty="0"/>
          </a:p>
        </p:txBody>
      </p:sp>
      <p:sp>
        <p:nvSpPr>
          <p:cNvPr id="30" name="Text 27"/>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rPr>
              <a:t>LinearMind</a:t>
            </a:r>
            <a:endParaRPr lang="en-US" sz="900" dirty="0"/>
          </a:p>
        </p:txBody>
      </p:sp>
      <p:sp>
        <p:nvSpPr>
          <p:cNvPr id="31" name="Text 28"/>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rPr>
              <a:t>14</a:t>
            </a:r>
            <a:endParaRPr lang="en-US" sz="900" dirty="0"/>
          </a:p>
        </p:txBody>
      </p:sp>
      <p:sp>
        <p:nvSpPr>
          <p:cNvPr id="32" name="Shape 29"/>
          <p:cNvSpPr/>
          <p:nvPr/>
        </p:nvSpPr>
        <p:spPr>
          <a:xfrm>
            <a:off x="274320" y="4873752"/>
            <a:ext cx="8595360" cy="0"/>
          </a:xfrm>
          <a:prstGeom prst="line">
            <a:avLst/>
          </a:prstGeom>
          <a:noFill/>
          <a:ln w="6350">
            <a:solidFill>
              <a:srgbClr val="222226"/>
            </a:solidFill>
            <a:prstDash val="solid"/>
          </a:ln>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1645920"/>
            <a:ext cx="9144000" cy="1828800"/>
          </a:xfrm>
          <a:prstGeom prst="rect">
            <a:avLst/>
          </a:prstGeom>
          <a:solidFill>
            <a:srgbClr val="6366F1">
              <a:alpha val="12000"/>
            </a:srgbClr>
          </a:solidFill>
          <a:ln/>
        </p:spPr>
        <p:txBody>
          <a:bodyPr/>
          <a:lstStyle/>
          <a:p>
            <a:endParaRPr lang="en-US"/>
          </a:p>
        </p:txBody>
      </p:sp>
      <p:sp>
        <p:nvSpPr>
          <p:cNvPr id="4" name="Shape 1"/>
          <p:cNvSpPr/>
          <p:nvPr/>
        </p:nvSpPr>
        <p:spPr>
          <a:xfrm>
            <a:off x="0" y="1645920"/>
            <a:ext cx="9144000" cy="36576"/>
          </a:xfrm>
          <a:prstGeom prst="rect">
            <a:avLst/>
          </a:prstGeom>
          <a:solidFill>
            <a:srgbClr val="A855F7"/>
          </a:solidFill>
          <a:ln/>
        </p:spPr>
        <p:txBody>
          <a:bodyPr/>
          <a:lstStyle/>
          <a:p>
            <a:endParaRPr lang="en-US"/>
          </a:p>
        </p:txBody>
      </p:sp>
      <p:sp>
        <p:nvSpPr>
          <p:cNvPr id="5" name="Shape 2"/>
          <p:cNvSpPr/>
          <p:nvPr/>
        </p:nvSpPr>
        <p:spPr>
          <a:xfrm>
            <a:off x="0" y="3438144"/>
            <a:ext cx="9144000" cy="36576"/>
          </a:xfrm>
          <a:prstGeom prst="rect">
            <a:avLst/>
          </a:prstGeom>
          <a:solidFill>
            <a:srgbClr val="06B6D4"/>
          </a:solidFill>
          <a:ln/>
        </p:spPr>
        <p:txBody>
          <a:bodyPr/>
          <a:lstStyle/>
          <a:p>
            <a:endParaRPr lang="en-US"/>
          </a:p>
        </p:txBody>
      </p:sp>
      <p:sp>
        <p:nvSpPr>
          <p:cNvPr id="6" name="Text 3"/>
          <p:cNvSpPr/>
          <p:nvPr/>
        </p:nvSpPr>
        <p:spPr>
          <a:xfrm>
            <a:off x="0" y="914400"/>
            <a:ext cx="9144000" cy="640080"/>
          </a:xfrm>
          <a:prstGeom prst="rect">
            <a:avLst/>
          </a:prstGeom>
          <a:noFill/>
          <a:ln/>
        </p:spPr>
        <p:txBody>
          <a:bodyPr wrap="square" lIns="0" tIns="0" rIns="0" bIns="0" rtlCol="0" anchor="ctr"/>
          <a:lstStyle/>
          <a:p>
            <a:pPr marL="0" indent="0" algn="ctr">
              <a:buNone/>
            </a:pPr>
            <a:r>
              <a:rPr lang="en-US" sz="1400" b="1" kern="0" spc="1000" dirty="0">
                <a:solidFill>
                  <a:srgbClr val="94A3B8"/>
                </a:solidFill>
              </a:rPr>
              <a:t>PART  B</a:t>
            </a:r>
            <a:endParaRPr lang="en-US" sz="1400" dirty="0"/>
          </a:p>
        </p:txBody>
      </p:sp>
      <p:sp>
        <p:nvSpPr>
          <p:cNvPr id="7" name="Text 4"/>
          <p:cNvSpPr/>
          <p:nvPr/>
        </p:nvSpPr>
        <p:spPr>
          <a:xfrm>
            <a:off x="457200" y="1783080"/>
            <a:ext cx="8229600" cy="868680"/>
          </a:xfrm>
          <a:prstGeom prst="rect">
            <a:avLst/>
          </a:prstGeom>
          <a:noFill/>
          <a:ln/>
        </p:spPr>
        <p:txBody>
          <a:bodyPr wrap="square" lIns="0" tIns="0" rIns="0" bIns="0" rtlCol="0" anchor="ctr"/>
          <a:lstStyle/>
          <a:p>
            <a:pPr marL="0" indent="0" algn="ctr">
              <a:buNone/>
            </a:pPr>
            <a:r>
              <a:rPr lang="en-US" sz="3800" b="1" dirty="0">
                <a:solidFill>
                  <a:srgbClr val="FFFFFF"/>
                </a:solidFill>
              </a:rPr>
              <a:t>The Product: LinearMind Platform</a:t>
            </a:r>
            <a:endParaRPr lang="en-US" sz="3800" dirty="0"/>
          </a:p>
        </p:txBody>
      </p:sp>
      <p:sp>
        <p:nvSpPr>
          <p:cNvPr id="8" name="Text 5"/>
          <p:cNvSpPr/>
          <p:nvPr/>
        </p:nvSpPr>
        <p:spPr>
          <a:xfrm>
            <a:off x="914400" y="2724912"/>
            <a:ext cx="7315200" cy="502920"/>
          </a:xfrm>
          <a:prstGeom prst="rect">
            <a:avLst/>
          </a:prstGeom>
          <a:noFill/>
          <a:ln/>
        </p:spPr>
        <p:txBody>
          <a:bodyPr wrap="square" lIns="0" tIns="0" rIns="0" bIns="0" rtlCol="0" anchor="ctr"/>
          <a:lstStyle/>
          <a:p>
            <a:pPr marL="0" indent="0" algn="ctr">
              <a:buNone/>
            </a:pPr>
            <a:r>
              <a:rPr lang="en-US" sz="1600" i="1" dirty="0">
                <a:solidFill>
                  <a:srgbClr val="94A3B8"/>
                </a:solidFill>
              </a:rPr>
              <a:t>How we teach Linear Regression interactively</a:t>
            </a:r>
            <a:endParaRPr lang="en-US" sz="1600" dirty="0"/>
          </a:p>
        </p:txBody>
      </p:sp>
      <p:sp>
        <p:nvSpPr>
          <p:cNvPr id="10" name="Text 7"/>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rPr>
              <a:t>LinearMind</a:t>
            </a:r>
            <a:endParaRPr lang="en-US" sz="900" dirty="0"/>
          </a:p>
        </p:txBody>
      </p:sp>
      <p:sp>
        <p:nvSpPr>
          <p:cNvPr id="11" name="Text 8"/>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rPr>
              <a:t>15</a:t>
            </a:r>
            <a:endParaRPr lang="en-US" sz="900" dirty="0"/>
          </a:p>
        </p:txBody>
      </p:sp>
      <p:sp>
        <p:nvSpPr>
          <p:cNvPr id="12" name="Shape 9"/>
          <p:cNvSpPr/>
          <p:nvPr/>
        </p:nvSpPr>
        <p:spPr>
          <a:xfrm>
            <a:off x="274320" y="4873752"/>
            <a:ext cx="8595360" cy="0"/>
          </a:xfrm>
          <a:prstGeom prst="line">
            <a:avLst/>
          </a:prstGeom>
          <a:noFill/>
          <a:ln w="6350">
            <a:solidFill>
              <a:srgbClr val="222226"/>
            </a:solidFill>
            <a:prstDash val="solid"/>
          </a:ln>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201168"/>
            <a:ext cx="8412480" cy="502920"/>
          </a:xfrm>
          <a:prstGeom prst="rect">
            <a:avLst/>
          </a:prstGeom>
          <a:noFill/>
          <a:ln/>
        </p:spPr>
        <p:txBody>
          <a:bodyPr wrap="square" lIns="0" tIns="0" rIns="0" bIns="0" rtlCol="0" anchor="ctr"/>
          <a:lstStyle/>
          <a:p>
            <a:pPr marL="0" indent="0">
              <a:buNone/>
            </a:pPr>
            <a:r>
              <a:rPr lang="en-US" sz="2600" b="1" dirty="0">
                <a:solidFill>
                  <a:srgbClr val="818CF8"/>
                </a:solidFill>
                <a:latin typeface="Inter" panose="02000503000000020004" pitchFamily="2" charset="0"/>
                <a:ea typeface="Inter" panose="02000503000000020004" pitchFamily="2" charset="0"/>
                <a:cs typeface="Calibri" pitchFamily="34" charset="-120"/>
              </a:rPr>
              <a:t>What is LinearMind?</a:t>
            </a:r>
            <a:endParaRPr lang="en-US" sz="2600" dirty="0">
              <a:latin typeface="Inter" panose="02000503000000020004" pitchFamily="2" charset="0"/>
              <a:ea typeface="Inter" panose="02000503000000020004" pitchFamily="2" charset="0"/>
            </a:endParaRPr>
          </a:p>
        </p:txBody>
      </p:sp>
      <p:sp>
        <p:nvSpPr>
          <p:cNvPr id="4" name="Shape 1"/>
          <p:cNvSpPr/>
          <p:nvPr/>
        </p:nvSpPr>
        <p:spPr>
          <a:xfrm>
            <a:off x="365760" y="822960"/>
            <a:ext cx="4114800" cy="3657600"/>
          </a:xfrm>
          <a:prstGeom prst="rect">
            <a:avLst/>
          </a:prstGeom>
          <a:solidFill>
            <a:srgbClr val="111120"/>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5" name="Text 2"/>
          <p:cNvSpPr/>
          <p:nvPr/>
        </p:nvSpPr>
        <p:spPr>
          <a:xfrm>
            <a:off x="548640" y="914400"/>
            <a:ext cx="3749040" cy="640080"/>
          </a:xfrm>
          <a:prstGeom prst="rect">
            <a:avLst/>
          </a:prstGeom>
          <a:noFill/>
          <a:ln/>
        </p:spPr>
        <p:txBody>
          <a:bodyPr wrap="square" lIns="0" tIns="0" rIns="0" bIns="0" rtlCol="0" anchor="ctr"/>
          <a:lstStyle/>
          <a:p>
            <a:pPr marL="0" indent="0">
              <a:lnSpc>
                <a:spcPct val="120000"/>
              </a:lnSpc>
              <a:buNone/>
            </a:pPr>
            <a:r>
              <a:rPr lang="en-US" sz="1400" b="1" dirty="0">
                <a:solidFill>
                  <a:srgbClr val="818CF8"/>
                </a:solidFill>
                <a:latin typeface="Inter" panose="02000503000000020004" pitchFamily="2" charset="0"/>
                <a:ea typeface="Inter" panose="02000503000000020004" pitchFamily="2" charset="0"/>
              </a:rPr>
              <a:t>An interactive web platform for</a:t>
            </a:r>
            <a:endParaRPr lang="en-US" sz="1400" dirty="0">
              <a:latin typeface="Inter" panose="02000503000000020004" pitchFamily="2" charset="0"/>
              <a:ea typeface="Inter" panose="02000503000000020004" pitchFamily="2" charset="0"/>
            </a:endParaRPr>
          </a:p>
          <a:p>
            <a:pPr marL="0" indent="0">
              <a:lnSpc>
                <a:spcPct val="120000"/>
              </a:lnSpc>
              <a:buNone/>
            </a:pPr>
            <a:r>
              <a:rPr lang="en-US" sz="1400" b="1" dirty="0">
                <a:solidFill>
                  <a:srgbClr val="818CF8"/>
                </a:solidFill>
                <a:latin typeface="Inter" panose="02000503000000020004" pitchFamily="2" charset="0"/>
                <a:ea typeface="Inter" panose="02000503000000020004" pitchFamily="2" charset="0"/>
              </a:rPr>
              <a:t>mastering Linear Regression.</a:t>
            </a:r>
            <a:endParaRPr lang="en-US" sz="1400" dirty="0">
              <a:latin typeface="Inter" panose="02000503000000020004" pitchFamily="2" charset="0"/>
              <a:ea typeface="Inter" panose="02000503000000020004" pitchFamily="2" charset="0"/>
            </a:endParaRPr>
          </a:p>
        </p:txBody>
      </p:sp>
      <p:pic>
        <p:nvPicPr>
          <p:cNvPr id="6" name="Image 1" descr="preencoded.png"/>
          <p:cNvPicPr>
            <a:picLocks noChangeAspect="1"/>
          </p:cNvPicPr>
          <p:nvPr/>
        </p:nvPicPr>
        <p:blipFill>
          <a:blip r:embed="rId4"/>
          <a:stretch>
            <a:fillRect/>
          </a:stretch>
        </p:blipFill>
        <p:spPr>
          <a:xfrm>
            <a:off x="548640" y="1664208"/>
            <a:ext cx="274320" cy="274320"/>
          </a:xfrm>
          <a:prstGeom prst="rect">
            <a:avLst/>
          </a:prstGeom>
        </p:spPr>
      </p:pic>
      <p:sp>
        <p:nvSpPr>
          <p:cNvPr id="7" name="Text 3"/>
          <p:cNvSpPr/>
          <p:nvPr/>
        </p:nvSpPr>
        <p:spPr>
          <a:xfrm>
            <a:off x="960120" y="1645920"/>
            <a:ext cx="3383280" cy="347472"/>
          </a:xfrm>
          <a:prstGeom prst="rect">
            <a:avLst/>
          </a:prstGeom>
          <a:noFill/>
          <a:ln/>
        </p:spPr>
        <p:txBody>
          <a:bodyPr wrap="square" lIns="0" tIns="0" rIns="0" bIns="0" rtlCol="0" anchor="ctr"/>
          <a:lstStyle/>
          <a:p>
            <a:pPr marL="0" indent="0">
              <a:buNone/>
            </a:pPr>
            <a:r>
              <a:rPr lang="en-US" sz="1300" dirty="0">
                <a:solidFill>
                  <a:srgbClr val="818CF8"/>
                </a:solidFill>
                <a:latin typeface="Inter" panose="02000503000000020004" pitchFamily="2" charset="0"/>
                <a:ea typeface="Inter" panose="02000503000000020004" pitchFamily="2" charset="0"/>
              </a:rPr>
              <a:t>Structured Curriculum</a:t>
            </a:r>
            <a:endParaRPr lang="en-US" sz="1300" dirty="0">
              <a:latin typeface="Inter" panose="02000503000000020004" pitchFamily="2" charset="0"/>
              <a:ea typeface="Inter" panose="02000503000000020004" pitchFamily="2" charset="0"/>
            </a:endParaRPr>
          </a:p>
        </p:txBody>
      </p:sp>
      <p:pic>
        <p:nvPicPr>
          <p:cNvPr id="8" name="Image 2" descr="preencoded.png"/>
          <p:cNvPicPr>
            <a:picLocks noChangeAspect="1"/>
          </p:cNvPicPr>
          <p:nvPr/>
        </p:nvPicPr>
        <p:blipFill>
          <a:blip r:embed="rId5"/>
          <a:stretch>
            <a:fillRect/>
          </a:stretch>
        </p:blipFill>
        <p:spPr>
          <a:xfrm>
            <a:off x="548640" y="2121408"/>
            <a:ext cx="274320" cy="274320"/>
          </a:xfrm>
          <a:prstGeom prst="rect">
            <a:avLst/>
          </a:prstGeom>
        </p:spPr>
      </p:pic>
      <p:sp>
        <p:nvSpPr>
          <p:cNvPr id="9" name="Text 4"/>
          <p:cNvSpPr/>
          <p:nvPr/>
        </p:nvSpPr>
        <p:spPr>
          <a:xfrm>
            <a:off x="960120" y="2103120"/>
            <a:ext cx="3383280" cy="347472"/>
          </a:xfrm>
          <a:prstGeom prst="rect">
            <a:avLst/>
          </a:prstGeom>
          <a:noFill/>
          <a:ln/>
        </p:spPr>
        <p:txBody>
          <a:bodyPr wrap="square" lIns="0" tIns="0" rIns="0" bIns="0" rtlCol="0" anchor="ctr"/>
          <a:lstStyle/>
          <a:p>
            <a:pPr marL="0" indent="0">
              <a:buNone/>
            </a:pPr>
            <a:r>
              <a:rPr lang="en-US" sz="1300" dirty="0">
                <a:solidFill>
                  <a:srgbClr val="06B6D4"/>
                </a:solidFill>
                <a:latin typeface="Inter" panose="02000503000000020004" pitchFamily="2" charset="0"/>
                <a:ea typeface="Inter" panose="02000503000000020004" pitchFamily="2" charset="0"/>
              </a:rPr>
              <a:t>Interactive Visualizations</a:t>
            </a:r>
            <a:endParaRPr lang="en-US" sz="1300" dirty="0">
              <a:latin typeface="Inter" panose="02000503000000020004" pitchFamily="2" charset="0"/>
              <a:ea typeface="Inter" panose="02000503000000020004" pitchFamily="2" charset="0"/>
            </a:endParaRPr>
          </a:p>
        </p:txBody>
      </p:sp>
      <p:pic>
        <p:nvPicPr>
          <p:cNvPr id="10" name="Image 3" descr="preencoded.png"/>
          <p:cNvPicPr>
            <a:picLocks noChangeAspect="1"/>
          </p:cNvPicPr>
          <p:nvPr/>
        </p:nvPicPr>
        <p:blipFill>
          <a:blip r:embed="rId6"/>
          <a:stretch>
            <a:fillRect/>
          </a:stretch>
        </p:blipFill>
        <p:spPr>
          <a:xfrm>
            <a:off x="548640" y="2578608"/>
            <a:ext cx="274320" cy="274320"/>
          </a:xfrm>
          <a:prstGeom prst="rect">
            <a:avLst/>
          </a:prstGeom>
        </p:spPr>
      </p:pic>
      <p:sp>
        <p:nvSpPr>
          <p:cNvPr id="11" name="Text 5"/>
          <p:cNvSpPr/>
          <p:nvPr/>
        </p:nvSpPr>
        <p:spPr>
          <a:xfrm>
            <a:off x="960120" y="2560320"/>
            <a:ext cx="3383280" cy="347472"/>
          </a:xfrm>
          <a:prstGeom prst="rect">
            <a:avLst/>
          </a:prstGeom>
          <a:noFill/>
          <a:ln/>
        </p:spPr>
        <p:txBody>
          <a:bodyPr wrap="square" lIns="0" tIns="0" rIns="0" bIns="0" rtlCol="0" anchor="ctr"/>
          <a:lstStyle/>
          <a:p>
            <a:pPr marL="0" indent="0">
              <a:buNone/>
            </a:pPr>
            <a:r>
              <a:rPr lang="en-US" sz="1300" dirty="0">
                <a:solidFill>
                  <a:srgbClr val="A855F7"/>
                </a:solidFill>
                <a:latin typeface="Inter" panose="02000503000000020004" pitchFamily="2" charset="0"/>
                <a:ea typeface="Inter" panose="02000503000000020004" pitchFamily="2" charset="0"/>
              </a:rPr>
              <a:t>Hands-on Playground</a:t>
            </a:r>
            <a:endParaRPr lang="en-US" sz="1300" dirty="0">
              <a:latin typeface="Inter" panose="02000503000000020004" pitchFamily="2" charset="0"/>
              <a:ea typeface="Inter" panose="02000503000000020004" pitchFamily="2" charset="0"/>
            </a:endParaRPr>
          </a:p>
        </p:txBody>
      </p:sp>
      <p:pic>
        <p:nvPicPr>
          <p:cNvPr id="12" name="Image 4" descr="preencoded.png"/>
          <p:cNvPicPr>
            <a:picLocks noChangeAspect="1"/>
          </p:cNvPicPr>
          <p:nvPr/>
        </p:nvPicPr>
        <p:blipFill>
          <a:blip r:embed="rId7"/>
          <a:stretch>
            <a:fillRect/>
          </a:stretch>
        </p:blipFill>
        <p:spPr>
          <a:xfrm>
            <a:off x="548640" y="3035808"/>
            <a:ext cx="274320" cy="274320"/>
          </a:xfrm>
          <a:prstGeom prst="rect">
            <a:avLst/>
          </a:prstGeom>
        </p:spPr>
      </p:pic>
      <p:sp>
        <p:nvSpPr>
          <p:cNvPr id="13" name="Text 6"/>
          <p:cNvSpPr/>
          <p:nvPr/>
        </p:nvSpPr>
        <p:spPr>
          <a:xfrm>
            <a:off x="960120" y="3017520"/>
            <a:ext cx="3383280" cy="347472"/>
          </a:xfrm>
          <a:prstGeom prst="rect">
            <a:avLst/>
          </a:prstGeom>
          <a:noFill/>
          <a:ln/>
        </p:spPr>
        <p:txBody>
          <a:bodyPr wrap="square" lIns="0" tIns="0" rIns="0" bIns="0" rtlCol="0" anchor="ctr"/>
          <a:lstStyle/>
          <a:p>
            <a:pPr marL="0" indent="0">
              <a:buNone/>
            </a:pPr>
            <a:r>
              <a:rPr lang="en-US" sz="1300" dirty="0">
                <a:solidFill>
                  <a:srgbClr val="06B6D4"/>
                </a:solidFill>
                <a:latin typeface="Inter" panose="02000503000000020004" pitchFamily="2" charset="0"/>
                <a:ea typeface="Inter" panose="02000503000000020004" pitchFamily="2" charset="0"/>
              </a:rPr>
              <a:t>AI Tutor (Gemini)</a:t>
            </a:r>
            <a:endParaRPr lang="en-US" sz="1300" dirty="0">
              <a:latin typeface="Inter" panose="02000503000000020004" pitchFamily="2" charset="0"/>
              <a:ea typeface="Inter" panose="02000503000000020004" pitchFamily="2" charset="0"/>
            </a:endParaRPr>
          </a:p>
        </p:txBody>
      </p:sp>
      <p:pic>
        <p:nvPicPr>
          <p:cNvPr id="14" name="Image 5" descr="preencoded.png"/>
          <p:cNvPicPr>
            <a:picLocks noChangeAspect="1"/>
          </p:cNvPicPr>
          <p:nvPr/>
        </p:nvPicPr>
        <p:blipFill>
          <a:blip r:embed="rId8"/>
          <a:stretch>
            <a:fillRect/>
          </a:stretch>
        </p:blipFill>
        <p:spPr>
          <a:xfrm>
            <a:off x="548640" y="3493008"/>
            <a:ext cx="274320" cy="274320"/>
          </a:xfrm>
          <a:prstGeom prst="rect">
            <a:avLst/>
          </a:prstGeom>
        </p:spPr>
      </p:pic>
      <p:sp>
        <p:nvSpPr>
          <p:cNvPr id="15" name="Text 7"/>
          <p:cNvSpPr/>
          <p:nvPr/>
        </p:nvSpPr>
        <p:spPr>
          <a:xfrm>
            <a:off x="960120" y="3474720"/>
            <a:ext cx="3383280" cy="347472"/>
          </a:xfrm>
          <a:prstGeom prst="rect">
            <a:avLst/>
          </a:prstGeom>
          <a:noFill/>
          <a:ln/>
        </p:spPr>
        <p:txBody>
          <a:bodyPr wrap="square" lIns="0" tIns="0" rIns="0" bIns="0" rtlCol="0" anchor="ctr"/>
          <a:lstStyle/>
          <a:p>
            <a:pPr marL="0" indent="0">
              <a:buNone/>
            </a:pPr>
            <a:r>
              <a:rPr lang="en-US" sz="1300" dirty="0">
                <a:solidFill>
                  <a:srgbClr val="F59E0B"/>
                </a:solidFill>
                <a:latin typeface="Inter" panose="02000503000000020004" pitchFamily="2" charset="0"/>
                <a:ea typeface="Inter" panose="02000503000000020004" pitchFamily="2" charset="0"/>
              </a:rPr>
              <a:t>Quizzes &amp; Code Examples</a:t>
            </a:r>
            <a:endParaRPr lang="en-US" sz="1300" dirty="0">
              <a:latin typeface="Inter" panose="02000503000000020004" pitchFamily="2" charset="0"/>
              <a:ea typeface="Inter" panose="02000503000000020004" pitchFamily="2" charset="0"/>
            </a:endParaRPr>
          </a:p>
        </p:txBody>
      </p:sp>
      <p:pic>
        <p:nvPicPr>
          <p:cNvPr id="16" name="Image 6" descr="preencoded.png"/>
          <p:cNvPicPr>
            <a:picLocks noChangeAspect="1"/>
          </p:cNvPicPr>
          <p:nvPr/>
        </p:nvPicPr>
        <p:blipFill>
          <a:blip r:embed="rId9"/>
          <a:stretch>
            <a:fillRect/>
          </a:stretch>
        </p:blipFill>
        <p:spPr>
          <a:xfrm>
            <a:off x="548640" y="3950208"/>
            <a:ext cx="274320" cy="274320"/>
          </a:xfrm>
          <a:prstGeom prst="rect">
            <a:avLst/>
          </a:prstGeom>
        </p:spPr>
      </p:pic>
      <p:sp>
        <p:nvSpPr>
          <p:cNvPr id="17" name="Text 8"/>
          <p:cNvSpPr/>
          <p:nvPr/>
        </p:nvSpPr>
        <p:spPr>
          <a:xfrm>
            <a:off x="960120" y="3931920"/>
            <a:ext cx="3383280" cy="347472"/>
          </a:xfrm>
          <a:prstGeom prst="rect">
            <a:avLst/>
          </a:prstGeom>
          <a:noFill/>
          <a:ln/>
        </p:spPr>
        <p:txBody>
          <a:bodyPr wrap="square" lIns="0" tIns="0" rIns="0" bIns="0" rtlCol="0" anchor="ctr"/>
          <a:lstStyle/>
          <a:p>
            <a:pPr marL="0" indent="0">
              <a:buNone/>
            </a:pPr>
            <a:r>
              <a:rPr lang="en-US" sz="1300" dirty="0">
                <a:solidFill>
                  <a:srgbClr val="10B981"/>
                </a:solidFill>
                <a:latin typeface="Inter" panose="02000503000000020004" pitchFamily="2" charset="0"/>
                <a:ea typeface="Inter" panose="02000503000000020004" pitchFamily="2" charset="0"/>
              </a:rPr>
              <a:t>Progress &amp; Achievements</a:t>
            </a:r>
            <a:endParaRPr lang="en-US" sz="1300" dirty="0">
              <a:latin typeface="Inter" panose="02000503000000020004" pitchFamily="2" charset="0"/>
              <a:ea typeface="Inter" panose="02000503000000020004" pitchFamily="2" charset="0"/>
            </a:endParaRPr>
          </a:p>
        </p:txBody>
      </p:sp>
      <p:sp>
        <p:nvSpPr>
          <p:cNvPr id="22" name="Text 13"/>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latin typeface="Inter" panose="02000503000000020004" pitchFamily="2" charset="0"/>
                <a:ea typeface="Inter" panose="02000503000000020004" pitchFamily="2" charset="0"/>
              </a:rPr>
              <a:t>LinearMind</a:t>
            </a:r>
            <a:endParaRPr lang="en-US" sz="900" dirty="0">
              <a:latin typeface="Inter" panose="02000503000000020004" pitchFamily="2" charset="0"/>
              <a:ea typeface="Inter" panose="02000503000000020004" pitchFamily="2" charset="0"/>
            </a:endParaRPr>
          </a:p>
        </p:txBody>
      </p:sp>
      <p:sp>
        <p:nvSpPr>
          <p:cNvPr id="23" name="Text 14"/>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latin typeface="Inter" panose="02000503000000020004" pitchFamily="2" charset="0"/>
                <a:ea typeface="Inter" panose="02000503000000020004" pitchFamily="2" charset="0"/>
              </a:rPr>
              <a:t>16</a:t>
            </a:r>
            <a:endParaRPr lang="en-US" sz="900" dirty="0">
              <a:latin typeface="Inter" panose="02000503000000020004" pitchFamily="2" charset="0"/>
              <a:ea typeface="Inter" panose="02000503000000020004" pitchFamily="2" charset="0"/>
            </a:endParaRPr>
          </a:p>
        </p:txBody>
      </p:sp>
      <p:sp>
        <p:nvSpPr>
          <p:cNvPr id="24" name="Shape 15"/>
          <p:cNvSpPr/>
          <p:nvPr/>
        </p:nvSpPr>
        <p:spPr>
          <a:xfrm>
            <a:off x="274320" y="4873752"/>
            <a:ext cx="8595360" cy="0"/>
          </a:xfrm>
          <a:prstGeom prst="line">
            <a:avLst/>
          </a:prstGeom>
          <a:noFill/>
          <a:ln w="635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pic>
        <p:nvPicPr>
          <p:cNvPr id="26" name="Picture 25">
            <a:extLst>
              <a:ext uri="{FF2B5EF4-FFF2-40B4-BE49-F238E27FC236}">
                <a16:creationId xmlns:a16="http://schemas.microsoft.com/office/drawing/2014/main" id="{BF575688-552E-61AA-A97C-5D17F41ED032}"/>
              </a:ext>
            </a:extLst>
          </p:cNvPr>
          <p:cNvPicPr>
            <a:picLocks noChangeAspect="1"/>
          </p:cNvPicPr>
          <p:nvPr/>
        </p:nvPicPr>
        <p:blipFill>
          <a:blip r:embed="rId10"/>
          <a:stretch>
            <a:fillRect/>
          </a:stretch>
        </p:blipFill>
        <p:spPr>
          <a:xfrm>
            <a:off x="4733519" y="1576199"/>
            <a:ext cx="4136161" cy="219112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201168"/>
            <a:ext cx="8412480" cy="502920"/>
          </a:xfrm>
          <a:prstGeom prst="rect">
            <a:avLst/>
          </a:prstGeom>
          <a:noFill/>
          <a:ln/>
        </p:spPr>
        <p:txBody>
          <a:bodyPr wrap="square" lIns="0" tIns="0" rIns="0" bIns="0" rtlCol="0" anchor="ctr"/>
          <a:lstStyle/>
          <a:p>
            <a:pPr marL="0" indent="0">
              <a:buNone/>
            </a:pPr>
            <a:r>
              <a:rPr lang="en-US" sz="2600" b="1" dirty="0">
                <a:solidFill>
                  <a:srgbClr val="818CF8"/>
                </a:solidFill>
                <a:latin typeface="Inter" panose="02000503000000020004" pitchFamily="2" charset="0"/>
                <a:ea typeface="Inter" panose="02000503000000020004" pitchFamily="2" charset="0"/>
                <a:cs typeface="Calibri" pitchFamily="34" charset="-120"/>
              </a:rPr>
              <a:t>Platform Scope — Verified Content &amp; Features</a:t>
            </a:r>
            <a:endParaRPr lang="en-US" sz="2600" dirty="0">
              <a:latin typeface="Inter" panose="02000503000000020004" pitchFamily="2" charset="0"/>
              <a:ea typeface="Inter" panose="02000503000000020004" pitchFamily="2" charset="0"/>
            </a:endParaRPr>
          </a:p>
        </p:txBody>
      </p:sp>
      <p:sp>
        <p:nvSpPr>
          <p:cNvPr id="4" name="Shape 1"/>
          <p:cNvSpPr/>
          <p:nvPr/>
        </p:nvSpPr>
        <p:spPr>
          <a:xfrm>
            <a:off x="365760" y="822960"/>
            <a:ext cx="2606040" cy="1737360"/>
          </a:xfrm>
          <a:prstGeom prst="rect">
            <a:avLst/>
          </a:prstGeom>
          <a:solidFill>
            <a:srgbClr val="0F0F1E"/>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5" name="Shape 2"/>
          <p:cNvSpPr/>
          <p:nvPr/>
        </p:nvSpPr>
        <p:spPr>
          <a:xfrm>
            <a:off x="365760" y="822960"/>
            <a:ext cx="2606040" cy="91440"/>
          </a:xfrm>
          <a:prstGeom prst="rect">
            <a:avLst/>
          </a:prstGeom>
          <a:solidFill>
            <a:srgbClr val="6366F1"/>
          </a:solidFill>
          <a:ln/>
        </p:spPr>
        <p:txBody>
          <a:bodyPr/>
          <a:lstStyle/>
          <a:p>
            <a:endParaRPr lang="en-US">
              <a:latin typeface="Inter" panose="02000503000000020004" pitchFamily="2" charset="0"/>
              <a:ea typeface="Inter" panose="02000503000000020004" pitchFamily="2" charset="0"/>
            </a:endParaRPr>
          </a:p>
        </p:txBody>
      </p:sp>
      <p:pic>
        <p:nvPicPr>
          <p:cNvPr id="6" name="Image 1" descr="preencoded.png"/>
          <p:cNvPicPr>
            <a:picLocks noChangeAspect="1"/>
          </p:cNvPicPr>
          <p:nvPr/>
        </p:nvPicPr>
        <p:blipFill>
          <a:blip r:embed="rId4"/>
          <a:stretch>
            <a:fillRect/>
          </a:stretch>
        </p:blipFill>
        <p:spPr>
          <a:xfrm>
            <a:off x="530352" y="1024128"/>
            <a:ext cx="411480" cy="411480"/>
          </a:xfrm>
          <a:prstGeom prst="rect">
            <a:avLst/>
          </a:prstGeom>
        </p:spPr>
      </p:pic>
      <p:sp>
        <p:nvSpPr>
          <p:cNvPr id="7" name="Text 3"/>
          <p:cNvSpPr/>
          <p:nvPr/>
        </p:nvSpPr>
        <p:spPr>
          <a:xfrm>
            <a:off x="1051560" y="987552"/>
            <a:ext cx="1737360" cy="594360"/>
          </a:xfrm>
          <a:prstGeom prst="rect">
            <a:avLst/>
          </a:prstGeom>
          <a:noFill/>
          <a:ln/>
        </p:spPr>
        <p:txBody>
          <a:bodyPr wrap="square" lIns="0" tIns="0" rIns="0" bIns="0" rtlCol="0" anchor="ctr"/>
          <a:lstStyle/>
          <a:p>
            <a:pPr marL="0" indent="0">
              <a:buNone/>
            </a:pPr>
            <a:r>
              <a:rPr lang="en-US" sz="3800" b="1" dirty="0">
                <a:solidFill>
                  <a:srgbClr val="6366F1"/>
                </a:solidFill>
                <a:latin typeface="Inter" panose="02000503000000020004" pitchFamily="2" charset="0"/>
                <a:ea typeface="Inter" panose="02000503000000020004" pitchFamily="2" charset="0"/>
              </a:rPr>
              <a:t>13</a:t>
            </a:r>
            <a:endParaRPr lang="en-US" sz="3800" dirty="0">
              <a:latin typeface="Inter" panose="02000503000000020004" pitchFamily="2" charset="0"/>
              <a:ea typeface="Inter" panose="02000503000000020004" pitchFamily="2" charset="0"/>
            </a:endParaRPr>
          </a:p>
        </p:txBody>
      </p:sp>
      <p:sp>
        <p:nvSpPr>
          <p:cNvPr id="8" name="Text 4"/>
          <p:cNvSpPr/>
          <p:nvPr/>
        </p:nvSpPr>
        <p:spPr>
          <a:xfrm>
            <a:off x="475488" y="2011680"/>
            <a:ext cx="2377440" cy="411480"/>
          </a:xfrm>
          <a:prstGeom prst="rect">
            <a:avLst/>
          </a:prstGeom>
          <a:noFill/>
          <a:ln/>
        </p:spPr>
        <p:txBody>
          <a:bodyPr wrap="square" lIns="0" tIns="0" rIns="0" bIns="0" rtlCol="0" anchor="ctr"/>
          <a:lstStyle/>
          <a:p>
            <a:pPr marL="0" indent="0" algn="ctr">
              <a:buNone/>
            </a:pPr>
            <a:r>
              <a:rPr lang="en-US" sz="1300" b="1" dirty="0">
                <a:solidFill>
                  <a:srgbClr val="E2E8F0"/>
                </a:solidFill>
                <a:latin typeface="Inter" panose="02000503000000020004" pitchFamily="2" charset="0"/>
                <a:ea typeface="Inter" panose="02000503000000020004" pitchFamily="2" charset="0"/>
              </a:rPr>
              <a:t>Modules</a:t>
            </a:r>
            <a:endParaRPr lang="en-US" sz="1300" dirty="0">
              <a:latin typeface="Inter" panose="02000503000000020004" pitchFamily="2" charset="0"/>
              <a:ea typeface="Inter" panose="02000503000000020004" pitchFamily="2" charset="0"/>
            </a:endParaRPr>
          </a:p>
        </p:txBody>
      </p:sp>
      <p:sp>
        <p:nvSpPr>
          <p:cNvPr id="9" name="Shape 5"/>
          <p:cNvSpPr/>
          <p:nvPr/>
        </p:nvSpPr>
        <p:spPr>
          <a:xfrm>
            <a:off x="3200400" y="822960"/>
            <a:ext cx="2606040" cy="1737360"/>
          </a:xfrm>
          <a:prstGeom prst="rect">
            <a:avLst/>
          </a:prstGeom>
          <a:solidFill>
            <a:srgbClr val="0F0F1E"/>
          </a:solidFill>
          <a:ln w="12700">
            <a:solidFill>
              <a:srgbClr val="A855F7"/>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10" name="Shape 6"/>
          <p:cNvSpPr/>
          <p:nvPr/>
        </p:nvSpPr>
        <p:spPr>
          <a:xfrm>
            <a:off x="3200400" y="822960"/>
            <a:ext cx="2606040" cy="91440"/>
          </a:xfrm>
          <a:prstGeom prst="rect">
            <a:avLst/>
          </a:prstGeom>
          <a:solidFill>
            <a:srgbClr val="A855F7"/>
          </a:solidFill>
          <a:ln/>
        </p:spPr>
        <p:txBody>
          <a:bodyPr/>
          <a:lstStyle/>
          <a:p>
            <a:endParaRPr lang="en-US">
              <a:latin typeface="Inter" panose="02000503000000020004" pitchFamily="2" charset="0"/>
              <a:ea typeface="Inter" panose="02000503000000020004" pitchFamily="2" charset="0"/>
            </a:endParaRPr>
          </a:p>
        </p:txBody>
      </p:sp>
      <p:pic>
        <p:nvPicPr>
          <p:cNvPr id="11" name="Image 2" descr="preencoded.png"/>
          <p:cNvPicPr>
            <a:picLocks noChangeAspect="1"/>
          </p:cNvPicPr>
          <p:nvPr/>
        </p:nvPicPr>
        <p:blipFill>
          <a:blip r:embed="rId5"/>
          <a:stretch>
            <a:fillRect/>
          </a:stretch>
        </p:blipFill>
        <p:spPr>
          <a:xfrm>
            <a:off x="3364992" y="1024128"/>
            <a:ext cx="411480" cy="411480"/>
          </a:xfrm>
          <a:prstGeom prst="rect">
            <a:avLst/>
          </a:prstGeom>
        </p:spPr>
      </p:pic>
      <p:sp>
        <p:nvSpPr>
          <p:cNvPr id="12" name="Text 7"/>
          <p:cNvSpPr/>
          <p:nvPr/>
        </p:nvSpPr>
        <p:spPr>
          <a:xfrm>
            <a:off x="3886200" y="987552"/>
            <a:ext cx="1737360" cy="594360"/>
          </a:xfrm>
          <a:prstGeom prst="rect">
            <a:avLst/>
          </a:prstGeom>
          <a:noFill/>
          <a:ln/>
        </p:spPr>
        <p:txBody>
          <a:bodyPr wrap="square" lIns="0" tIns="0" rIns="0" bIns="0" rtlCol="0" anchor="ctr"/>
          <a:lstStyle/>
          <a:p>
            <a:pPr marL="0" indent="0">
              <a:buNone/>
            </a:pPr>
            <a:r>
              <a:rPr lang="en-US" sz="3800" b="1" dirty="0">
                <a:solidFill>
                  <a:srgbClr val="A855F7"/>
                </a:solidFill>
                <a:latin typeface="Inter" panose="02000503000000020004" pitchFamily="2" charset="0"/>
                <a:ea typeface="Inter" panose="02000503000000020004" pitchFamily="2" charset="0"/>
              </a:rPr>
              <a:t>28</a:t>
            </a:r>
            <a:endParaRPr lang="en-US" sz="3800" dirty="0">
              <a:latin typeface="Inter" panose="02000503000000020004" pitchFamily="2" charset="0"/>
              <a:ea typeface="Inter" panose="02000503000000020004" pitchFamily="2" charset="0"/>
            </a:endParaRPr>
          </a:p>
        </p:txBody>
      </p:sp>
      <p:sp>
        <p:nvSpPr>
          <p:cNvPr id="13" name="Text 8"/>
          <p:cNvSpPr/>
          <p:nvPr/>
        </p:nvSpPr>
        <p:spPr>
          <a:xfrm>
            <a:off x="3310128" y="2011680"/>
            <a:ext cx="2377440" cy="411480"/>
          </a:xfrm>
          <a:prstGeom prst="rect">
            <a:avLst/>
          </a:prstGeom>
          <a:noFill/>
          <a:ln/>
        </p:spPr>
        <p:txBody>
          <a:bodyPr wrap="square" lIns="0" tIns="0" rIns="0" bIns="0" rtlCol="0" anchor="ctr"/>
          <a:lstStyle/>
          <a:p>
            <a:pPr marL="0" indent="0" algn="ctr">
              <a:buNone/>
            </a:pPr>
            <a:r>
              <a:rPr lang="en-US" sz="1300" b="1" dirty="0">
                <a:solidFill>
                  <a:srgbClr val="E2E8F0"/>
                </a:solidFill>
                <a:latin typeface="Inter" panose="02000503000000020004" pitchFamily="2" charset="0"/>
                <a:ea typeface="Inter" panose="02000503000000020004" pitchFamily="2" charset="0"/>
              </a:rPr>
              <a:t>Lessons</a:t>
            </a:r>
            <a:endParaRPr lang="en-US" sz="1300" dirty="0">
              <a:latin typeface="Inter" panose="02000503000000020004" pitchFamily="2" charset="0"/>
              <a:ea typeface="Inter" panose="02000503000000020004" pitchFamily="2" charset="0"/>
            </a:endParaRPr>
          </a:p>
        </p:txBody>
      </p:sp>
      <p:sp>
        <p:nvSpPr>
          <p:cNvPr id="14" name="Shape 9"/>
          <p:cNvSpPr/>
          <p:nvPr/>
        </p:nvSpPr>
        <p:spPr>
          <a:xfrm>
            <a:off x="6035040" y="822960"/>
            <a:ext cx="2606040" cy="1737360"/>
          </a:xfrm>
          <a:prstGeom prst="rect">
            <a:avLst/>
          </a:prstGeom>
          <a:solidFill>
            <a:srgbClr val="0F0F1E"/>
          </a:solidFill>
          <a:ln w="12700">
            <a:solidFill>
              <a:srgbClr val="06B6D4"/>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15" name="Shape 10"/>
          <p:cNvSpPr/>
          <p:nvPr/>
        </p:nvSpPr>
        <p:spPr>
          <a:xfrm>
            <a:off x="6035040" y="822960"/>
            <a:ext cx="2606040" cy="91440"/>
          </a:xfrm>
          <a:prstGeom prst="rect">
            <a:avLst/>
          </a:prstGeom>
          <a:solidFill>
            <a:srgbClr val="06B6D4"/>
          </a:solidFill>
          <a:ln/>
        </p:spPr>
        <p:txBody>
          <a:bodyPr/>
          <a:lstStyle/>
          <a:p>
            <a:endParaRPr lang="en-US">
              <a:latin typeface="Inter" panose="02000503000000020004" pitchFamily="2" charset="0"/>
              <a:ea typeface="Inter" panose="02000503000000020004" pitchFamily="2" charset="0"/>
            </a:endParaRPr>
          </a:p>
        </p:txBody>
      </p:sp>
      <p:pic>
        <p:nvPicPr>
          <p:cNvPr id="16" name="Image 3" descr="preencoded.png"/>
          <p:cNvPicPr>
            <a:picLocks noChangeAspect="1"/>
          </p:cNvPicPr>
          <p:nvPr/>
        </p:nvPicPr>
        <p:blipFill>
          <a:blip r:embed="rId6"/>
          <a:stretch>
            <a:fillRect/>
          </a:stretch>
        </p:blipFill>
        <p:spPr>
          <a:xfrm>
            <a:off x="6199632" y="1024128"/>
            <a:ext cx="411480" cy="411480"/>
          </a:xfrm>
          <a:prstGeom prst="rect">
            <a:avLst/>
          </a:prstGeom>
        </p:spPr>
      </p:pic>
      <p:sp>
        <p:nvSpPr>
          <p:cNvPr id="17" name="Text 11"/>
          <p:cNvSpPr/>
          <p:nvPr/>
        </p:nvSpPr>
        <p:spPr>
          <a:xfrm>
            <a:off x="6720840" y="987552"/>
            <a:ext cx="1737360" cy="594360"/>
          </a:xfrm>
          <a:prstGeom prst="rect">
            <a:avLst/>
          </a:prstGeom>
          <a:noFill/>
          <a:ln/>
        </p:spPr>
        <p:txBody>
          <a:bodyPr wrap="square" lIns="0" tIns="0" rIns="0" bIns="0" rtlCol="0" anchor="ctr"/>
          <a:lstStyle/>
          <a:p>
            <a:pPr marL="0" indent="0">
              <a:buNone/>
            </a:pPr>
            <a:r>
              <a:rPr lang="en-US" sz="3800" b="1" dirty="0">
                <a:solidFill>
                  <a:srgbClr val="06B6D4"/>
                </a:solidFill>
                <a:latin typeface="Inter" panose="02000503000000020004" pitchFamily="2" charset="0"/>
                <a:ea typeface="Inter" panose="02000503000000020004" pitchFamily="2" charset="0"/>
              </a:rPr>
              <a:t>15</a:t>
            </a:r>
            <a:endParaRPr lang="en-US" sz="3800" dirty="0">
              <a:latin typeface="Inter" panose="02000503000000020004" pitchFamily="2" charset="0"/>
              <a:ea typeface="Inter" panose="02000503000000020004" pitchFamily="2" charset="0"/>
            </a:endParaRPr>
          </a:p>
        </p:txBody>
      </p:sp>
      <p:sp>
        <p:nvSpPr>
          <p:cNvPr id="18" name="Text 12"/>
          <p:cNvSpPr/>
          <p:nvPr/>
        </p:nvSpPr>
        <p:spPr>
          <a:xfrm>
            <a:off x="6144768" y="2011680"/>
            <a:ext cx="2377440" cy="411480"/>
          </a:xfrm>
          <a:prstGeom prst="rect">
            <a:avLst/>
          </a:prstGeom>
          <a:noFill/>
          <a:ln/>
        </p:spPr>
        <p:txBody>
          <a:bodyPr wrap="square" lIns="0" tIns="0" rIns="0" bIns="0" rtlCol="0" anchor="ctr"/>
          <a:lstStyle/>
          <a:p>
            <a:pPr marL="0" indent="0" algn="ctr">
              <a:buNone/>
            </a:pPr>
            <a:r>
              <a:rPr lang="en-US" sz="1300" b="1" dirty="0">
                <a:solidFill>
                  <a:srgbClr val="E2E8F0"/>
                </a:solidFill>
                <a:latin typeface="Inter" panose="02000503000000020004" pitchFamily="2" charset="0"/>
                <a:ea typeface="Inter" panose="02000503000000020004" pitchFamily="2" charset="0"/>
              </a:rPr>
              <a:t>Interactive Visuals</a:t>
            </a:r>
            <a:endParaRPr lang="en-US" sz="1300" dirty="0">
              <a:latin typeface="Inter" panose="02000503000000020004" pitchFamily="2" charset="0"/>
              <a:ea typeface="Inter" panose="02000503000000020004" pitchFamily="2" charset="0"/>
            </a:endParaRPr>
          </a:p>
        </p:txBody>
      </p:sp>
      <p:sp>
        <p:nvSpPr>
          <p:cNvPr id="19" name="Shape 13"/>
          <p:cNvSpPr/>
          <p:nvPr/>
        </p:nvSpPr>
        <p:spPr>
          <a:xfrm>
            <a:off x="365760" y="2743200"/>
            <a:ext cx="2606040" cy="1737360"/>
          </a:xfrm>
          <a:prstGeom prst="rect">
            <a:avLst/>
          </a:prstGeom>
          <a:solidFill>
            <a:srgbClr val="0F0F1E"/>
          </a:solidFill>
          <a:ln w="12700">
            <a:solidFill>
              <a:srgbClr val="F59E0B"/>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20" name="Shape 14"/>
          <p:cNvSpPr/>
          <p:nvPr/>
        </p:nvSpPr>
        <p:spPr>
          <a:xfrm>
            <a:off x="365760" y="2743200"/>
            <a:ext cx="2606040" cy="91440"/>
          </a:xfrm>
          <a:prstGeom prst="rect">
            <a:avLst/>
          </a:prstGeom>
          <a:solidFill>
            <a:srgbClr val="F59E0B"/>
          </a:solidFill>
          <a:ln/>
        </p:spPr>
        <p:txBody>
          <a:bodyPr/>
          <a:lstStyle/>
          <a:p>
            <a:endParaRPr lang="en-US">
              <a:latin typeface="Inter" panose="02000503000000020004" pitchFamily="2" charset="0"/>
              <a:ea typeface="Inter" panose="02000503000000020004" pitchFamily="2" charset="0"/>
            </a:endParaRPr>
          </a:p>
        </p:txBody>
      </p:sp>
      <p:pic>
        <p:nvPicPr>
          <p:cNvPr id="21" name="Image 4" descr="preencoded.png"/>
          <p:cNvPicPr>
            <a:picLocks noChangeAspect="1"/>
          </p:cNvPicPr>
          <p:nvPr/>
        </p:nvPicPr>
        <p:blipFill>
          <a:blip r:embed="rId7"/>
          <a:stretch>
            <a:fillRect/>
          </a:stretch>
        </p:blipFill>
        <p:spPr>
          <a:xfrm>
            <a:off x="530352" y="2944368"/>
            <a:ext cx="411480" cy="411480"/>
          </a:xfrm>
          <a:prstGeom prst="rect">
            <a:avLst/>
          </a:prstGeom>
        </p:spPr>
      </p:pic>
      <p:sp>
        <p:nvSpPr>
          <p:cNvPr id="22" name="Text 15"/>
          <p:cNvSpPr/>
          <p:nvPr/>
        </p:nvSpPr>
        <p:spPr>
          <a:xfrm>
            <a:off x="1051560" y="2907792"/>
            <a:ext cx="1737360" cy="594360"/>
          </a:xfrm>
          <a:prstGeom prst="rect">
            <a:avLst/>
          </a:prstGeom>
          <a:noFill/>
          <a:ln/>
        </p:spPr>
        <p:txBody>
          <a:bodyPr wrap="square" lIns="0" tIns="0" rIns="0" bIns="0" rtlCol="0" anchor="ctr"/>
          <a:lstStyle/>
          <a:p>
            <a:pPr marL="0" indent="0">
              <a:buNone/>
            </a:pPr>
            <a:r>
              <a:rPr lang="en-US" sz="3800" b="1" dirty="0">
                <a:solidFill>
                  <a:srgbClr val="F59E0B"/>
                </a:solidFill>
                <a:latin typeface="Inter" panose="02000503000000020004" pitchFamily="2" charset="0"/>
                <a:ea typeface="Inter" panose="02000503000000020004" pitchFamily="2" charset="0"/>
              </a:rPr>
              <a:t>82</a:t>
            </a:r>
            <a:endParaRPr lang="en-US" sz="3800" dirty="0">
              <a:latin typeface="Inter" panose="02000503000000020004" pitchFamily="2" charset="0"/>
              <a:ea typeface="Inter" panose="02000503000000020004" pitchFamily="2" charset="0"/>
            </a:endParaRPr>
          </a:p>
        </p:txBody>
      </p:sp>
      <p:sp>
        <p:nvSpPr>
          <p:cNvPr id="23" name="Text 16"/>
          <p:cNvSpPr/>
          <p:nvPr/>
        </p:nvSpPr>
        <p:spPr>
          <a:xfrm>
            <a:off x="475488" y="3931920"/>
            <a:ext cx="2377440" cy="411480"/>
          </a:xfrm>
          <a:prstGeom prst="rect">
            <a:avLst/>
          </a:prstGeom>
          <a:noFill/>
          <a:ln/>
        </p:spPr>
        <p:txBody>
          <a:bodyPr wrap="square" lIns="0" tIns="0" rIns="0" bIns="0" rtlCol="0" anchor="ctr"/>
          <a:lstStyle/>
          <a:p>
            <a:pPr marL="0" indent="0" algn="ctr">
              <a:buNone/>
            </a:pPr>
            <a:r>
              <a:rPr lang="en-US" sz="1300" b="1" dirty="0">
                <a:solidFill>
                  <a:srgbClr val="E2E8F0"/>
                </a:solidFill>
                <a:latin typeface="Inter" panose="02000503000000020004" pitchFamily="2" charset="0"/>
                <a:ea typeface="Inter" panose="02000503000000020004" pitchFamily="2" charset="0"/>
              </a:rPr>
              <a:t>Quiz Questions</a:t>
            </a:r>
            <a:endParaRPr lang="en-US" sz="1300" dirty="0">
              <a:latin typeface="Inter" panose="02000503000000020004" pitchFamily="2" charset="0"/>
              <a:ea typeface="Inter" panose="02000503000000020004" pitchFamily="2" charset="0"/>
            </a:endParaRPr>
          </a:p>
        </p:txBody>
      </p:sp>
      <p:sp>
        <p:nvSpPr>
          <p:cNvPr id="24" name="Shape 17"/>
          <p:cNvSpPr/>
          <p:nvPr/>
        </p:nvSpPr>
        <p:spPr>
          <a:xfrm>
            <a:off x="3200400" y="2743200"/>
            <a:ext cx="2606040" cy="1737360"/>
          </a:xfrm>
          <a:prstGeom prst="rect">
            <a:avLst/>
          </a:prstGeom>
          <a:solidFill>
            <a:srgbClr val="0F0F1E"/>
          </a:solidFill>
          <a:ln w="12700">
            <a:solidFill>
              <a:srgbClr val="10B98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25" name="Shape 18"/>
          <p:cNvSpPr/>
          <p:nvPr/>
        </p:nvSpPr>
        <p:spPr>
          <a:xfrm>
            <a:off x="3200400" y="2743200"/>
            <a:ext cx="2606040" cy="91440"/>
          </a:xfrm>
          <a:prstGeom prst="rect">
            <a:avLst/>
          </a:prstGeom>
          <a:solidFill>
            <a:srgbClr val="10B981"/>
          </a:solidFill>
          <a:ln/>
        </p:spPr>
        <p:txBody>
          <a:bodyPr/>
          <a:lstStyle/>
          <a:p>
            <a:endParaRPr lang="en-US">
              <a:latin typeface="Inter" panose="02000503000000020004" pitchFamily="2" charset="0"/>
              <a:ea typeface="Inter" panose="02000503000000020004" pitchFamily="2" charset="0"/>
            </a:endParaRPr>
          </a:p>
        </p:txBody>
      </p:sp>
      <p:pic>
        <p:nvPicPr>
          <p:cNvPr id="26" name="Image 5" descr="preencoded.png"/>
          <p:cNvPicPr>
            <a:picLocks noChangeAspect="1"/>
          </p:cNvPicPr>
          <p:nvPr/>
        </p:nvPicPr>
        <p:blipFill>
          <a:blip r:embed="rId8"/>
          <a:stretch>
            <a:fillRect/>
          </a:stretch>
        </p:blipFill>
        <p:spPr>
          <a:xfrm>
            <a:off x="3364992" y="2944368"/>
            <a:ext cx="411480" cy="411480"/>
          </a:xfrm>
          <a:prstGeom prst="rect">
            <a:avLst/>
          </a:prstGeom>
        </p:spPr>
      </p:pic>
      <p:sp>
        <p:nvSpPr>
          <p:cNvPr id="27" name="Text 19"/>
          <p:cNvSpPr/>
          <p:nvPr/>
        </p:nvSpPr>
        <p:spPr>
          <a:xfrm>
            <a:off x="3886200" y="2907792"/>
            <a:ext cx="1737360" cy="594360"/>
          </a:xfrm>
          <a:prstGeom prst="rect">
            <a:avLst/>
          </a:prstGeom>
          <a:noFill/>
          <a:ln/>
        </p:spPr>
        <p:txBody>
          <a:bodyPr wrap="square" lIns="0" tIns="0" rIns="0" bIns="0" rtlCol="0" anchor="ctr"/>
          <a:lstStyle/>
          <a:p>
            <a:pPr marL="0" indent="0">
              <a:buNone/>
            </a:pPr>
            <a:r>
              <a:rPr lang="en-US" sz="3800" b="1" dirty="0">
                <a:solidFill>
                  <a:srgbClr val="10B981"/>
                </a:solidFill>
                <a:latin typeface="Inter" panose="02000503000000020004" pitchFamily="2" charset="0"/>
                <a:ea typeface="Inter" panose="02000503000000020004" pitchFamily="2" charset="0"/>
              </a:rPr>
              <a:t>8</a:t>
            </a:r>
            <a:endParaRPr lang="en-US" sz="3800" dirty="0">
              <a:latin typeface="Inter" panose="02000503000000020004" pitchFamily="2" charset="0"/>
              <a:ea typeface="Inter" panose="02000503000000020004" pitchFamily="2" charset="0"/>
            </a:endParaRPr>
          </a:p>
        </p:txBody>
      </p:sp>
      <p:sp>
        <p:nvSpPr>
          <p:cNvPr id="28" name="Text 20"/>
          <p:cNvSpPr/>
          <p:nvPr/>
        </p:nvSpPr>
        <p:spPr>
          <a:xfrm>
            <a:off x="3310128" y="3931920"/>
            <a:ext cx="2377440" cy="411480"/>
          </a:xfrm>
          <a:prstGeom prst="rect">
            <a:avLst/>
          </a:prstGeom>
          <a:noFill/>
          <a:ln/>
        </p:spPr>
        <p:txBody>
          <a:bodyPr wrap="square" lIns="0" tIns="0" rIns="0" bIns="0" rtlCol="0" anchor="ctr"/>
          <a:lstStyle/>
          <a:p>
            <a:pPr marL="0" indent="0" algn="ctr">
              <a:buNone/>
            </a:pPr>
            <a:r>
              <a:rPr lang="en-US" sz="1300" b="1" dirty="0">
                <a:solidFill>
                  <a:srgbClr val="E2E8F0"/>
                </a:solidFill>
                <a:latin typeface="Inter" panose="02000503000000020004" pitchFamily="2" charset="0"/>
                <a:ea typeface="Inter" panose="02000503000000020004" pitchFamily="2" charset="0"/>
              </a:rPr>
              <a:t>Code Examples</a:t>
            </a:r>
            <a:endParaRPr lang="en-US" sz="1300" dirty="0">
              <a:latin typeface="Inter" panose="02000503000000020004" pitchFamily="2" charset="0"/>
              <a:ea typeface="Inter" panose="02000503000000020004" pitchFamily="2" charset="0"/>
            </a:endParaRPr>
          </a:p>
        </p:txBody>
      </p:sp>
      <p:sp>
        <p:nvSpPr>
          <p:cNvPr id="29" name="Shape 21"/>
          <p:cNvSpPr/>
          <p:nvPr/>
        </p:nvSpPr>
        <p:spPr>
          <a:xfrm>
            <a:off x="6035040" y="2743200"/>
            <a:ext cx="2606040" cy="1737360"/>
          </a:xfrm>
          <a:prstGeom prst="rect">
            <a:avLst/>
          </a:prstGeom>
          <a:solidFill>
            <a:srgbClr val="0F0F1E"/>
          </a:solidFill>
          <a:ln w="12700">
            <a:solidFill>
              <a:srgbClr val="EF4444"/>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30" name="Shape 22"/>
          <p:cNvSpPr/>
          <p:nvPr/>
        </p:nvSpPr>
        <p:spPr>
          <a:xfrm>
            <a:off x="6035040" y="2743200"/>
            <a:ext cx="2606040" cy="91440"/>
          </a:xfrm>
          <a:prstGeom prst="rect">
            <a:avLst/>
          </a:prstGeom>
          <a:solidFill>
            <a:srgbClr val="EF4444"/>
          </a:solidFill>
          <a:ln/>
        </p:spPr>
        <p:txBody>
          <a:bodyPr/>
          <a:lstStyle/>
          <a:p>
            <a:endParaRPr lang="en-US">
              <a:latin typeface="Inter" panose="02000503000000020004" pitchFamily="2" charset="0"/>
              <a:ea typeface="Inter" panose="02000503000000020004" pitchFamily="2" charset="0"/>
            </a:endParaRPr>
          </a:p>
        </p:txBody>
      </p:sp>
      <p:pic>
        <p:nvPicPr>
          <p:cNvPr id="31" name="Image 6" descr="preencoded.png"/>
          <p:cNvPicPr>
            <a:picLocks noChangeAspect="1"/>
          </p:cNvPicPr>
          <p:nvPr/>
        </p:nvPicPr>
        <p:blipFill>
          <a:blip r:embed="rId9"/>
          <a:stretch>
            <a:fillRect/>
          </a:stretch>
        </p:blipFill>
        <p:spPr>
          <a:xfrm>
            <a:off x="6199632" y="2944368"/>
            <a:ext cx="411480" cy="411480"/>
          </a:xfrm>
          <a:prstGeom prst="rect">
            <a:avLst/>
          </a:prstGeom>
        </p:spPr>
      </p:pic>
      <p:sp>
        <p:nvSpPr>
          <p:cNvPr id="32" name="Text 23"/>
          <p:cNvSpPr/>
          <p:nvPr/>
        </p:nvSpPr>
        <p:spPr>
          <a:xfrm>
            <a:off x="6720840" y="2907792"/>
            <a:ext cx="1737360" cy="594360"/>
          </a:xfrm>
          <a:prstGeom prst="rect">
            <a:avLst/>
          </a:prstGeom>
          <a:noFill/>
          <a:ln/>
        </p:spPr>
        <p:txBody>
          <a:bodyPr wrap="square" lIns="0" tIns="0" rIns="0" bIns="0" rtlCol="0" anchor="ctr"/>
          <a:lstStyle/>
          <a:p>
            <a:pPr marL="0" indent="0">
              <a:buNone/>
            </a:pPr>
            <a:r>
              <a:rPr lang="en-US" sz="3800" b="1" dirty="0">
                <a:solidFill>
                  <a:srgbClr val="EF4444"/>
                </a:solidFill>
                <a:latin typeface="Inter" panose="02000503000000020004" pitchFamily="2" charset="0"/>
                <a:ea typeface="Inter" panose="02000503000000020004" pitchFamily="2" charset="0"/>
              </a:rPr>
              <a:t>10</a:t>
            </a:r>
            <a:endParaRPr lang="en-US" sz="3800" dirty="0">
              <a:latin typeface="Inter" panose="02000503000000020004" pitchFamily="2" charset="0"/>
              <a:ea typeface="Inter" panose="02000503000000020004" pitchFamily="2" charset="0"/>
            </a:endParaRPr>
          </a:p>
        </p:txBody>
      </p:sp>
      <p:sp>
        <p:nvSpPr>
          <p:cNvPr id="33" name="Text 24"/>
          <p:cNvSpPr/>
          <p:nvPr/>
        </p:nvSpPr>
        <p:spPr>
          <a:xfrm>
            <a:off x="6144768" y="3931920"/>
            <a:ext cx="2377440" cy="411480"/>
          </a:xfrm>
          <a:prstGeom prst="rect">
            <a:avLst/>
          </a:prstGeom>
          <a:noFill/>
          <a:ln/>
        </p:spPr>
        <p:txBody>
          <a:bodyPr wrap="square" lIns="0" tIns="0" rIns="0" bIns="0" rtlCol="0" anchor="ctr"/>
          <a:lstStyle/>
          <a:p>
            <a:pPr marL="0" indent="0" algn="ctr">
              <a:buNone/>
            </a:pPr>
            <a:r>
              <a:rPr lang="en-US" sz="1300" b="1" dirty="0">
                <a:solidFill>
                  <a:srgbClr val="E2E8F0"/>
                </a:solidFill>
                <a:latin typeface="Inter" panose="02000503000000020004" pitchFamily="2" charset="0"/>
                <a:ea typeface="Inter" panose="02000503000000020004" pitchFamily="2" charset="0"/>
              </a:rPr>
              <a:t>Achievements</a:t>
            </a:r>
            <a:endParaRPr lang="en-US" sz="1300" dirty="0">
              <a:latin typeface="Inter" panose="02000503000000020004" pitchFamily="2" charset="0"/>
              <a:ea typeface="Inter" panose="02000503000000020004" pitchFamily="2" charset="0"/>
            </a:endParaRPr>
          </a:p>
        </p:txBody>
      </p:sp>
      <p:sp>
        <p:nvSpPr>
          <p:cNvPr id="36" name="Text 27"/>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latin typeface="Inter" panose="02000503000000020004" pitchFamily="2" charset="0"/>
                <a:ea typeface="Inter" panose="02000503000000020004" pitchFamily="2" charset="0"/>
              </a:rPr>
              <a:t>LinearMind</a:t>
            </a:r>
            <a:endParaRPr lang="en-US" sz="900" dirty="0">
              <a:latin typeface="Inter" panose="02000503000000020004" pitchFamily="2" charset="0"/>
              <a:ea typeface="Inter" panose="02000503000000020004" pitchFamily="2" charset="0"/>
            </a:endParaRPr>
          </a:p>
        </p:txBody>
      </p:sp>
      <p:sp>
        <p:nvSpPr>
          <p:cNvPr id="37" name="Text 28"/>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latin typeface="Inter" panose="02000503000000020004" pitchFamily="2" charset="0"/>
                <a:ea typeface="Inter" panose="02000503000000020004" pitchFamily="2" charset="0"/>
              </a:rPr>
              <a:t>17</a:t>
            </a:r>
            <a:endParaRPr lang="en-US" sz="900" dirty="0">
              <a:latin typeface="Inter" panose="02000503000000020004" pitchFamily="2" charset="0"/>
              <a:ea typeface="Inter" panose="02000503000000020004" pitchFamily="2" charset="0"/>
            </a:endParaRPr>
          </a:p>
        </p:txBody>
      </p:sp>
      <p:sp>
        <p:nvSpPr>
          <p:cNvPr id="38" name="Shape 29"/>
          <p:cNvSpPr/>
          <p:nvPr/>
        </p:nvSpPr>
        <p:spPr>
          <a:xfrm>
            <a:off x="274320" y="4873752"/>
            <a:ext cx="8595360" cy="0"/>
          </a:xfrm>
          <a:prstGeom prst="line">
            <a:avLst/>
          </a:prstGeom>
          <a:noFill/>
          <a:ln w="635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201168"/>
            <a:ext cx="8412480" cy="502920"/>
          </a:xfrm>
          <a:prstGeom prst="rect">
            <a:avLst/>
          </a:prstGeom>
          <a:noFill/>
          <a:ln/>
        </p:spPr>
        <p:txBody>
          <a:bodyPr wrap="square" lIns="0" tIns="0" rIns="0" bIns="0" rtlCol="0" anchor="ctr"/>
          <a:lstStyle/>
          <a:p>
            <a:pPr marL="0" indent="0">
              <a:buNone/>
            </a:pPr>
            <a:r>
              <a:rPr lang="en-US" sz="2600" b="1" dirty="0">
                <a:solidFill>
                  <a:srgbClr val="818CF8"/>
                </a:solidFill>
                <a:latin typeface="Inter" panose="02000503000000020004" pitchFamily="2" charset="0"/>
                <a:ea typeface="Inter" panose="02000503000000020004" pitchFamily="2" charset="0"/>
                <a:cs typeface="Calibri" pitchFamily="34" charset="-120"/>
              </a:rPr>
              <a:t>Curriculum Map — History to Neural Networks</a:t>
            </a:r>
            <a:endParaRPr lang="en-US" sz="2600" dirty="0">
              <a:latin typeface="Inter" panose="02000503000000020004" pitchFamily="2" charset="0"/>
              <a:ea typeface="Inter" panose="02000503000000020004" pitchFamily="2" charset="0"/>
            </a:endParaRPr>
          </a:p>
        </p:txBody>
      </p:sp>
      <p:sp>
        <p:nvSpPr>
          <p:cNvPr id="4" name="Shape 1"/>
          <p:cNvSpPr/>
          <p:nvPr/>
        </p:nvSpPr>
        <p:spPr>
          <a:xfrm>
            <a:off x="539496" y="1143000"/>
            <a:ext cx="0" cy="182880"/>
          </a:xfrm>
          <a:prstGeom prst="line">
            <a:avLst/>
          </a:prstGeom>
          <a:noFill/>
          <a:ln w="1270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sp>
        <p:nvSpPr>
          <p:cNvPr id="5" name="Shape 2"/>
          <p:cNvSpPr/>
          <p:nvPr/>
        </p:nvSpPr>
        <p:spPr>
          <a:xfrm>
            <a:off x="365760" y="804672"/>
            <a:ext cx="4160520" cy="384048"/>
          </a:xfrm>
          <a:prstGeom prst="rect">
            <a:avLst/>
          </a:prstGeom>
          <a:solidFill>
            <a:srgbClr val="0F0F1E"/>
          </a:solidFill>
          <a:ln w="12700">
            <a:solidFill>
              <a:srgbClr val="94A3B8"/>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6" name="Text 3"/>
          <p:cNvSpPr/>
          <p:nvPr/>
        </p:nvSpPr>
        <p:spPr>
          <a:xfrm>
            <a:off x="457200" y="804672"/>
            <a:ext cx="411480" cy="384048"/>
          </a:xfrm>
          <a:prstGeom prst="rect">
            <a:avLst/>
          </a:prstGeom>
          <a:noFill/>
          <a:ln/>
        </p:spPr>
        <p:txBody>
          <a:bodyPr wrap="square" lIns="0" tIns="0" rIns="0" bIns="0" rtlCol="0" anchor="ctr"/>
          <a:lstStyle/>
          <a:p>
            <a:pPr marL="0" indent="0">
              <a:buNone/>
            </a:pPr>
            <a:r>
              <a:rPr lang="en-US" sz="1000" b="1" dirty="0">
                <a:solidFill>
                  <a:srgbClr val="94A3B8"/>
                </a:solidFill>
                <a:latin typeface="Inter" panose="02000503000000020004" pitchFamily="2" charset="0"/>
                <a:ea typeface="Inter" panose="02000503000000020004" pitchFamily="2" charset="0"/>
              </a:rPr>
              <a:t>01</a:t>
            </a:r>
            <a:endParaRPr lang="en-US" sz="1000" dirty="0">
              <a:latin typeface="Inter" panose="02000503000000020004" pitchFamily="2" charset="0"/>
              <a:ea typeface="Inter" panose="02000503000000020004" pitchFamily="2" charset="0"/>
            </a:endParaRPr>
          </a:p>
        </p:txBody>
      </p:sp>
      <p:sp>
        <p:nvSpPr>
          <p:cNvPr id="7" name="Text 4"/>
          <p:cNvSpPr/>
          <p:nvPr/>
        </p:nvSpPr>
        <p:spPr>
          <a:xfrm>
            <a:off x="914400" y="804672"/>
            <a:ext cx="3520440" cy="384048"/>
          </a:xfrm>
          <a:prstGeom prst="rect">
            <a:avLst/>
          </a:prstGeom>
          <a:noFill/>
          <a:ln/>
        </p:spPr>
        <p:txBody>
          <a:bodyPr wrap="square" lIns="0" tIns="0" rIns="0" bIns="0" rtlCol="0" anchor="ctr"/>
          <a:lstStyle/>
          <a:p>
            <a:pPr marL="0" indent="0">
              <a:buNone/>
            </a:pPr>
            <a:r>
              <a:rPr lang="en-US" sz="1200" dirty="0">
                <a:solidFill>
                  <a:srgbClr val="E2E8F0"/>
                </a:solidFill>
                <a:latin typeface="Inter" panose="02000503000000020004" pitchFamily="2" charset="0"/>
                <a:ea typeface="Inter" panose="02000503000000020004" pitchFamily="2" charset="0"/>
              </a:rPr>
              <a:t>The Story of the Line</a:t>
            </a:r>
            <a:endParaRPr lang="en-US" sz="1200" dirty="0">
              <a:latin typeface="Inter" panose="02000503000000020004" pitchFamily="2" charset="0"/>
              <a:ea typeface="Inter" panose="02000503000000020004" pitchFamily="2" charset="0"/>
            </a:endParaRPr>
          </a:p>
        </p:txBody>
      </p:sp>
      <p:sp>
        <p:nvSpPr>
          <p:cNvPr id="8" name="Shape 5"/>
          <p:cNvSpPr/>
          <p:nvPr/>
        </p:nvSpPr>
        <p:spPr>
          <a:xfrm>
            <a:off x="539496" y="1664208"/>
            <a:ext cx="0" cy="182880"/>
          </a:xfrm>
          <a:prstGeom prst="line">
            <a:avLst/>
          </a:prstGeom>
          <a:noFill/>
          <a:ln w="1270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sp>
        <p:nvSpPr>
          <p:cNvPr id="9" name="Shape 6"/>
          <p:cNvSpPr/>
          <p:nvPr/>
        </p:nvSpPr>
        <p:spPr>
          <a:xfrm>
            <a:off x="365760" y="1325880"/>
            <a:ext cx="4160520" cy="384048"/>
          </a:xfrm>
          <a:prstGeom prst="rect">
            <a:avLst/>
          </a:prstGeom>
          <a:solidFill>
            <a:srgbClr val="0F0F1E"/>
          </a:solidFill>
          <a:ln w="12700">
            <a:solidFill>
              <a:srgbClr val="94A3B8"/>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10" name="Text 7"/>
          <p:cNvSpPr/>
          <p:nvPr/>
        </p:nvSpPr>
        <p:spPr>
          <a:xfrm>
            <a:off x="457200" y="1325880"/>
            <a:ext cx="411480" cy="384048"/>
          </a:xfrm>
          <a:prstGeom prst="rect">
            <a:avLst/>
          </a:prstGeom>
          <a:noFill/>
          <a:ln/>
        </p:spPr>
        <p:txBody>
          <a:bodyPr wrap="square" lIns="0" tIns="0" rIns="0" bIns="0" rtlCol="0" anchor="ctr"/>
          <a:lstStyle/>
          <a:p>
            <a:pPr marL="0" indent="0">
              <a:buNone/>
            </a:pPr>
            <a:r>
              <a:rPr lang="en-US" sz="1000" b="1" dirty="0">
                <a:solidFill>
                  <a:srgbClr val="94A3B8"/>
                </a:solidFill>
                <a:latin typeface="Inter" panose="02000503000000020004" pitchFamily="2" charset="0"/>
                <a:ea typeface="Inter" panose="02000503000000020004" pitchFamily="2" charset="0"/>
              </a:rPr>
              <a:t>02</a:t>
            </a:r>
            <a:endParaRPr lang="en-US" sz="1000" dirty="0">
              <a:latin typeface="Inter" panose="02000503000000020004" pitchFamily="2" charset="0"/>
              <a:ea typeface="Inter" panose="02000503000000020004" pitchFamily="2" charset="0"/>
            </a:endParaRPr>
          </a:p>
        </p:txBody>
      </p:sp>
      <p:sp>
        <p:nvSpPr>
          <p:cNvPr id="11" name="Text 8"/>
          <p:cNvSpPr/>
          <p:nvPr/>
        </p:nvSpPr>
        <p:spPr>
          <a:xfrm>
            <a:off x="914400" y="1325880"/>
            <a:ext cx="3520440" cy="384048"/>
          </a:xfrm>
          <a:prstGeom prst="rect">
            <a:avLst/>
          </a:prstGeom>
          <a:noFill/>
          <a:ln/>
        </p:spPr>
        <p:txBody>
          <a:bodyPr wrap="square" lIns="0" tIns="0" rIns="0" bIns="0" rtlCol="0" anchor="ctr"/>
          <a:lstStyle/>
          <a:p>
            <a:pPr marL="0" indent="0">
              <a:buNone/>
            </a:pPr>
            <a:r>
              <a:rPr lang="en-US" sz="1200" dirty="0">
                <a:solidFill>
                  <a:srgbClr val="E2E8F0"/>
                </a:solidFill>
                <a:latin typeface="Inter" panose="02000503000000020004" pitchFamily="2" charset="0"/>
                <a:ea typeface="Inter" panose="02000503000000020004" pitchFamily="2" charset="0"/>
              </a:rPr>
              <a:t>Introduction</a:t>
            </a:r>
            <a:endParaRPr lang="en-US" sz="1200" dirty="0">
              <a:latin typeface="Inter" panose="02000503000000020004" pitchFamily="2" charset="0"/>
              <a:ea typeface="Inter" panose="02000503000000020004" pitchFamily="2" charset="0"/>
            </a:endParaRPr>
          </a:p>
        </p:txBody>
      </p:sp>
      <p:sp>
        <p:nvSpPr>
          <p:cNvPr id="12" name="Shape 9"/>
          <p:cNvSpPr/>
          <p:nvPr/>
        </p:nvSpPr>
        <p:spPr>
          <a:xfrm>
            <a:off x="539496" y="2185416"/>
            <a:ext cx="0" cy="182880"/>
          </a:xfrm>
          <a:prstGeom prst="line">
            <a:avLst/>
          </a:prstGeom>
          <a:noFill/>
          <a:ln w="1270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sp>
        <p:nvSpPr>
          <p:cNvPr id="13" name="Shape 10"/>
          <p:cNvSpPr/>
          <p:nvPr/>
        </p:nvSpPr>
        <p:spPr>
          <a:xfrm>
            <a:off x="365760" y="1847088"/>
            <a:ext cx="4160520" cy="384048"/>
          </a:xfrm>
          <a:prstGeom prst="rect">
            <a:avLst/>
          </a:prstGeom>
          <a:solidFill>
            <a:srgbClr val="0F0F1E"/>
          </a:solidFill>
          <a:ln w="12700">
            <a:solidFill>
              <a:srgbClr val="818CF8"/>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14" name="Text 11"/>
          <p:cNvSpPr/>
          <p:nvPr/>
        </p:nvSpPr>
        <p:spPr>
          <a:xfrm>
            <a:off x="457200" y="1847088"/>
            <a:ext cx="411480" cy="384048"/>
          </a:xfrm>
          <a:prstGeom prst="rect">
            <a:avLst/>
          </a:prstGeom>
          <a:noFill/>
          <a:ln/>
        </p:spPr>
        <p:txBody>
          <a:bodyPr wrap="square" lIns="0" tIns="0" rIns="0" bIns="0" rtlCol="0" anchor="ctr"/>
          <a:lstStyle/>
          <a:p>
            <a:pPr marL="0" indent="0">
              <a:buNone/>
            </a:pPr>
            <a:r>
              <a:rPr lang="en-US" sz="1000" b="1" dirty="0">
                <a:solidFill>
                  <a:srgbClr val="818CF8"/>
                </a:solidFill>
                <a:latin typeface="Inter" panose="02000503000000020004" pitchFamily="2" charset="0"/>
                <a:ea typeface="Inter" panose="02000503000000020004" pitchFamily="2" charset="0"/>
              </a:rPr>
              <a:t>03</a:t>
            </a:r>
            <a:endParaRPr lang="en-US" sz="1000" dirty="0">
              <a:latin typeface="Inter" panose="02000503000000020004" pitchFamily="2" charset="0"/>
              <a:ea typeface="Inter" panose="02000503000000020004" pitchFamily="2" charset="0"/>
            </a:endParaRPr>
          </a:p>
        </p:txBody>
      </p:sp>
      <p:sp>
        <p:nvSpPr>
          <p:cNvPr id="15" name="Text 12"/>
          <p:cNvSpPr/>
          <p:nvPr/>
        </p:nvSpPr>
        <p:spPr>
          <a:xfrm>
            <a:off x="914400" y="1847088"/>
            <a:ext cx="3520440" cy="384048"/>
          </a:xfrm>
          <a:prstGeom prst="rect">
            <a:avLst/>
          </a:prstGeom>
          <a:noFill/>
          <a:ln/>
        </p:spPr>
        <p:txBody>
          <a:bodyPr wrap="square" lIns="0" tIns="0" rIns="0" bIns="0" rtlCol="0" anchor="ctr"/>
          <a:lstStyle/>
          <a:p>
            <a:pPr marL="0" indent="0">
              <a:buNone/>
            </a:pPr>
            <a:r>
              <a:rPr lang="en-US" sz="1200" dirty="0">
                <a:solidFill>
                  <a:srgbClr val="E2E8F0"/>
                </a:solidFill>
                <a:latin typeface="Inter" panose="02000503000000020004" pitchFamily="2" charset="0"/>
                <a:ea typeface="Inter" panose="02000503000000020004" pitchFamily="2" charset="0"/>
              </a:rPr>
              <a:t>The Mathematics</a:t>
            </a:r>
            <a:endParaRPr lang="en-US" sz="1200" dirty="0">
              <a:latin typeface="Inter" panose="02000503000000020004" pitchFamily="2" charset="0"/>
              <a:ea typeface="Inter" panose="02000503000000020004" pitchFamily="2" charset="0"/>
            </a:endParaRPr>
          </a:p>
        </p:txBody>
      </p:sp>
      <p:sp>
        <p:nvSpPr>
          <p:cNvPr id="16" name="Shape 13"/>
          <p:cNvSpPr/>
          <p:nvPr/>
        </p:nvSpPr>
        <p:spPr>
          <a:xfrm>
            <a:off x="539496" y="2706624"/>
            <a:ext cx="0" cy="182880"/>
          </a:xfrm>
          <a:prstGeom prst="line">
            <a:avLst/>
          </a:prstGeom>
          <a:noFill/>
          <a:ln w="1270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sp>
        <p:nvSpPr>
          <p:cNvPr id="17" name="Shape 14"/>
          <p:cNvSpPr/>
          <p:nvPr/>
        </p:nvSpPr>
        <p:spPr>
          <a:xfrm>
            <a:off x="365760" y="2368296"/>
            <a:ext cx="4160520" cy="384048"/>
          </a:xfrm>
          <a:prstGeom prst="rect">
            <a:avLst/>
          </a:prstGeom>
          <a:solidFill>
            <a:srgbClr val="0F0F1E"/>
          </a:solidFill>
          <a:ln w="12700">
            <a:solidFill>
              <a:srgbClr val="818CF8"/>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18" name="Text 15"/>
          <p:cNvSpPr/>
          <p:nvPr/>
        </p:nvSpPr>
        <p:spPr>
          <a:xfrm>
            <a:off x="457200" y="2368296"/>
            <a:ext cx="411480" cy="384048"/>
          </a:xfrm>
          <a:prstGeom prst="rect">
            <a:avLst/>
          </a:prstGeom>
          <a:noFill/>
          <a:ln/>
        </p:spPr>
        <p:txBody>
          <a:bodyPr wrap="square" lIns="0" tIns="0" rIns="0" bIns="0" rtlCol="0" anchor="ctr"/>
          <a:lstStyle/>
          <a:p>
            <a:pPr marL="0" indent="0">
              <a:buNone/>
            </a:pPr>
            <a:r>
              <a:rPr lang="en-US" sz="1000" b="1" dirty="0">
                <a:solidFill>
                  <a:srgbClr val="818CF8"/>
                </a:solidFill>
                <a:latin typeface="Inter" panose="02000503000000020004" pitchFamily="2" charset="0"/>
                <a:ea typeface="Inter" panose="02000503000000020004" pitchFamily="2" charset="0"/>
              </a:rPr>
              <a:t>04</a:t>
            </a:r>
            <a:endParaRPr lang="en-US" sz="1000" dirty="0">
              <a:latin typeface="Inter" panose="02000503000000020004" pitchFamily="2" charset="0"/>
              <a:ea typeface="Inter" panose="02000503000000020004" pitchFamily="2" charset="0"/>
            </a:endParaRPr>
          </a:p>
        </p:txBody>
      </p:sp>
      <p:sp>
        <p:nvSpPr>
          <p:cNvPr id="19" name="Text 16"/>
          <p:cNvSpPr/>
          <p:nvPr/>
        </p:nvSpPr>
        <p:spPr>
          <a:xfrm>
            <a:off x="914400" y="2368296"/>
            <a:ext cx="3520440" cy="384048"/>
          </a:xfrm>
          <a:prstGeom prst="rect">
            <a:avLst/>
          </a:prstGeom>
          <a:noFill/>
          <a:ln/>
        </p:spPr>
        <p:txBody>
          <a:bodyPr wrap="square" lIns="0" tIns="0" rIns="0" bIns="0" rtlCol="0" anchor="ctr"/>
          <a:lstStyle/>
          <a:p>
            <a:pPr marL="0" indent="0">
              <a:buNone/>
            </a:pPr>
            <a:r>
              <a:rPr lang="en-US" sz="1200" dirty="0">
                <a:solidFill>
                  <a:srgbClr val="E2E8F0"/>
                </a:solidFill>
                <a:latin typeface="Inter" panose="02000503000000020004" pitchFamily="2" charset="0"/>
                <a:ea typeface="Inter" panose="02000503000000020004" pitchFamily="2" charset="0"/>
              </a:rPr>
              <a:t>Cost Function</a:t>
            </a:r>
            <a:endParaRPr lang="en-US" sz="1200" dirty="0">
              <a:latin typeface="Inter" panose="02000503000000020004" pitchFamily="2" charset="0"/>
              <a:ea typeface="Inter" panose="02000503000000020004" pitchFamily="2" charset="0"/>
            </a:endParaRPr>
          </a:p>
        </p:txBody>
      </p:sp>
      <p:sp>
        <p:nvSpPr>
          <p:cNvPr id="20" name="Shape 17"/>
          <p:cNvSpPr/>
          <p:nvPr/>
        </p:nvSpPr>
        <p:spPr>
          <a:xfrm>
            <a:off x="539496" y="3227832"/>
            <a:ext cx="0" cy="182880"/>
          </a:xfrm>
          <a:prstGeom prst="line">
            <a:avLst/>
          </a:prstGeom>
          <a:noFill/>
          <a:ln w="1270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sp>
        <p:nvSpPr>
          <p:cNvPr id="21" name="Shape 18"/>
          <p:cNvSpPr/>
          <p:nvPr/>
        </p:nvSpPr>
        <p:spPr>
          <a:xfrm>
            <a:off x="365760" y="2889504"/>
            <a:ext cx="4160520" cy="384048"/>
          </a:xfrm>
          <a:prstGeom prst="rect">
            <a:avLst/>
          </a:prstGeom>
          <a:solidFill>
            <a:srgbClr val="0F0F1E"/>
          </a:solidFill>
          <a:ln w="12700">
            <a:solidFill>
              <a:srgbClr val="A855F7"/>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22" name="Text 19"/>
          <p:cNvSpPr/>
          <p:nvPr/>
        </p:nvSpPr>
        <p:spPr>
          <a:xfrm>
            <a:off x="457200" y="2889504"/>
            <a:ext cx="411480" cy="384048"/>
          </a:xfrm>
          <a:prstGeom prst="rect">
            <a:avLst/>
          </a:prstGeom>
          <a:noFill/>
          <a:ln/>
        </p:spPr>
        <p:txBody>
          <a:bodyPr wrap="square" lIns="0" tIns="0" rIns="0" bIns="0" rtlCol="0" anchor="ctr"/>
          <a:lstStyle/>
          <a:p>
            <a:pPr marL="0" indent="0">
              <a:buNone/>
            </a:pPr>
            <a:r>
              <a:rPr lang="en-US" sz="1000" b="1" dirty="0">
                <a:solidFill>
                  <a:srgbClr val="A855F7"/>
                </a:solidFill>
                <a:latin typeface="Inter" panose="02000503000000020004" pitchFamily="2" charset="0"/>
                <a:ea typeface="Inter" panose="02000503000000020004" pitchFamily="2" charset="0"/>
              </a:rPr>
              <a:t>05</a:t>
            </a:r>
            <a:endParaRPr lang="en-US" sz="1000" dirty="0">
              <a:latin typeface="Inter" panose="02000503000000020004" pitchFamily="2" charset="0"/>
              <a:ea typeface="Inter" panose="02000503000000020004" pitchFamily="2" charset="0"/>
            </a:endParaRPr>
          </a:p>
        </p:txBody>
      </p:sp>
      <p:sp>
        <p:nvSpPr>
          <p:cNvPr id="23" name="Text 20"/>
          <p:cNvSpPr/>
          <p:nvPr/>
        </p:nvSpPr>
        <p:spPr>
          <a:xfrm>
            <a:off x="914400" y="2889504"/>
            <a:ext cx="3520440" cy="384048"/>
          </a:xfrm>
          <a:prstGeom prst="rect">
            <a:avLst/>
          </a:prstGeom>
          <a:noFill/>
          <a:ln/>
        </p:spPr>
        <p:txBody>
          <a:bodyPr wrap="square" lIns="0" tIns="0" rIns="0" bIns="0" rtlCol="0" anchor="ctr"/>
          <a:lstStyle/>
          <a:p>
            <a:pPr marL="0" indent="0">
              <a:buNone/>
            </a:pPr>
            <a:r>
              <a:rPr lang="en-US" sz="1200" dirty="0">
                <a:solidFill>
                  <a:srgbClr val="E2E8F0"/>
                </a:solidFill>
                <a:latin typeface="Inter" panose="02000503000000020004" pitchFamily="2" charset="0"/>
                <a:ea typeface="Inter" panose="02000503000000020004" pitchFamily="2" charset="0"/>
              </a:rPr>
              <a:t>Gradient Descent</a:t>
            </a:r>
            <a:endParaRPr lang="en-US" sz="1200" dirty="0">
              <a:latin typeface="Inter" panose="02000503000000020004" pitchFamily="2" charset="0"/>
              <a:ea typeface="Inter" panose="02000503000000020004" pitchFamily="2" charset="0"/>
            </a:endParaRPr>
          </a:p>
        </p:txBody>
      </p:sp>
      <p:sp>
        <p:nvSpPr>
          <p:cNvPr id="24" name="Shape 21"/>
          <p:cNvSpPr/>
          <p:nvPr/>
        </p:nvSpPr>
        <p:spPr>
          <a:xfrm>
            <a:off x="539496" y="3749040"/>
            <a:ext cx="0" cy="182880"/>
          </a:xfrm>
          <a:prstGeom prst="line">
            <a:avLst/>
          </a:prstGeom>
          <a:noFill/>
          <a:ln w="1270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sp>
        <p:nvSpPr>
          <p:cNvPr id="25" name="Shape 22"/>
          <p:cNvSpPr/>
          <p:nvPr/>
        </p:nvSpPr>
        <p:spPr>
          <a:xfrm>
            <a:off x="365760" y="3410712"/>
            <a:ext cx="4160520" cy="384048"/>
          </a:xfrm>
          <a:prstGeom prst="rect">
            <a:avLst/>
          </a:prstGeom>
          <a:solidFill>
            <a:srgbClr val="0F0F1E"/>
          </a:solidFill>
          <a:ln w="12700">
            <a:solidFill>
              <a:srgbClr val="A855F7"/>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26" name="Text 23"/>
          <p:cNvSpPr/>
          <p:nvPr/>
        </p:nvSpPr>
        <p:spPr>
          <a:xfrm>
            <a:off x="457200" y="3410712"/>
            <a:ext cx="411480" cy="384048"/>
          </a:xfrm>
          <a:prstGeom prst="rect">
            <a:avLst/>
          </a:prstGeom>
          <a:noFill/>
          <a:ln/>
        </p:spPr>
        <p:txBody>
          <a:bodyPr wrap="square" lIns="0" tIns="0" rIns="0" bIns="0" rtlCol="0" anchor="ctr"/>
          <a:lstStyle/>
          <a:p>
            <a:pPr marL="0" indent="0">
              <a:buNone/>
            </a:pPr>
            <a:r>
              <a:rPr lang="en-US" sz="1000" b="1" dirty="0">
                <a:solidFill>
                  <a:srgbClr val="A855F7"/>
                </a:solidFill>
                <a:latin typeface="Inter" panose="02000503000000020004" pitchFamily="2" charset="0"/>
                <a:ea typeface="Inter" panose="02000503000000020004" pitchFamily="2" charset="0"/>
              </a:rPr>
              <a:t>06</a:t>
            </a:r>
            <a:endParaRPr lang="en-US" sz="1000" dirty="0">
              <a:latin typeface="Inter" panose="02000503000000020004" pitchFamily="2" charset="0"/>
              <a:ea typeface="Inter" panose="02000503000000020004" pitchFamily="2" charset="0"/>
            </a:endParaRPr>
          </a:p>
        </p:txBody>
      </p:sp>
      <p:sp>
        <p:nvSpPr>
          <p:cNvPr id="27" name="Text 24"/>
          <p:cNvSpPr/>
          <p:nvPr/>
        </p:nvSpPr>
        <p:spPr>
          <a:xfrm>
            <a:off x="914400" y="3410712"/>
            <a:ext cx="3520440" cy="384048"/>
          </a:xfrm>
          <a:prstGeom prst="rect">
            <a:avLst/>
          </a:prstGeom>
          <a:noFill/>
          <a:ln/>
        </p:spPr>
        <p:txBody>
          <a:bodyPr wrap="square" lIns="0" tIns="0" rIns="0" bIns="0" rtlCol="0" anchor="ctr"/>
          <a:lstStyle/>
          <a:p>
            <a:pPr marL="0" indent="0">
              <a:buNone/>
            </a:pPr>
            <a:r>
              <a:rPr lang="en-US" sz="1200" dirty="0">
                <a:solidFill>
                  <a:srgbClr val="E2E8F0"/>
                </a:solidFill>
                <a:latin typeface="Inter" panose="02000503000000020004" pitchFamily="2" charset="0"/>
                <a:ea typeface="Inter" panose="02000503000000020004" pitchFamily="2" charset="0"/>
              </a:rPr>
              <a:t>Training Process</a:t>
            </a:r>
            <a:endParaRPr lang="en-US" sz="1200" dirty="0">
              <a:latin typeface="Inter" panose="02000503000000020004" pitchFamily="2" charset="0"/>
              <a:ea typeface="Inter" panose="02000503000000020004" pitchFamily="2" charset="0"/>
            </a:endParaRPr>
          </a:p>
        </p:txBody>
      </p:sp>
      <p:sp>
        <p:nvSpPr>
          <p:cNvPr id="28" name="Shape 25"/>
          <p:cNvSpPr/>
          <p:nvPr/>
        </p:nvSpPr>
        <p:spPr>
          <a:xfrm>
            <a:off x="365760" y="3931920"/>
            <a:ext cx="4160520" cy="384048"/>
          </a:xfrm>
          <a:prstGeom prst="rect">
            <a:avLst/>
          </a:prstGeom>
          <a:solidFill>
            <a:srgbClr val="0F0F1E"/>
          </a:solidFill>
          <a:ln w="12700">
            <a:solidFill>
              <a:srgbClr val="EF4444"/>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29" name="Text 26"/>
          <p:cNvSpPr/>
          <p:nvPr/>
        </p:nvSpPr>
        <p:spPr>
          <a:xfrm>
            <a:off x="457200" y="3931920"/>
            <a:ext cx="411480" cy="384048"/>
          </a:xfrm>
          <a:prstGeom prst="rect">
            <a:avLst/>
          </a:prstGeom>
          <a:noFill/>
          <a:ln/>
        </p:spPr>
        <p:txBody>
          <a:bodyPr wrap="square" lIns="0" tIns="0" rIns="0" bIns="0" rtlCol="0" anchor="ctr"/>
          <a:lstStyle/>
          <a:p>
            <a:pPr marL="0" indent="0">
              <a:buNone/>
            </a:pPr>
            <a:r>
              <a:rPr lang="en-US" sz="1000" b="1" dirty="0">
                <a:solidFill>
                  <a:srgbClr val="EF4444"/>
                </a:solidFill>
                <a:latin typeface="Inter" panose="02000503000000020004" pitchFamily="2" charset="0"/>
                <a:ea typeface="Inter" panose="02000503000000020004" pitchFamily="2" charset="0"/>
              </a:rPr>
              <a:t>07</a:t>
            </a:r>
            <a:endParaRPr lang="en-US" sz="1000" dirty="0">
              <a:latin typeface="Inter" panose="02000503000000020004" pitchFamily="2" charset="0"/>
              <a:ea typeface="Inter" panose="02000503000000020004" pitchFamily="2" charset="0"/>
            </a:endParaRPr>
          </a:p>
        </p:txBody>
      </p:sp>
      <p:sp>
        <p:nvSpPr>
          <p:cNvPr id="30" name="Text 27"/>
          <p:cNvSpPr/>
          <p:nvPr/>
        </p:nvSpPr>
        <p:spPr>
          <a:xfrm>
            <a:off x="914400" y="3931920"/>
            <a:ext cx="3520440" cy="384048"/>
          </a:xfrm>
          <a:prstGeom prst="rect">
            <a:avLst/>
          </a:prstGeom>
          <a:noFill/>
          <a:ln/>
        </p:spPr>
        <p:txBody>
          <a:bodyPr wrap="square" lIns="0" tIns="0" rIns="0" bIns="0" rtlCol="0" anchor="ctr"/>
          <a:lstStyle/>
          <a:p>
            <a:pPr marL="0" indent="0">
              <a:buNone/>
            </a:pPr>
            <a:r>
              <a:rPr lang="en-US" sz="1200" dirty="0">
                <a:solidFill>
                  <a:srgbClr val="E2E8F0"/>
                </a:solidFill>
                <a:latin typeface="Inter" panose="02000503000000020004" pitchFamily="2" charset="0"/>
                <a:ea typeface="Inter" panose="02000503000000020004" pitchFamily="2" charset="0"/>
              </a:rPr>
              <a:t>Failure Cases</a:t>
            </a:r>
            <a:endParaRPr lang="en-US" sz="1200" dirty="0">
              <a:latin typeface="Inter" panose="02000503000000020004" pitchFamily="2" charset="0"/>
              <a:ea typeface="Inter" panose="02000503000000020004" pitchFamily="2" charset="0"/>
            </a:endParaRPr>
          </a:p>
        </p:txBody>
      </p:sp>
      <p:sp>
        <p:nvSpPr>
          <p:cNvPr id="31" name="Shape 28"/>
          <p:cNvSpPr/>
          <p:nvPr/>
        </p:nvSpPr>
        <p:spPr>
          <a:xfrm>
            <a:off x="4974336" y="1143000"/>
            <a:ext cx="0" cy="182880"/>
          </a:xfrm>
          <a:prstGeom prst="line">
            <a:avLst/>
          </a:prstGeom>
          <a:noFill/>
          <a:ln w="1270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sp>
        <p:nvSpPr>
          <p:cNvPr id="32" name="Shape 29"/>
          <p:cNvSpPr/>
          <p:nvPr/>
        </p:nvSpPr>
        <p:spPr>
          <a:xfrm>
            <a:off x="4800600" y="804672"/>
            <a:ext cx="4160520" cy="384048"/>
          </a:xfrm>
          <a:prstGeom prst="rect">
            <a:avLst/>
          </a:prstGeom>
          <a:solidFill>
            <a:srgbClr val="0F0F1E"/>
          </a:solidFill>
          <a:ln w="12700">
            <a:solidFill>
              <a:srgbClr val="06B6D4"/>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33" name="Text 30"/>
          <p:cNvSpPr/>
          <p:nvPr/>
        </p:nvSpPr>
        <p:spPr>
          <a:xfrm>
            <a:off x="4892040" y="804672"/>
            <a:ext cx="411480" cy="384048"/>
          </a:xfrm>
          <a:prstGeom prst="rect">
            <a:avLst/>
          </a:prstGeom>
          <a:noFill/>
          <a:ln/>
        </p:spPr>
        <p:txBody>
          <a:bodyPr wrap="square" lIns="0" tIns="0" rIns="0" bIns="0" rtlCol="0" anchor="ctr"/>
          <a:lstStyle/>
          <a:p>
            <a:pPr marL="0" indent="0">
              <a:buNone/>
            </a:pPr>
            <a:r>
              <a:rPr lang="en-US" sz="1000" b="1" dirty="0">
                <a:solidFill>
                  <a:srgbClr val="06B6D4"/>
                </a:solidFill>
                <a:latin typeface="Inter" panose="02000503000000020004" pitchFamily="2" charset="0"/>
                <a:ea typeface="Inter" panose="02000503000000020004" pitchFamily="2" charset="0"/>
              </a:rPr>
              <a:t>08</a:t>
            </a:r>
            <a:endParaRPr lang="en-US" sz="1000" dirty="0">
              <a:latin typeface="Inter" panose="02000503000000020004" pitchFamily="2" charset="0"/>
              <a:ea typeface="Inter" panose="02000503000000020004" pitchFamily="2" charset="0"/>
            </a:endParaRPr>
          </a:p>
        </p:txBody>
      </p:sp>
      <p:sp>
        <p:nvSpPr>
          <p:cNvPr id="34" name="Text 31"/>
          <p:cNvSpPr/>
          <p:nvPr/>
        </p:nvSpPr>
        <p:spPr>
          <a:xfrm>
            <a:off x="5349240" y="804672"/>
            <a:ext cx="3520440" cy="384048"/>
          </a:xfrm>
          <a:prstGeom prst="rect">
            <a:avLst/>
          </a:prstGeom>
          <a:noFill/>
          <a:ln/>
        </p:spPr>
        <p:txBody>
          <a:bodyPr wrap="square" lIns="0" tIns="0" rIns="0" bIns="0" rtlCol="0" anchor="ctr"/>
          <a:lstStyle/>
          <a:p>
            <a:pPr marL="0" indent="0">
              <a:buNone/>
            </a:pPr>
            <a:r>
              <a:rPr lang="en-US" sz="1200" dirty="0">
                <a:solidFill>
                  <a:srgbClr val="E2E8F0"/>
                </a:solidFill>
                <a:latin typeface="Inter" panose="02000503000000020004" pitchFamily="2" charset="0"/>
                <a:ea typeface="Inter" panose="02000503000000020004" pitchFamily="2" charset="0"/>
              </a:rPr>
              <a:t>Comparison</a:t>
            </a:r>
            <a:endParaRPr lang="en-US" sz="1200" dirty="0">
              <a:latin typeface="Inter" panose="02000503000000020004" pitchFamily="2" charset="0"/>
              <a:ea typeface="Inter" panose="02000503000000020004" pitchFamily="2" charset="0"/>
            </a:endParaRPr>
          </a:p>
        </p:txBody>
      </p:sp>
      <p:sp>
        <p:nvSpPr>
          <p:cNvPr id="35" name="Shape 32"/>
          <p:cNvSpPr/>
          <p:nvPr/>
        </p:nvSpPr>
        <p:spPr>
          <a:xfrm>
            <a:off x="4974336" y="1664208"/>
            <a:ext cx="0" cy="182880"/>
          </a:xfrm>
          <a:prstGeom prst="line">
            <a:avLst/>
          </a:prstGeom>
          <a:noFill/>
          <a:ln w="1270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sp>
        <p:nvSpPr>
          <p:cNvPr id="36" name="Shape 33"/>
          <p:cNvSpPr/>
          <p:nvPr/>
        </p:nvSpPr>
        <p:spPr>
          <a:xfrm>
            <a:off x="4800600" y="1325880"/>
            <a:ext cx="4160520" cy="384048"/>
          </a:xfrm>
          <a:prstGeom prst="rect">
            <a:avLst/>
          </a:prstGeom>
          <a:solidFill>
            <a:srgbClr val="0F0F1E"/>
          </a:solidFill>
          <a:ln w="12700">
            <a:solidFill>
              <a:srgbClr val="06B6D4"/>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37" name="Text 34"/>
          <p:cNvSpPr/>
          <p:nvPr/>
        </p:nvSpPr>
        <p:spPr>
          <a:xfrm>
            <a:off x="4892040" y="1325880"/>
            <a:ext cx="411480" cy="384048"/>
          </a:xfrm>
          <a:prstGeom prst="rect">
            <a:avLst/>
          </a:prstGeom>
          <a:noFill/>
          <a:ln/>
        </p:spPr>
        <p:txBody>
          <a:bodyPr wrap="square" lIns="0" tIns="0" rIns="0" bIns="0" rtlCol="0" anchor="ctr"/>
          <a:lstStyle/>
          <a:p>
            <a:pPr marL="0" indent="0">
              <a:buNone/>
            </a:pPr>
            <a:r>
              <a:rPr lang="en-US" sz="1000" b="1" dirty="0">
                <a:solidFill>
                  <a:srgbClr val="06B6D4"/>
                </a:solidFill>
                <a:latin typeface="Inter" panose="02000503000000020004" pitchFamily="2" charset="0"/>
                <a:ea typeface="Inter" panose="02000503000000020004" pitchFamily="2" charset="0"/>
              </a:rPr>
              <a:t>09</a:t>
            </a:r>
            <a:endParaRPr lang="en-US" sz="1000" dirty="0">
              <a:latin typeface="Inter" panose="02000503000000020004" pitchFamily="2" charset="0"/>
              <a:ea typeface="Inter" panose="02000503000000020004" pitchFamily="2" charset="0"/>
            </a:endParaRPr>
          </a:p>
        </p:txBody>
      </p:sp>
      <p:sp>
        <p:nvSpPr>
          <p:cNvPr id="38" name="Text 35"/>
          <p:cNvSpPr/>
          <p:nvPr/>
        </p:nvSpPr>
        <p:spPr>
          <a:xfrm>
            <a:off x="5349240" y="1325880"/>
            <a:ext cx="3520440" cy="384048"/>
          </a:xfrm>
          <a:prstGeom prst="rect">
            <a:avLst/>
          </a:prstGeom>
          <a:noFill/>
          <a:ln/>
        </p:spPr>
        <p:txBody>
          <a:bodyPr wrap="square" lIns="0" tIns="0" rIns="0" bIns="0" rtlCol="0" anchor="ctr"/>
          <a:lstStyle/>
          <a:p>
            <a:pPr marL="0" indent="0">
              <a:buNone/>
            </a:pPr>
            <a:r>
              <a:rPr lang="en-US" sz="1200" dirty="0">
                <a:solidFill>
                  <a:srgbClr val="E2E8F0"/>
                </a:solidFill>
                <a:latin typeface="Inter" panose="02000503000000020004" pitchFamily="2" charset="0"/>
                <a:ea typeface="Inter" panose="02000503000000020004" pitchFamily="2" charset="0"/>
              </a:rPr>
              <a:t>Multivariable Regression</a:t>
            </a:r>
            <a:endParaRPr lang="en-US" sz="1200" dirty="0">
              <a:latin typeface="Inter" panose="02000503000000020004" pitchFamily="2" charset="0"/>
              <a:ea typeface="Inter" panose="02000503000000020004" pitchFamily="2" charset="0"/>
            </a:endParaRPr>
          </a:p>
        </p:txBody>
      </p:sp>
      <p:sp>
        <p:nvSpPr>
          <p:cNvPr id="39" name="Shape 36"/>
          <p:cNvSpPr/>
          <p:nvPr/>
        </p:nvSpPr>
        <p:spPr>
          <a:xfrm>
            <a:off x="4974336" y="2185416"/>
            <a:ext cx="0" cy="182880"/>
          </a:xfrm>
          <a:prstGeom prst="line">
            <a:avLst/>
          </a:prstGeom>
          <a:noFill/>
          <a:ln w="1270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sp>
        <p:nvSpPr>
          <p:cNvPr id="40" name="Shape 37"/>
          <p:cNvSpPr/>
          <p:nvPr/>
        </p:nvSpPr>
        <p:spPr>
          <a:xfrm>
            <a:off x="4800600" y="1847088"/>
            <a:ext cx="4160520" cy="384048"/>
          </a:xfrm>
          <a:prstGeom prst="rect">
            <a:avLst/>
          </a:prstGeom>
          <a:solidFill>
            <a:srgbClr val="0F0F1E"/>
          </a:solidFill>
          <a:ln w="12700">
            <a:solidFill>
              <a:srgbClr val="06B6D4"/>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41" name="Text 38"/>
          <p:cNvSpPr/>
          <p:nvPr/>
        </p:nvSpPr>
        <p:spPr>
          <a:xfrm>
            <a:off x="4892040" y="1847088"/>
            <a:ext cx="411480" cy="384048"/>
          </a:xfrm>
          <a:prstGeom prst="rect">
            <a:avLst/>
          </a:prstGeom>
          <a:noFill/>
          <a:ln/>
        </p:spPr>
        <p:txBody>
          <a:bodyPr wrap="square" lIns="0" tIns="0" rIns="0" bIns="0" rtlCol="0" anchor="ctr"/>
          <a:lstStyle/>
          <a:p>
            <a:pPr marL="0" indent="0">
              <a:buNone/>
            </a:pPr>
            <a:r>
              <a:rPr lang="en-US" sz="1000" b="1" dirty="0">
                <a:solidFill>
                  <a:srgbClr val="06B6D4"/>
                </a:solidFill>
                <a:latin typeface="Inter" panose="02000503000000020004" pitchFamily="2" charset="0"/>
                <a:ea typeface="Inter" panose="02000503000000020004" pitchFamily="2" charset="0"/>
              </a:rPr>
              <a:t>10</a:t>
            </a:r>
            <a:endParaRPr lang="en-US" sz="1000" dirty="0">
              <a:latin typeface="Inter" panose="02000503000000020004" pitchFamily="2" charset="0"/>
              <a:ea typeface="Inter" panose="02000503000000020004" pitchFamily="2" charset="0"/>
            </a:endParaRPr>
          </a:p>
        </p:txBody>
      </p:sp>
      <p:sp>
        <p:nvSpPr>
          <p:cNvPr id="42" name="Text 39"/>
          <p:cNvSpPr/>
          <p:nvPr/>
        </p:nvSpPr>
        <p:spPr>
          <a:xfrm>
            <a:off x="5349240" y="1847088"/>
            <a:ext cx="3520440" cy="384048"/>
          </a:xfrm>
          <a:prstGeom prst="rect">
            <a:avLst/>
          </a:prstGeom>
          <a:noFill/>
          <a:ln/>
        </p:spPr>
        <p:txBody>
          <a:bodyPr wrap="square" lIns="0" tIns="0" rIns="0" bIns="0" rtlCol="0" anchor="ctr"/>
          <a:lstStyle/>
          <a:p>
            <a:pPr marL="0" indent="0">
              <a:buNone/>
            </a:pPr>
            <a:r>
              <a:rPr lang="en-US" sz="1200" dirty="0">
                <a:solidFill>
                  <a:srgbClr val="E2E8F0"/>
                </a:solidFill>
                <a:latin typeface="Inter" panose="02000503000000020004" pitchFamily="2" charset="0"/>
                <a:ea typeface="Inter" panose="02000503000000020004" pitchFamily="2" charset="0"/>
              </a:rPr>
              <a:t>Data Intuition</a:t>
            </a:r>
            <a:endParaRPr lang="en-US" sz="1200" dirty="0">
              <a:latin typeface="Inter" panose="02000503000000020004" pitchFamily="2" charset="0"/>
              <a:ea typeface="Inter" panose="02000503000000020004" pitchFamily="2" charset="0"/>
            </a:endParaRPr>
          </a:p>
        </p:txBody>
      </p:sp>
      <p:sp>
        <p:nvSpPr>
          <p:cNvPr id="43" name="Shape 40"/>
          <p:cNvSpPr/>
          <p:nvPr/>
        </p:nvSpPr>
        <p:spPr>
          <a:xfrm>
            <a:off x="4974336" y="2706624"/>
            <a:ext cx="0" cy="182880"/>
          </a:xfrm>
          <a:prstGeom prst="line">
            <a:avLst/>
          </a:prstGeom>
          <a:noFill/>
          <a:ln w="1270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sp>
        <p:nvSpPr>
          <p:cNvPr id="44" name="Shape 41"/>
          <p:cNvSpPr/>
          <p:nvPr/>
        </p:nvSpPr>
        <p:spPr>
          <a:xfrm>
            <a:off x="4800600" y="2368296"/>
            <a:ext cx="4160520" cy="384048"/>
          </a:xfrm>
          <a:prstGeom prst="rect">
            <a:avLst/>
          </a:prstGeom>
          <a:solidFill>
            <a:srgbClr val="0F0F1E"/>
          </a:solidFill>
          <a:ln w="12700">
            <a:solidFill>
              <a:srgbClr val="F59E0B"/>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45" name="Text 42"/>
          <p:cNvSpPr/>
          <p:nvPr/>
        </p:nvSpPr>
        <p:spPr>
          <a:xfrm>
            <a:off x="4892040" y="2368296"/>
            <a:ext cx="411480" cy="384048"/>
          </a:xfrm>
          <a:prstGeom prst="rect">
            <a:avLst/>
          </a:prstGeom>
          <a:noFill/>
          <a:ln/>
        </p:spPr>
        <p:txBody>
          <a:bodyPr wrap="square" lIns="0" tIns="0" rIns="0" bIns="0" rtlCol="0" anchor="ctr"/>
          <a:lstStyle/>
          <a:p>
            <a:pPr marL="0" indent="0">
              <a:buNone/>
            </a:pPr>
            <a:r>
              <a:rPr lang="en-US" sz="1000" b="1" dirty="0">
                <a:solidFill>
                  <a:srgbClr val="F59E0B"/>
                </a:solidFill>
                <a:latin typeface="Inter" panose="02000503000000020004" pitchFamily="2" charset="0"/>
                <a:ea typeface="Inter" panose="02000503000000020004" pitchFamily="2" charset="0"/>
              </a:rPr>
              <a:t>11</a:t>
            </a:r>
            <a:endParaRPr lang="en-US" sz="1000" dirty="0">
              <a:latin typeface="Inter" panose="02000503000000020004" pitchFamily="2" charset="0"/>
              <a:ea typeface="Inter" panose="02000503000000020004" pitchFamily="2" charset="0"/>
            </a:endParaRPr>
          </a:p>
        </p:txBody>
      </p:sp>
      <p:sp>
        <p:nvSpPr>
          <p:cNvPr id="46" name="Text 43"/>
          <p:cNvSpPr/>
          <p:nvPr/>
        </p:nvSpPr>
        <p:spPr>
          <a:xfrm>
            <a:off x="5349240" y="2368296"/>
            <a:ext cx="3520440" cy="384048"/>
          </a:xfrm>
          <a:prstGeom prst="rect">
            <a:avLst/>
          </a:prstGeom>
          <a:noFill/>
          <a:ln/>
        </p:spPr>
        <p:txBody>
          <a:bodyPr wrap="square" lIns="0" tIns="0" rIns="0" bIns="0" rtlCol="0" anchor="ctr"/>
          <a:lstStyle/>
          <a:p>
            <a:pPr marL="0" indent="0">
              <a:buNone/>
            </a:pPr>
            <a:r>
              <a:rPr lang="en-US" sz="1200" dirty="0">
                <a:solidFill>
                  <a:srgbClr val="E2E8F0"/>
                </a:solidFill>
                <a:latin typeface="Inter" panose="02000503000000020004" pitchFamily="2" charset="0"/>
                <a:ea typeface="Inter" panose="02000503000000020004" pitchFamily="2" charset="0"/>
              </a:rPr>
              <a:t>Bias-Variance Tradeoff</a:t>
            </a:r>
            <a:endParaRPr lang="en-US" sz="1200" dirty="0">
              <a:latin typeface="Inter" panose="02000503000000020004" pitchFamily="2" charset="0"/>
              <a:ea typeface="Inter" panose="02000503000000020004" pitchFamily="2" charset="0"/>
            </a:endParaRPr>
          </a:p>
        </p:txBody>
      </p:sp>
      <p:sp>
        <p:nvSpPr>
          <p:cNvPr id="47" name="Shape 44"/>
          <p:cNvSpPr/>
          <p:nvPr/>
        </p:nvSpPr>
        <p:spPr>
          <a:xfrm>
            <a:off x="4974336" y="3227832"/>
            <a:ext cx="0" cy="182880"/>
          </a:xfrm>
          <a:prstGeom prst="line">
            <a:avLst/>
          </a:prstGeom>
          <a:noFill/>
          <a:ln w="1270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sp>
        <p:nvSpPr>
          <p:cNvPr id="48" name="Shape 45"/>
          <p:cNvSpPr/>
          <p:nvPr/>
        </p:nvSpPr>
        <p:spPr>
          <a:xfrm>
            <a:off x="4800600" y="2889504"/>
            <a:ext cx="4160520" cy="384048"/>
          </a:xfrm>
          <a:prstGeom prst="rect">
            <a:avLst/>
          </a:prstGeom>
          <a:solidFill>
            <a:srgbClr val="0F0F1E"/>
          </a:solidFill>
          <a:ln w="12700">
            <a:solidFill>
              <a:srgbClr val="10B98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49" name="Text 46"/>
          <p:cNvSpPr/>
          <p:nvPr/>
        </p:nvSpPr>
        <p:spPr>
          <a:xfrm>
            <a:off x="4892040" y="2889504"/>
            <a:ext cx="411480" cy="384048"/>
          </a:xfrm>
          <a:prstGeom prst="rect">
            <a:avLst/>
          </a:prstGeom>
          <a:noFill/>
          <a:ln/>
        </p:spPr>
        <p:txBody>
          <a:bodyPr wrap="square" lIns="0" tIns="0" rIns="0" bIns="0" rtlCol="0" anchor="ctr"/>
          <a:lstStyle/>
          <a:p>
            <a:pPr marL="0" indent="0">
              <a:buNone/>
            </a:pPr>
            <a:r>
              <a:rPr lang="en-US" sz="1000" b="1" dirty="0">
                <a:solidFill>
                  <a:srgbClr val="10B981"/>
                </a:solidFill>
                <a:latin typeface="Inter" panose="02000503000000020004" pitchFamily="2" charset="0"/>
                <a:ea typeface="Inter" panose="02000503000000020004" pitchFamily="2" charset="0"/>
              </a:rPr>
              <a:t>12</a:t>
            </a:r>
            <a:endParaRPr lang="en-US" sz="1000" dirty="0">
              <a:latin typeface="Inter" panose="02000503000000020004" pitchFamily="2" charset="0"/>
              <a:ea typeface="Inter" panose="02000503000000020004" pitchFamily="2" charset="0"/>
            </a:endParaRPr>
          </a:p>
        </p:txBody>
      </p:sp>
      <p:sp>
        <p:nvSpPr>
          <p:cNvPr id="50" name="Text 47"/>
          <p:cNvSpPr/>
          <p:nvPr/>
        </p:nvSpPr>
        <p:spPr>
          <a:xfrm>
            <a:off x="5349240" y="2889504"/>
            <a:ext cx="3520440" cy="384048"/>
          </a:xfrm>
          <a:prstGeom prst="rect">
            <a:avLst/>
          </a:prstGeom>
          <a:noFill/>
          <a:ln/>
        </p:spPr>
        <p:txBody>
          <a:bodyPr wrap="square" lIns="0" tIns="0" rIns="0" bIns="0" rtlCol="0" anchor="ctr"/>
          <a:lstStyle/>
          <a:p>
            <a:pPr marL="0" indent="0">
              <a:buNone/>
            </a:pPr>
            <a:r>
              <a:rPr lang="en-US" sz="1200" dirty="0">
                <a:solidFill>
                  <a:srgbClr val="E2E8F0"/>
                </a:solidFill>
                <a:latin typeface="Inter" panose="02000503000000020004" pitchFamily="2" charset="0"/>
                <a:ea typeface="Inter" panose="02000503000000020004" pitchFamily="2" charset="0"/>
              </a:rPr>
              <a:t>Evaluation Metrics</a:t>
            </a:r>
            <a:endParaRPr lang="en-US" sz="1200" dirty="0">
              <a:latin typeface="Inter" panose="02000503000000020004" pitchFamily="2" charset="0"/>
              <a:ea typeface="Inter" panose="02000503000000020004" pitchFamily="2" charset="0"/>
            </a:endParaRPr>
          </a:p>
        </p:txBody>
      </p:sp>
      <p:sp>
        <p:nvSpPr>
          <p:cNvPr id="51" name="Shape 48"/>
          <p:cNvSpPr/>
          <p:nvPr/>
        </p:nvSpPr>
        <p:spPr>
          <a:xfrm>
            <a:off x="4800600" y="3410712"/>
            <a:ext cx="4160520" cy="384048"/>
          </a:xfrm>
          <a:prstGeom prst="rect">
            <a:avLst/>
          </a:prstGeom>
          <a:solidFill>
            <a:srgbClr val="0F0F1E"/>
          </a:solidFill>
          <a:ln w="12700">
            <a:solidFill>
              <a:srgbClr val="10B98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52" name="Text 49"/>
          <p:cNvSpPr/>
          <p:nvPr/>
        </p:nvSpPr>
        <p:spPr>
          <a:xfrm>
            <a:off x="4892040" y="3410712"/>
            <a:ext cx="411480" cy="384048"/>
          </a:xfrm>
          <a:prstGeom prst="rect">
            <a:avLst/>
          </a:prstGeom>
          <a:noFill/>
          <a:ln/>
        </p:spPr>
        <p:txBody>
          <a:bodyPr wrap="square" lIns="0" tIns="0" rIns="0" bIns="0" rtlCol="0" anchor="ctr"/>
          <a:lstStyle/>
          <a:p>
            <a:pPr marL="0" indent="0">
              <a:buNone/>
            </a:pPr>
            <a:r>
              <a:rPr lang="en-US" sz="1000" b="1" dirty="0">
                <a:solidFill>
                  <a:srgbClr val="10B981"/>
                </a:solidFill>
                <a:latin typeface="Inter" panose="02000503000000020004" pitchFamily="2" charset="0"/>
                <a:ea typeface="Inter" panose="02000503000000020004" pitchFamily="2" charset="0"/>
              </a:rPr>
              <a:t>13</a:t>
            </a:r>
            <a:endParaRPr lang="en-US" sz="1000" dirty="0">
              <a:latin typeface="Inter" panose="02000503000000020004" pitchFamily="2" charset="0"/>
              <a:ea typeface="Inter" panose="02000503000000020004" pitchFamily="2" charset="0"/>
            </a:endParaRPr>
          </a:p>
        </p:txBody>
      </p:sp>
      <p:sp>
        <p:nvSpPr>
          <p:cNvPr id="53" name="Text 50"/>
          <p:cNvSpPr/>
          <p:nvPr/>
        </p:nvSpPr>
        <p:spPr>
          <a:xfrm>
            <a:off x="5349240" y="3410712"/>
            <a:ext cx="3520440" cy="384048"/>
          </a:xfrm>
          <a:prstGeom prst="rect">
            <a:avLst/>
          </a:prstGeom>
          <a:noFill/>
          <a:ln/>
        </p:spPr>
        <p:txBody>
          <a:bodyPr wrap="square" lIns="0" tIns="0" rIns="0" bIns="0" rtlCol="0" anchor="ctr"/>
          <a:lstStyle/>
          <a:p>
            <a:pPr marL="0" indent="0">
              <a:buNone/>
            </a:pPr>
            <a:r>
              <a:rPr lang="en-US" sz="1200" dirty="0">
                <a:solidFill>
                  <a:srgbClr val="E2E8F0"/>
                </a:solidFill>
                <a:latin typeface="Inter" panose="02000503000000020004" pitchFamily="2" charset="0"/>
                <a:ea typeface="Inter" panose="02000503000000020004" pitchFamily="2" charset="0"/>
              </a:rPr>
              <a:t>Into Neural Networks</a:t>
            </a:r>
            <a:endParaRPr lang="en-US" sz="1200" dirty="0">
              <a:latin typeface="Inter" panose="02000503000000020004" pitchFamily="2" charset="0"/>
              <a:ea typeface="Inter" panose="02000503000000020004" pitchFamily="2" charset="0"/>
            </a:endParaRPr>
          </a:p>
        </p:txBody>
      </p:sp>
      <p:sp>
        <p:nvSpPr>
          <p:cNvPr id="56" name="Text 53"/>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latin typeface="Inter" panose="02000503000000020004" pitchFamily="2" charset="0"/>
                <a:ea typeface="Inter" panose="02000503000000020004" pitchFamily="2" charset="0"/>
              </a:rPr>
              <a:t>LinearMind</a:t>
            </a:r>
            <a:endParaRPr lang="en-US" sz="900" dirty="0">
              <a:latin typeface="Inter" panose="02000503000000020004" pitchFamily="2" charset="0"/>
              <a:ea typeface="Inter" panose="02000503000000020004" pitchFamily="2" charset="0"/>
            </a:endParaRPr>
          </a:p>
        </p:txBody>
      </p:sp>
      <p:sp>
        <p:nvSpPr>
          <p:cNvPr id="57" name="Text 54"/>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latin typeface="Inter" panose="02000503000000020004" pitchFamily="2" charset="0"/>
                <a:ea typeface="Inter" panose="02000503000000020004" pitchFamily="2" charset="0"/>
              </a:rPr>
              <a:t>18</a:t>
            </a:r>
            <a:endParaRPr lang="en-US" sz="900" dirty="0">
              <a:latin typeface="Inter" panose="02000503000000020004" pitchFamily="2" charset="0"/>
              <a:ea typeface="Inter" panose="02000503000000020004" pitchFamily="2" charset="0"/>
            </a:endParaRPr>
          </a:p>
        </p:txBody>
      </p:sp>
      <p:sp>
        <p:nvSpPr>
          <p:cNvPr id="58" name="Shape 55"/>
          <p:cNvSpPr/>
          <p:nvPr/>
        </p:nvSpPr>
        <p:spPr>
          <a:xfrm>
            <a:off x="274320" y="4873752"/>
            <a:ext cx="8595360" cy="0"/>
          </a:xfrm>
          <a:prstGeom prst="line">
            <a:avLst/>
          </a:prstGeom>
          <a:noFill/>
          <a:ln w="635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2672" y="0"/>
            <a:ext cx="9144000" cy="5143500"/>
          </a:xfrm>
          <a:prstGeom prst="rect">
            <a:avLst/>
          </a:prstGeom>
        </p:spPr>
      </p:pic>
      <p:sp>
        <p:nvSpPr>
          <p:cNvPr id="3" name="Text 0"/>
          <p:cNvSpPr/>
          <p:nvPr/>
        </p:nvSpPr>
        <p:spPr>
          <a:xfrm>
            <a:off x="365760" y="201168"/>
            <a:ext cx="8412480" cy="502920"/>
          </a:xfrm>
          <a:prstGeom prst="rect">
            <a:avLst/>
          </a:prstGeom>
          <a:noFill/>
          <a:ln/>
        </p:spPr>
        <p:txBody>
          <a:bodyPr wrap="square" lIns="0" tIns="0" rIns="0" bIns="0" rtlCol="0" anchor="ctr"/>
          <a:lstStyle/>
          <a:p>
            <a:pPr marL="0" indent="0">
              <a:buNone/>
            </a:pPr>
            <a:r>
              <a:rPr lang="en-US" sz="2600" b="1" dirty="0">
                <a:solidFill>
                  <a:srgbClr val="818CF8"/>
                </a:solidFill>
                <a:latin typeface="Inter" panose="02000503000000020004" pitchFamily="2" charset="0"/>
                <a:ea typeface="Inter" panose="02000503000000020004" pitchFamily="2" charset="0"/>
                <a:cs typeface="Calibri" pitchFamily="34" charset="-120"/>
              </a:rPr>
              <a:t>Interactive Visualizations — 15 Components</a:t>
            </a:r>
            <a:endParaRPr lang="en-US" sz="2600" dirty="0">
              <a:latin typeface="Inter" panose="02000503000000020004" pitchFamily="2" charset="0"/>
              <a:ea typeface="Inter" panose="02000503000000020004" pitchFamily="2" charset="0"/>
            </a:endParaRPr>
          </a:p>
        </p:txBody>
      </p:sp>
      <p:sp>
        <p:nvSpPr>
          <p:cNvPr id="4" name="Shape 1"/>
          <p:cNvSpPr/>
          <p:nvPr/>
        </p:nvSpPr>
        <p:spPr>
          <a:xfrm>
            <a:off x="481584" y="822959"/>
            <a:ext cx="3850792" cy="3669793"/>
          </a:xfrm>
          <a:prstGeom prst="rect">
            <a:avLst/>
          </a:prstGeom>
          <a:solidFill>
            <a:srgbClr val="111120"/>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5" name="Text 2"/>
          <p:cNvSpPr/>
          <p:nvPr/>
        </p:nvSpPr>
        <p:spPr>
          <a:xfrm>
            <a:off x="548640" y="914400"/>
            <a:ext cx="4389120" cy="347472"/>
          </a:xfrm>
          <a:prstGeom prst="rect">
            <a:avLst/>
          </a:prstGeom>
          <a:noFill/>
          <a:ln/>
        </p:spPr>
        <p:txBody>
          <a:bodyPr wrap="square" lIns="0" tIns="0" rIns="0" bIns="0" rtlCol="0" anchor="ctr"/>
          <a:lstStyle/>
          <a:p>
            <a:pPr marL="0" indent="0">
              <a:buNone/>
            </a:pPr>
            <a:r>
              <a:rPr lang="en-US" sz="1300" i="1" dirty="0">
                <a:solidFill>
                  <a:srgbClr val="818CF8"/>
                </a:solidFill>
                <a:latin typeface="Inter" panose="02000503000000020004" pitchFamily="2" charset="0"/>
                <a:ea typeface="Inter" panose="02000503000000020004" pitchFamily="2" charset="0"/>
              </a:rPr>
              <a:t>Learn by manipulation — not passive reading.</a:t>
            </a:r>
            <a:endParaRPr lang="en-US" sz="1300" dirty="0">
              <a:latin typeface="Inter" panose="02000503000000020004" pitchFamily="2" charset="0"/>
              <a:ea typeface="Inter" panose="02000503000000020004" pitchFamily="2" charset="0"/>
            </a:endParaRPr>
          </a:p>
        </p:txBody>
      </p:sp>
      <p:sp>
        <p:nvSpPr>
          <p:cNvPr id="6" name="Shape 3"/>
          <p:cNvSpPr/>
          <p:nvPr/>
        </p:nvSpPr>
        <p:spPr>
          <a:xfrm>
            <a:off x="530352" y="1463040"/>
            <a:ext cx="109728" cy="109728"/>
          </a:xfrm>
          <a:prstGeom prst="line">
            <a:avLst/>
          </a:prstGeom>
          <a:solidFill>
            <a:srgbClr val="06B6D4"/>
          </a:solidFill>
          <a:ln/>
        </p:spPr>
        <p:txBody>
          <a:bodyPr/>
          <a:lstStyle/>
          <a:p>
            <a:endParaRPr lang="en-US">
              <a:latin typeface="Inter" panose="02000503000000020004" pitchFamily="2" charset="0"/>
              <a:ea typeface="Inter" panose="02000503000000020004" pitchFamily="2" charset="0"/>
            </a:endParaRPr>
          </a:p>
        </p:txBody>
      </p:sp>
      <p:sp>
        <p:nvSpPr>
          <p:cNvPr id="7" name="Text 4"/>
          <p:cNvSpPr/>
          <p:nvPr/>
        </p:nvSpPr>
        <p:spPr>
          <a:xfrm>
            <a:off x="731520" y="1371600"/>
            <a:ext cx="2103120" cy="329184"/>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Regression Canvas</a:t>
            </a:r>
            <a:endParaRPr lang="en-US" sz="1100" dirty="0">
              <a:latin typeface="Inter" panose="02000503000000020004" pitchFamily="2" charset="0"/>
              <a:ea typeface="Inter" panose="02000503000000020004" pitchFamily="2" charset="0"/>
            </a:endParaRPr>
          </a:p>
        </p:txBody>
      </p:sp>
      <p:sp>
        <p:nvSpPr>
          <p:cNvPr id="8" name="Shape 5"/>
          <p:cNvSpPr/>
          <p:nvPr/>
        </p:nvSpPr>
        <p:spPr>
          <a:xfrm>
            <a:off x="530352" y="1810512"/>
            <a:ext cx="109728" cy="109728"/>
          </a:xfrm>
          <a:prstGeom prst="line">
            <a:avLst/>
          </a:prstGeom>
          <a:solidFill>
            <a:srgbClr val="06B6D4"/>
          </a:solidFill>
          <a:ln/>
        </p:spPr>
        <p:txBody>
          <a:bodyPr/>
          <a:lstStyle/>
          <a:p>
            <a:endParaRPr lang="en-US">
              <a:latin typeface="Inter" panose="02000503000000020004" pitchFamily="2" charset="0"/>
              <a:ea typeface="Inter" panose="02000503000000020004" pitchFamily="2" charset="0"/>
            </a:endParaRPr>
          </a:p>
        </p:txBody>
      </p:sp>
      <p:sp>
        <p:nvSpPr>
          <p:cNvPr id="9" name="Text 6"/>
          <p:cNvSpPr/>
          <p:nvPr/>
        </p:nvSpPr>
        <p:spPr>
          <a:xfrm>
            <a:off x="731520" y="1719072"/>
            <a:ext cx="2103120" cy="329184"/>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Slope–Intercept Explorer</a:t>
            </a:r>
            <a:endParaRPr lang="en-US" sz="1100" dirty="0">
              <a:latin typeface="Inter" panose="02000503000000020004" pitchFamily="2" charset="0"/>
              <a:ea typeface="Inter" panose="02000503000000020004" pitchFamily="2" charset="0"/>
            </a:endParaRPr>
          </a:p>
        </p:txBody>
      </p:sp>
      <p:sp>
        <p:nvSpPr>
          <p:cNvPr id="10" name="Shape 7"/>
          <p:cNvSpPr/>
          <p:nvPr/>
        </p:nvSpPr>
        <p:spPr>
          <a:xfrm>
            <a:off x="530352" y="2157984"/>
            <a:ext cx="109728" cy="109728"/>
          </a:xfrm>
          <a:prstGeom prst="line">
            <a:avLst/>
          </a:prstGeom>
          <a:solidFill>
            <a:srgbClr val="06B6D4"/>
          </a:solidFill>
          <a:ln/>
        </p:spPr>
        <p:txBody>
          <a:bodyPr/>
          <a:lstStyle/>
          <a:p>
            <a:endParaRPr lang="en-US">
              <a:latin typeface="Inter" panose="02000503000000020004" pitchFamily="2" charset="0"/>
              <a:ea typeface="Inter" panose="02000503000000020004" pitchFamily="2" charset="0"/>
            </a:endParaRPr>
          </a:p>
        </p:txBody>
      </p:sp>
      <p:sp>
        <p:nvSpPr>
          <p:cNvPr id="11" name="Text 8"/>
          <p:cNvSpPr/>
          <p:nvPr/>
        </p:nvSpPr>
        <p:spPr>
          <a:xfrm>
            <a:off x="731520" y="2066544"/>
            <a:ext cx="1920240" cy="329184"/>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Cost Function (MSE) Visualizer</a:t>
            </a:r>
            <a:endParaRPr lang="en-US" sz="1100" dirty="0">
              <a:latin typeface="Inter" panose="02000503000000020004" pitchFamily="2" charset="0"/>
              <a:ea typeface="Inter" panose="02000503000000020004" pitchFamily="2" charset="0"/>
            </a:endParaRPr>
          </a:p>
        </p:txBody>
      </p:sp>
      <p:sp>
        <p:nvSpPr>
          <p:cNvPr id="12" name="Shape 9"/>
          <p:cNvSpPr/>
          <p:nvPr/>
        </p:nvSpPr>
        <p:spPr>
          <a:xfrm>
            <a:off x="530352" y="2505456"/>
            <a:ext cx="109728" cy="109728"/>
          </a:xfrm>
          <a:prstGeom prst="line">
            <a:avLst/>
          </a:prstGeom>
          <a:solidFill>
            <a:srgbClr val="06B6D4"/>
          </a:solidFill>
          <a:ln/>
        </p:spPr>
        <p:txBody>
          <a:bodyPr/>
          <a:lstStyle/>
          <a:p>
            <a:endParaRPr lang="en-US">
              <a:latin typeface="Inter" panose="02000503000000020004" pitchFamily="2" charset="0"/>
              <a:ea typeface="Inter" panose="02000503000000020004" pitchFamily="2" charset="0"/>
            </a:endParaRPr>
          </a:p>
        </p:txBody>
      </p:sp>
      <p:sp>
        <p:nvSpPr>
          <p:cNvPr id="13" name="Text 10"/>
          <p:cNvSpPr/>
          <p:nvPr/>
        </p:nvSpPr>
        <p:spPr>
          <a:xfrm>
            <a:off x="731520" y="2414016"/>
            <a:ext cx="2103120" cy="329184"/>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Gradient Descent (2D)</a:t>
            </a:r>
            <a:endParaRPr lang="en-US" sz="1100" dirty="0">
              <a:latin typeface="Inter" panose="02000503000000020004" pitchFamily="2" charset="0"/>
              <a:ea typeface="Inter" panose="02000503000000020004" pitchFamily="2" charset="0"/>
            </a:endParaRPr>
          </a:p>
        </p:txBody>
      </p:sp>
      <p:sp>
        <p:nvSpPr>
          <p:cNvPr id="14" name="Shape 11"/>
          <p:cNvSpPr/>
          <p:nvPr/>
        </p:nvSpPr>
        <p:spPr>
          <a:xfrm>
            <a:off x="530352" y="2852928"/>
            <a:ext cx="109728" cy="109728"/>
          </a:xfrm>
          <a:prstGeom prst="line">
            <a:avLst/>
          </a:prstGeom>
          <a:solidFill>
            <a:srgbClr val="06B6D4"/>
          </a:solidFill>
          <a:ln/>
        </p:spPr>
        <p:txBody>
          <a:bodyPr/>
          <a:lstStyle/>
          <a:p>
            <a:endParaRPr lang="en-US">
              <a:latin typeface="Inter" panose="02000503000000020004" pitchFamily="2" charset="0"/>
              <a:ea typeface="Inter" panose="02000503000000020004" pitchFamily="2" charset="0"/>
            </a:endParaRPr>
          </a:p>
        </p:txBody>
      </p:sp>
      <p:sp>
        <p:nvSpPr>
          <p:cNvPr id="15" name="Text 12"/>
          <p:cNvSpPr/>
          <p:nvPr/>
        </p:nvSpPr>
        <p:spPr>
          <a:xfrm>
            <a:off x="731520" y="2761488"/>
            <a:ext cx="2103120" cy="329184"/>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Gradient Descent (3D)</a:t>
            </a:r>
            <a:endParaRPr lang="en-US" sz="1100" dirty="0">
              <a:latin typeface="Inter" panose="02000503000000020004" pitchFamily="2" charset="0"/>
              <a:ea typeface="Inter" panose="02000503000000020004" pitchFamily="2" charset="0"/>
            </a:endParaRPr>
          </a:p>
        </p:txBody>
      </p:sp>
      <p:sp>
        <p:nvSpPr>
          <p:cNvPr id="16" name="Shape 13"/>
          <p:cNvSpPr/>
          <p:nvPr/>
        </p:nvSpPr>
        <p:spPr>
          <a:xfrm>
            <a:off x="530352" y="3200400"/>
            <a:ext cx="109728" cy="109728"/>
          </a:xfrm>
          <a:prstGeom prst="line">
            <a:avLst/>
          </a:prstGeom>
          <a:solidFill>
            <a:srgbClr val="06B6D4"/>
          </a:solidFill>
          <a:ln/>
        </p:spPr>
        <p:txBody>
          <a:bodyPr/>
          <a:lstStyle/>
          <a:p>
            <a:endParaRPr lang="en-US">
              <a:latin typeface="Inter" panose="02000503000000020004" pitchFamily="2" charset="0"/>
              <a:ea typeface="Inter" panose="02000503000000020004" pitchFamily="2" charset="0"/>
            </a:endParaRPr>
          </a:p>
        </p:txBody>
      </p:sp>
      <p:sp>
        <p:nvSpPr>
          <p:cNvPr id="17" name="Text 14"/>
          <p:cNvSpPr/>
          <p:nvPr/>
        </p:nvSpPr>
        <p:spPr>
          <a:xfrm>
            <a:off x="731520" y="3108960"/>
            <a:ext cx="2103120" cy="329184"/>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Training Visualization</a:t>
            </a:r>
            <a:endParaRPr lang="en-US" sz="1100" dirty="0">
              <a:latin typeface="Inter" panose="02000503000000020004" pitchFamily="2" charset="0"/>
              <a:ea typeface="Inter" panose="02000503000000020004" pitchFamily="2" charset="0"/>
            </a:endParaRPr>
          </a:p>
        </p:txBody>
      </p:sp>
      <p:sp>
        <p:nvSpPr>
          <p:cNvPr id="18" name="Shape 15"/>
          <p:cNvSpPr/>
          <p:nvPr/>
        </p:nvSpPr>
        <p:spPr>
          <a:xfrm>
            <a:off x="530352" y="3547872"/>
            <a:ext cx="109728" cy="109728"/>
          </a:xfrm>
          <a:prstGeom prst="line">
            <a:avLst/>
          </a:prstGeom>
          <a:solidFill>
            <a:srgbClr val="06B6D4"/>
          </a:solidFill>
          <a:ln/>
        </p:spPr>
        <p:txBody>
          <a:bodyPr/>
          <a:lstStyle/>
          <a:p>
            <a:endParaRPr lang="en-US">
              <a:latin typeface="Inter" panose="02000503000000020004" pitchFamily="2" charset="0"/>
              <a:ea typeface="Inter" panose="02000503000000020004" pitchFamily="2" charset="0"/>
            </a:endParaRPr>
          </a:p>
        </p:txBody>
      </p:sp>
      <p:sp>
        <p:nvSpPr>
          <p:cNvPr id="19" name="Text 16"/>
          <p:cNvSpPr/>
          <p:nvPr/>
        </p:nvSpPr>
        <p:spPr>
          <a:xfrm>
            <a:off x="731520" y="3456432"/>
            <a:ext cx="2103120" cy="329184"/>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Failure Cases Explorer</a:t>
            </a:r>
            <a:endParaRPr lang="en-US" sz="1100" dirty="0">
              <a:latin typeface="Inter" panose="02000503000000020004" pitchFamily="2" charset="0"/>
              <a:ea typeface="Inter" panose="02000503000000020004" pitchFamily="2" charset="0"/>
            </a:endParaRPr>
          </a:p>
        </p:txBody>
      </p:sp>
      <p:sp>
        <p:nvSpPr>
          <p:cNvPr id="20" name="Shape 17"/>
          <p:cNvSpPr/>
          <p:nvPr/>
        </p:nvSpPr>
        <p:spPr>
          <a:xfrm>
            <a:off x="530352" y="3895344"/>
            <a:ext cx="109728" cy="109728"/>
          </a:xfrm>
          <a:prstGeom prst="line">
            <a:avLst/>
          </a:prstGeom>
          <a:solidFill>
            <a:srgbClr val="06B6D4"/>
          </a:solidFill>
          <a:ln/>
        </p:spPr>
        <p:txBody>
          <a:bodyPr/>
          <a:lstStyle/>
          <a:p>
            <a:endParaRPr lang="en-US">
              <a:latin typeface="Inter" panose="02000503000000020004" pitchFamily="2" charset="0"/>
              <a:ea typeface="Inter" panose="02000503000000020004" pitchFamily="2" charset="0"/>
            </a:endParaRPr>
          </a:p>
        </p:txBody>
      </p:sp>
      <p:sp>
        <p:nvSpPr>
          <p:cNvPr id="21" name="Text 18"/>
          <p:cNvSpPr/>
          <p:nvPr/>
        </p:nvSpPr>
        <p:spPr>
          <a:xfrm>
            <a:off x="731520" y="3803904"/>
            <a:ext cx="2103120" cy="329184"/>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Comparison View</a:t>
            </a:r>
            <a:endParaRPr lang="en-US" sz="1100" dirty="0">
              <a:latin typeface="Inter" panose="02000503000000020004" pitchFamily="2" charset="0"/>
              <a:ea typeface="Inter" panose="02000503000000020004" pitchFamily="2" charset="0"/>
            </a:endParaRPr>
          </a:p>
        </p:txBody>
      </p:sp>
      <p:sp>
        <p:nvSpPr>
          <p:cNvPr id="22" name="Shape 19"/>
          <p:cNvSpPr/>
          <p:nvPr/>
        </p:nvSpPr>
        <p:spPr>
          <a:xfrm>
            <a:off x="2651760" y="1463040"/>
            <a:ext cx="109728" cy="109728"/>
          </a:xfrm>
          <a:prstGeom prst="line">
            <a:avLst/>
          </a:prstGeom>
          <a:solidFill>
            <a:srgbClr val="06B6D4"/>
          </a:solidFill>
          <a:ln/>
        </p:spPr>
        <p:txBody>
          <a:bodyPr/>
          <a:lstStyle/>
          <a:p>
            <a:endParaRPr lang="en-US">
              <a:latin typeface="Inter" panose="02000503000000020004" pitchFamily="2" charset="0"/>
              <a:ea typeface="Inter" panose="02000503000000020004" pitchFamily="2" charset="0"/>
            </a:endParaRPr>
          </a:p>
        </p:txBody>
      </p:sp>
      <p:sp>
        <p:nvSpPr>
          <p:cNvPr id="23" name="Text 20"/>
          <p:cNvSpPr/>
          <p:nvPr/>
        </p:nvSpPr>
        <p:spPr>
          <a:xfrm>
            <a:off x="2651760" y="1380743"/>
            <a:ext cx="2103120" cy="329184"/>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Multivariate Explorer</a:t>
            </a:r>
            <a:endParaRPr lang="en-US" sz="1100" dirty="0">
              <a:latin typeface="Inter" panose="02000503000000020004" pitchFamily="2" charset="0"/>
              <a:ea typeface="Inter" panose="02000503000000020004" pitchFamily="2" charset="0"/>
            </a:endParaRPr>
          </a:p>
        </p:txBody>
      </p:sp>
      <p:sp>
        <p:nvSpPr>
          <p:cNvPr id="24" name="Shape 21"/>
          <p:cNvSpPr/>
          <p:nvPr/>
        </p:nvSpPr>
        <p:spPr>
          <a:xfrm>
            <a:off x="2651760" y="1810512"/>
            <a:ext cx="109728" cy="109728"/>
          </a:xfrm>
          <a:prstGeom prst="line">
            <a:avLst/>
          </a:prstGeom>
          <a:solidFill>
            <a:srgbClr val="06B6D4"/>
          </a:solidFill>
          <a:ln/>
        </p:spPr>
        <p:txBody>
          <a:bodyPr/>
          <a:lstStyle/>
          <a:p>
            <a:endParaRPr lang="en-US">
              <a:latin typeface="Inter" panose="02000503000000020004" pitchFamily="2" charset="0"/>
              <a:ea typeface="Inter" panose="02000503000000020004" pitchFamily="2" charset="0"/>
            </a:endParaRPr>
          </a:p>
        </p:txBody>
      </p:sp>
      <p:sp>
        <p:nvSpPr>
          <p:cNvPr id="25" name="Text 22"/>
          <p:cNvSpPr/>
          <p:nvPr/>
        </p:nvSpPr>
        <p:spPr>
          <a:xfrm>
            <a:off x="2651760" y="1728215"/>
            <a:ext cx="2103120" cy="329184"/>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Feature Scaling Demo</a:t>
            </a:r>
            <a:endParaRPr lang="en-US" sz="1100" dirty="0">
              <a:latin typeface="Inter" panose="02000503000000020004" pitchFamily="2" charset="0"/>
              <a:ea typeface="Inter" panose="02000503000000020004" pitchFamily="2" charset="0"/>
            </a:endParaRPr>
          </a:p>
        </p:txBody>
      </p:sp>
      <p:sp>
        <p:nvSpPr>
          <p:cNvPr id="26" name="Shape 23"/>
          <p:cNvSpPr/>
          <p:nvPr/>
        </p:nvSpPr>
        <p:spPr>
          <a:xfrm>
            <a:off x="2651760" y="2157984"/>
            <a:ext cx="109728" cy="109728"/>
          </a:xfrm>
          <a:prstGeom prst="line">
            <a:avLst/>
          </a:prstGeom>
          <a:solidFill>
            <a:srgbClr val="06B6D4"/>
          </a:solidFill>
          <a:ln/>
        </p:spPr>
        <p:txBody>
          <a:bodyPr/>
          <a:lstStyle/>
          <a:p>
            <a:endParaRPr lang="en-US">
              <a:latin typeface="Inter" panose="02000503000000020004" pitchFamily="2" charset="0"/>
              <a:ea typeface="Inter" panose="02000503000000020004" pitchFamily="2" charset="0"/>
            </a:endParaRPr>
          </a:p>
        </p:txBody>
      </p:sp>
      <p:sp>
        <p:nvSpPr>
          <p:cNvPr id="27" name="Text 24"/>
          <p:cNvSpPr/>
          <p:nvPr/>
        </p:nvSpPr>
        <p:spPr>
          <a:xfrm>
            <a:off x="2651760" y="2075687"/>
            <a:ext cx="2103120" cy="329184"/>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Correlation Explorer</a:t>
            </a:r>
            <a:endParaRPr lang="en-US" sz="1100" dirty="0">
              <a:latin typeface="Inter" panose="02000503000000020004" pitchFamily="2" charset="0"/>
              <a:ea typeface="Inter" panose="02000503000000020004" pitchFamily="2" charset="0"/>
            </a:endParaRPr>
          </a:p>
        </p:txBody>
      </p:sp>
      <p:sp>
        <p:nvSpPr>
          <p:cNvPr id="28" name="Shape 25"/>
          <p:cNvSpPr/>
          <p:nvPr/>
        </p:nvSpPr>
        <p:spPr>
          <a:xfrm>
            <a:off x="2651760" y="2505456"/>
            <a:ext cx="109728" cy="109728"/>
          </a:xfrm>
          <a:prstGeom prst="line">
            <a:avLst/>
          </a:prstGeom>
          <a:solidFill>
            <a:srgbClr val="06B6D4"/>
          </a:solidFill>
          <a:ln/>
        </p:spPr>
        <p:txBody>
          <a:bodyPr/>
          <a:lstStyle/>
          <a:p>
            <a:endParaRPr lang="en-US">
              <a:latin typeface="Inter" panose="02000503000000020004" pitchFamily="2" charset="0"/>
              <a:ea typeface="Inter" panose="02000503000000020004" pitchFamily="2" charset="0"/>
            </a:endParaRPr>
          </a:p>
        </p:txBody>
      </p:sp>
      <p:sp>
        <p:nvSpPr>
          <p:cNvPr id="29" name="Text 26"/>
          <p:cNvSpPr/>
          <p:nvPr/>
        </p:nvSpPr>
        <p:spPr>
          <a:xfrm>
            <a:off x="2651760" y="2423159"/>
            <a:ext cx="2103120" cy="329184"/>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Bias–Variance Demo</a:t>
            </a:r>
            <a:endParaRPr lang="en-US" sz="1100" dirty="0">
              <a:latin typeface="Inter" panose="02000503000000020004" pitchFamily="2" charset="0"/>
              <a:ea typeface="Inter" panose="02000503000000020004" pitchFamily="2" charset="0"/>
            </a:endParaRPr>
          </a:p>
        </p:txBody>
      </p:sp>
      <p:sp>
        <p:nvSpPr>
          <p:cNvPr id="30" name="Shape 27"/>
          <p:cNvSpPr/>
          <p:nvPr/>
        </p:nvSpPr>
        <p:spPr>
          <a:xfrm>
            <a:off x="2651760" y="2852928"/>
            <a:ext cx="109728" cy="109728"/>
          </a:xfrm>
          <a:prstGeom prst="line">
            <a:avLst/>
          </a:prstGeom>
          <a:solidFill>
            <a:srgbClr val="06B6D4"/>
          </a:solidFill>
          <a:ln/>
        </p:spPr>
        <p:txBody>
          <a:bodyPr/>
          <a:lstStyle/>
          <a:p>
            <a:endParaRPr lang="en-US">
              <a:latin typeface="Inter" panose="02000503000000020004" pitchFamily="2" charset="0"/>
              <a:ea typeface="Inter" panose="02000503000000020004" pitchFamily="2" charset="0"/>
            </a:endParaRPr>
          </a:p>
        </p:txBody>
      </p:sp>
      <p:sp>
        <p:nvSpPr>
          <p:cNvPr id="31" name="Text 28"/>
          <p:cNvSpPr/>
          <p:nvPr/>
        </p:nvSpPr>
        <p:spPr>
          <a:xfrm>
            <a:off x="2651760" y="2770631"/>
            <a:ext cx="2103120" cy="329184"/>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Metrics Explorer</a:t>
            </a:r>
            <a:endParaRPr lang="en-US" sz="1100" dirty="0">
              <a:latin typeface="Inter" panose="02000503000000020004" pitchFamily="2" charset="0"/>
              <a:ea typeface="Inter" panose="02000503000000020004" pitchFamily="2" charset="0"/>
            </a:endParaRPr>
          </a:p>
        </p:txBody>
      </p:sp>
      <p:sp>
        <p:nvSpPr>
          <p:cNvPr id="32" name="Shape 29"/>
          <p:cNvSpPr/>
          <p:nvPr/>
        </p:nvSpPr>
        <p:spPr>
          <a:xfrm>
            <a:off x="2651760" y="3200400"/>
            <a:ext cx="109728" cy="109728"/>
          </a:xfrm>
          <a:prstGeom prst="line">
            <a:avLst/>
          </a:prstGeom>
          <a:solidFill>
            <a:srgbClr val="06B6D4"/>
          </a:solidFill>
          <a:ln/>
        </p:spPr>
        <p:txBody>
          <a:bodyPr/>
          <a:lstStyle/>
          <a:p>
            <a:endParaRPr lang="en-US">
              <a:latin typeface="Inter" panose="02000503000000020004" pitchFamily="2" charset="0"/>
              <a:ea typeface="Inter" panose="02000503000000020004" pitchFamily="2" charset="0"/>
            </a:endParaRPr>
          </a:p>
        </p:txBody>
      </p:sp>
      <p:sp>
        <p:nvSpPr>
          <p:cNvPr id="33" name="Text 30"/>
          <p:cNvSpPr/>
          <p:nvPr/>
        </p:nvSpPr>
        <p:spPr>
          <a:xfrm>
            <a:off x="2651760" y="3118103"/>
            <a:ext cx="2103120" cy="329184"/>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Neuron Bridge</a:t>
            </a:r>
            <a:endParaRPr lang="en-US" sz="1100" dirty="0">
              <a:latin typeface="Inter" panose="02000503000000020004" pitchFamily="2" charset="0"/>
              <a:ea typeface="Inter" panose="02000503000000020004" pitchFamily="2" charset="0"/>
            </a:endParaRPr>
          </a:p>
        </p:txBody>
      </p:sp>
      <p:sp>
        <p:nvSpPr>
          <p:cNvPr id="34" name="Shape 31"/>
          <p:cNvSpPr/>
          <p:nvPr/>
        </p:nvSpPr>
        <p:spPr>
          <a:xfrm>
            <a:off x="2651760" y="3547872"/>
            <a:ext cx="109728" cy="109728"/>
          </a:xfrm>
          <a:prstGeom prst="line">
            <a:avLst/>
          </a:prstGeom>
          <a:solidFill>
            <a:srgbClr val="06B6D4"/>
          </a:solidFill>
          <a:ln/>
        </p:spPr>
        <p:txBody>
          <a:bodyPr/>
          <a:lstStyle/>
          <a:p>
            <a:endParaRPr lang="en-US">
              <a:latin typeface="Inter" panose="02000503000000020004" pitchFamily="2" charset="0"/>
              <a:ea typeface="Inter" panose="02000503000000020004" pitchFamily="2" charset="0"/>
            </a:endParaRPr>
          </a:p>
        </p:txBody>
      </p:sp>
      <p:sp>
        <p:nvSpPr>
          <p:cNvPr id="35" name="Text 32"/>
          <p:cNvSpPr/>
          <p:nvPr/>
        </p:nvSpPr>
        <p:spPr>
          <a:xfrm>
            <a:off x="2651760" y="3465575"/>
            <a:ext cx="2103120" cy="329184"/>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Residuals Visualization</a:t>
            </a:r>
            <a:endParaRPr lang="en-US" sz="1100" dirty="0">
              <a:latin typeface="Inter" panose="02000503000000020004" pitchFamily="2" charset="0"/>
              <a:ea typeface="Inter" panose="02000503000000020004" pitchFamily="2" charset="0"/>
            </a:endParaRPr>
          </a:p>
        </p:txBody>
      </p:sp>
      <p:sp>
        <p:nvSpPr>
          <p:cNvPr id="40" name="Text 37"/>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latin typeface="Inter" panose="02000503000000020004" pitchFamily="2" charset="0"/>
                <a:ea typeface="Inter" panose="02000503000000020004" pitchFamily="2" charset="0"/>
              </a:rPr>
              <a:t>LinearMind</a:t>
            </a:r>
            <a:endParaRPr lang="en-US" sz="900" dirty="0">
              <a:latin typeface="Inter" panose="02000503000000020004" pitchFamily="2" charset="0"/>
              <a:ea typeface="Inter" panose="02000503000000020004" pitchFamily="2" charset="0"/>
            </a:endParaRPr>
          </a:p>
        </p:txBody>
      </p:sp>
      <p:sp>
        <p:nvSpPr>
          <p:cNvPr id="41" name="Text 38"/>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latin typeface="Inter" panose="02000503000000020004" pitchFamily="2" charset="0"/>
                <a:ea typeface="Inter" panose="02000503000000020004" pitchFamily="2" charset="0"/>
              </a:rPr>
              <a:t>19</a:t>
            </a:r>
            <a:endParaRPr lang="en-US" sz="900" dirty="0">
              <a:latin typeface="Inter" panose="02000503000000020004" pitchFamily="2" charset="0"/>
              <a:ea typeface="Inter" panose="02000503000000020004" pitchFamily="2" charset="0"/>
            </a:endParaRPr>
          </a:p>
        </p:txBody>
      </p:sp>
      <p:sp>
        <p:nvSpPr>
          <p:cNvPr id="42" name="Shape 39"/>
          <p:cNvSpPr/>
          <p:nvPr/>
        </p:nvSpPr>
        <p:spPr>
          <a:xfrm>
            <a:off x="274320" y="4873752"/>
            <a:ext cx="8595360" cy="0"/>
          </a:xfrm>
          <a:prstGeom prst="line">
            <a:avLst/>
          </a:prstGeom>
          <a:noFill/>
          <a:ln w="635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pic>
        <p:nvPicPr>
          <p:cNvPr id="50" name="Picture 49">
            <a:extLst>
              <a:ext uri="{FF2B5EF4-FFF2-40B4-BE49-F238E27FC236}">
                <a16:creationId xmlns:a16="http://schemas.microsoft.com/office/drawing/2014/main" id="{2B0D10B5-D723-EE6E-25AA-B81858D6715C}"/>
              </a:ext>
            </a:extLst>
          </p:cNvPr>
          <p:cNvPicPr>
            <a:picLocks noChangeAspect="1"/>
          </p:cNvPicPr>
          <p:nvPr/>
        </p:nvPicPr>
        <p:blipFill>
          <a:blip r:embed="rId4"/>
          <a:stretch>
            <a:fillRect/>
          </a:stretch>
        </p:blipFill>
        <p:spPr>
          <a:xfrm>
            <a:off x="6858000" y="1014417"/>
            <a:ext cx="2157984" cy="1442185"/>
          </a:xfrm>
          <a:prstGeom prst="rect">
            <a:avLst/>
          </a:prstGeom>
        </p:spPr>
      </p:pic>
      <p:pic>
        <p:nvPicPr>
          <p:cNvPr id="52" name="Picture 51">
            <a:extLst>
              <a:ext uri="{FF2B5EF4-FFF2-40B4-BE49-F238E27FC236}">
                <a16:creationId xmlns:a16="http://schemas.microsoft.com/office/drawing/2014/main" id="{3CF07AA5-C00F-A33C-82EE-FD1FA078BBE7}"/>
              </a:ext>
            </a:extLst>
          </p:cNvPr>
          <p:cNvPicPr>
            <a:picLocks noChangeAspect="1"/>
          </p:cNvPicPr>
          <p:nvPr/>
        </p:nvPicPr>
        <p:blipFill>
          <a:blip r:embed="rId5"/>
          <a:stretch>
            <a:fillRect/>
          </a:stretch>
        </p:blipFill>
        <p:spPr>
          <a:xfrm>
            <a:off x="4332376" y="1050908"/>
            <a:ext cx="2339696" cy="1369204"/>
          </a:xfrm>
          <a:prstGeom prst="rect">
            <a:avLst/>
          </a:prstGeom>
        </p:spPr>
      </p:pic>
      <p:pic>
        <p:nvPicPr>
          <p:cNvPr id="54" name="Picture 53">
            <a:extLst>
              <a:ext uri="{FF2B5EF4-FFF2-40B4-BE49-F238E27FC236}">
                <a16:creationId xmlns:a16="http://schemas.microsoft.com/office/drawing/2014/main" id="{25D6C778-D1D0-C181-46BB-12AE1098DA29}"/>
              </a:ext>
            </a:extLst>
          </p:cNvPr>
          <p:cNvPicPr>
            <a:picLocks noChangeAspect="1"/>
          </p:cNvPicPr>
          <p:nvPr/>
        </p:nvPicPr>
        <p:blipFill>
          <a:blip r:embed="rId6"/>
          <a:srcRect l="4666" r="5704"/>
          <a:stretch>
            <a:fillRect/>
          </a:stretch>
        </p:blipFill>
        <p:spPr>
          <a:xfrm>
            <a:off x="5356347" y="2491818"/>
            <a:ext cx="2763682" cy="21000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22860"/>
            <a:ext cx="9144000" cy="5143500"/>
          </a:xfrm>
          <a:prstGeom prst="rect">
            <a:avLst/>
          </a:prstGeom>
        </p:spPr>
      </p:pic>
      <p:sp>
        <p:nvSpPr>
          <p:cNvPr id="3" name="Text 0"/>
          <p:cNvSpPr/>
          <p:nvPr/>
        </p:nvSpPr>
        <p:spPr>
          <a:xfrm>
            <a:off x="365760" y="201168"/>
            <a:ext cx="8412480" cy="502920"/>
          </a:xfrm>
          <a:prstGeom prst="rect">
            <a:avLst/>
          </a:prstGeom>
          <a:noFill/>
          <a:ln/>
        </p:spPr>
        <p:txBody>
          <a:bodyPr wrap="square" lIns="0" tIns="0" rIns="0" bIns="0" rtlCol="0" anchor="ctr"/>
          <a:lstStyle/>
          <a:p>
            <a:pPr marL="0" indent="0">
              <a:buNone/>
            </a:pPr>
            <a:r>
              <a:rPr lang="en-US" sz="2600" b="1" dirty="0">
                <a:solidFill>
                  <a:srgbClr val="818CF8"/>
                </a:solidFill>
                <a:latin typeface="Inter" panose="02000503000000020004" pitchFamily="2" charset="0"/>
                <a:ea typeface="Inter" panose="02000503000000020004" pitchFamily="2" charset="0"/>
                <a:cs typeface="Calibri" pitchFamily="34" charset="-120"/>
              </a:rPr>
              <a:t>The Playground — Experiment Like a Lab</a:t>
            </a:r>
            <a:endParaRPr lang="en-US" sz="2600" dirty="0">
              <a:latin typeface="Inter" panose="02000503000000020004" pitchFamily="2" charset="0"/>
              <a:ea typeface="Inter" panose="02000503000000020004" pitchFamily="2" charset="0"/>
            </a:endParaRPr>
          </a:p>
        </p:txBody>
      </p:sp>
      <p:sp>
        <p:nvSpPr>
          <p:cNvPr id="4" name="Shape 1"/>
          <p:cNvSpPr/>
          <p:nvPr/>
        </p:nvSpPr>
        <p:spPr>
          <a:xfrm>
            <a:off x="365760" y="822960"/>
            <a:ext cx="3663696" cy="3657600"/>
          </a:xfrm>
          <a:prstGeom prst="rect">
            <a:avLst/>
          </a:prstGeom>
          <a:solidFill>
            <a:srgbClr val="111120"/>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5" name="Text 2"/>
          <p:cNvSpPr/>
          <p:nvPr/>
        </p:nvSpPr>
        <p:spPr>
          <a:xfrm>
            <a:off x="548640" y="914400"/>
            <a:ext cx="4206240" cy="365760"/>
          </a:xfrm>
          <a:prstGeom prst="rect">
            <a:avLst/>
          </a:prstGeom>
          <a:noFill/>
          <a:ln/>
        </p:spPr>
        <p:txBody>
          <a:bodyPr wrap="square" lIns="0" tIns="0" rIns="0" bIns="0" rtlCol="0" anchor="ctr"/>
          <a:lstStyle/>
          <a:p>
            <a:pPr marL="0" indent="0">
              <a:buNone/>
            </a:pPr>
            <a:r>
              <a:rPr lang="en-US" sz="1500" b="1" dirty="0">
                <a:solidFill>
                  <a:srgbClr val="A855F7"/>
                </a:solidFill>
                <a:latin typeface="Inter" panose="02000503000000020004" pitchFamily="2" charset="0"/>
                <a:ea typeface="Inter" panose="02000503000000020004" pitchFamily="2" charset="0"/>
              </a:rPr>
              <a:t>Regression Workbench</a:t>
            </a:r>
            <a:endParaRPr lang="en-US" sz="1500" dirty="0">
              <a:latin typeface="Inter" panose="02000503000000020004" pitchFamily="2" charset="0"/>
              <a:ea typeface="Inter" panose="02000503000000020004" pitchFamily="2" charset="0"/>
            </a:endParaRPr>
          </a:p>
        </p:txBody>
      </p:sp>
      <p:sp>
        <p:nvSpPr>
          <p:cNvPr id="6" name="Text 3"/>
          <p:cNvSpPr/>
          <p:nvPr/>
        </p:nvSpPr>
        <p:spPr>
          <a:xfrm>
            <a:off x="548640" y="1371600"/>
            <a:ext cx="4114800" cy="320040"/>
          </a:xfrm>
          <a:prstGeom prst="rect">
            <a:avLst/>
          </a:prstGeom>
          <a:noFill/>
          <a:ln/>
        </p:spPr>
        <p:txBody>
          <a:bodyPr wrap="square" lIns="0" tIns="0" rIns="0" bIns="0" rtlCol="0" anchor="ctr"/>
          <a:lstStyle/>
          <a:p>
            <a:pPr marL="0" indent="0">
              <a:buNone/>
            </a:pPr>
            <a:r>
              <a:rPr lang="en-US" sz="1300" b="1" dirty="0">
                <a:solidFill>
                  <a:srgbClr val="818CF8"/>
                </a:solidFill>
                <a:latin typeface="Inter" panose="02000503000000020004" pitchFamily="2" charset="0"/>
                <a:ea typeface="Inter" panose="02000503000000020004" pitchFamily="2" charset="0"/>
              </a:rPr>
              <a:t>Point controls:</a:t>
            </a:r>
            <a:endParaRPr lang="en-US" sz="1300" dirty="0">
              <a:latin typeface="Inter" panose="02000503000000020004" pitchFamily="2" charset="0"/>
              <a:ea typeface="Inter" panose="02000503000000020004" pitchFamily="2" charset="0"/>
            </a:endParaRPr>
          </a:p>
        </p:txBody>
      </p:sp>
      <p:sp>
        <p:nvSpPr>
          <p:cNvPr id="7" name="Text 4"/>
          <p:cNvSpPr/>
          <p:nvPr/>
        </p:nvSpPr>
        <p:spPr>
          <a:xfrm>
            <a:off x="548640" y="1709928"/>
            <a:ext cx="4114800" cy="320040"/>
          </a:xfrm>
          <a:prstGeom prst="rect">
            <a:avLst/>
          </a:prstGeom>
          <a:noFill/>
          <a:ln/>
        </p:spPr>
        <p:txBody>
          <a:bodyPr wrap="square" lIns="0" tIns="0" rIns="0" bIns="0" rtlCol="0" anchor="ctr"/>
          <a:lstStyle/>
          <a:p>
            <a:pPr marL="0" indent="0">
              <a:buNone/>
            </a:pPr>
            <a:r>
              <a:rPr lang="en-US" sz="1200" dirty="0">
                <a:solidFill>
                  <a:srgbClr val="E2E8F0"/>
                </a:solidFill>
                <a:latin typeface="Inter" panose="02000503000000020004" pitchFamily="2" charset="0"/>
                <a:ea typeface="Inter" panose="02000503000000020004" pitchFamily="2" charset="0"/>
              </a:rPr>
              <a:t>Add &amp; drag points — fit updates in real time.</a:t>
            </a:r>
            <a:endParaRPr lang="en-US" sz="1200" dirty="0">
              <a:latin typeface="Inter" panose="02000503000000020004" pitchFamily="2" charset="0"/>
              <a:ea typeface="Inter" panose="02000503000000020004" pitchFamily="2" charset="0"/>
            </a:endParaRPr>
          </a:p>
        </p:txBody>
      </p:sp>
      <p:sp>
        <p:nvSpPr>
          <p:cNvPr id="8" name="Text 5"/>
          <p:cNvSpPr/>
          <p:nvPr/>
        </p:nvSpPr>
        <p:spPr>
          <a:xfrm>
            <a:off x="548640" y="2121408"/>
            <a:ext cx="4114800" cy="320040"/>
          </a:xfrm>
          <a:prstGeom prst="rect">
            <a:avLst/>
          </a:prstGeom>
          <a:noFill/>
          <a:ln/>
        </p:spPr>
        <p:txBody>
          <a:bodyPr wrap="square" lIns="0" tIns="0" rIns="0" bIns="0" rtlCol="0" anchor="ctr"/>
          <a:lstStyle/>
          <a:p>
            <a:pPr marL="0" indent="0">
              <a:buNone/>
            </a:pPr>
            <a:r>
              <a:rPr lang="en-US" sz="1300" b="1" dirty="0">
                <a:solidFill>
                  <a:srgbClr val="818CF8"/>
                </a:solidFill>
                <a:latin typeface="Inter" panose="02000503000000020004" pitchFamily="2" charset="0"/>
                <a:ea typeface="Inter" panose="02000503000000020004" pitchFamily="2" charset="0"/>
              </a:rPr>
              <a:t>Presets:</a:t>
            </a:r>
            <a:endParaRPr lang="en-US" sz="1300" dirty="0">
              <a:latin typeface="Inter" panose="02000503000000020004" pitchFamily="2" charset="0"/>
              <a:ea typeface="Inter" panose="02000503000000020004" pitchFamily="2" charset="0"/>
            </a:endParaRPr>
          </a:p>
        </p:txBody>
      </p:sp>
      <p:sp>
        <p:nvSpPr>
          <p:cNvPr id="9" name="Text 6"/>
          <p:cNvSpPr/>
          <p:nvPr/>
        </p:nvSpPr>
        <p:spPr>
          <a:xfrm>
            <a:off x="548640" y="2450592"/>
            <a:ext cx="3151632" cy="347472"/>
          </a:xfrm>
          <a:prstGeom prst="rect">
            <a:avLst/>
          </a:prstGeom>
          <a:noFill/>
          <a:ln/>
        </p:spPr>
        <p:txBody>
          <a:bodyPr wrap="square" lIns="0" tIns="0" rIns="0" bIns="0" rtlCol="0" anchor="ctr"/>
          <a:lstStyle/>
          <a:p>
            <a:pPr marL="0" indent="0">
              <a:buNone/>
            </a:pPr>
            <a:r>
              <a:rPr lang="en-US" sz="1200" dirty="0">
                <a:solidFill>
                  <a:srgbClr val="E2E8F0"/>
                </a:solidFill>
                <a:latin typeface="Inter" panose="02000503000000020004" pitchFamily="2" charset="0"/>
                <a:ea typeface="Inter" panose="02000503000000020004" pitchFamily="2" charset="0"/>
              </a:rPr>
              <a:t>Linear  ·  Noisy  ·  Outlier  ·  Quadratic  ·  Clusters  ·  No Trend</a:t>
            </a:r>
            <a:endParaRPr lang="en-US" sz="1200" dirty="0">
              <a:latin typeface="Inter" panose="02000503000000020004" pitchFamily="2" charset="0"/>
              <a:ea typeface="Inter" panose="02000503000000020004" pitchFamily="2" charset="0"/>
            </a:endParaRPr>
          </a:p>
        </p:txBody>
      </p:sp>
      <p:sp>
        <p:nvSpPr>
          <p:cNvPr id="10" name="Text 7"/>
          <p:cNvSpPr/>
          <p:nvPr/>
        </p:nvSpPr>
        <p:spPr>
          <a:xfrm>
            <a:off x="548640" y="2880360"/>
            <a:ext cx="4114800" cy="320040"/>
          </a:xfrm>
          <a:prstGeom prst="rect">
            <a:avLst/>
          </a:prstGeom>
          <a:noFill/>
          <a:ln/>
        </p:spPr>
        <p:txBody>
          <a:bodyPr wrap="square" lIns="0" tIns="0" rIns="0" bIns="0" rtlCol="0" anchor="ctr"/>
          <a:lstStyle/>
          <a:p>
            <a:pPr marL="0" indent="0">
              <a:buNone/>
            </a:pPr>
            <a:r>
              <a:rPr lang="en-US" sz="1300" b="1" dirty="0">
                <a:solidFill>
                  <a:srgbClr val="818CF8"/>
                </a:solidFill>
                <a:latin typeface="Inter" panose="02000503000000020004" pitchFamily="2" charset="0"/>
                <a:ea typeface="Inter" panose="02000503000000020004" pitchFamily="2" charset="0"/>
              </a:rPr>
              <a:t>Overlays:</a:t>
            </a:r>
            <a:endParaRPr lang="en-US" sz="1300" dirty="0">
              <a:latin typeface="Inter" panose="02000503000000020004" pitchFamily="2" charset="0"/>
              <a:ea typeface="Inter" panose="02000503000000020004" pitchFamily="2" charset="0"/>
            </a:endParaRPr>
          </a:p>
        </p:txBody>
      </p:sp>
      <p:sp>
        <p:nvSpPr>
          <p:cNvPr id="11" name="Text 8"/>
          <p:cNvSpPr/>
          <p:nvPr/>
        </p:nvSpPr>
        <p:spPr>
          <a:xfrm>
            <a:off x="548640" y="3218688"/>
            <a:ext cx="3078480" cy="347472"/>
          </a:xfrm>
          <a:prstGeom prst="rect">
            <a:avLst/>
          </a:prstGeom>
          <a:noFill/>
          <a:ln/>
        </p:spPr>
        <p:txBody>
          <a:bodyPr wrap="square" lIns="0" tIns="0" rIns="0" bIns="0" rtlCol="0" anchor="ctr"/>
          <a:lstStyle/>
          <a:p>
            <a:pPr marL="0" indent="0">
              <a:lnSpc>
                <a:spcPct val="120000"/>
              </a:lnSpc>
              <a:buNone/>
            </a:pPr>
            <a:r>
              <a:rPr lang="en-US" sz="1200" dirty="0">
                <a:solidFill>
                  <a:srgbClr val="E2E8F0"/>
                </a:solidFill>
                <a:latin typeface="Inter" panose="02000503000000020004" pitchFamily="2" charset="0"/>
                <a:ea typeface="Inter" panose="02000503000000020004" pitchFamily="2" charset="0"/>
              </a:rPr>
              <a:t>Residuals  ·  Equation  ·  Grid  ·  Confidence Band  ·  Residual Histogram</a:t>
            </a:r>
            <a:endParaRPr lang="en-US" sz="1200" dirty="0">
              <a:latin typeface="Inter" panose="02000503000000020004" pitchFamily="2" charset="0"/>
              <a:ea typeface="Inter" panose="02000503000000020004" pitchFamily="2" charset="0"/>
            </a:endParaRPr>
          </a:p>
        </p:txBody>
      </p:sp>
      <p:sp>
        <p:nvSpPr>
          <p:cNvPr id="12" name="Text 9"/>
          <p:cNvSpPr/>
          <p:nvPr/>
        </p:nvSpPr>
        <p:spPr>
          <a:xfrm>
            <a:off x="548640" y="3703320"/>
            <a:ext cx="3529584" cy="502920"/>
          </a:xfrm>
          <a:prstGeom prst="rect">
            <a:avLst/>
          </a:prstGeom>
          <a:noFill/>
          <a:ln/>
        </p:spPr>
        <p:txBody>
          <a:bodyPr wrap="square" lIns="0" tIns="0" rIns="0" bIns="0" rtlCol="0" anchor="ctr"/>
          <a:lstStyle/>
          <a:p>
            <a:pPr marL="0" indent="0">
              <a:buNone/>
            </a:pPr>
            <a:r>
              <a:rPr lang="en-US" sz="1200" i="1" dirty="0">
                <a:solidFill>
                  <a:srgbClr val="94A3B8"/>
                </a:solidFill>
                <a:latin typeface="Inter" panose="02000503000000020004" pitchFamily="2" charset="0"/>
                <a:ea typeface="Inter" panose="02000503000000020004" pitchFamily="2" charset="0"/>
              </a:rPr>
              <a:t>"This turns abstract math into something you can feel."</a:t>
            </a:r>
            <a:endParaRPr lang="en-US" sz="1200" dirty="0">
              <a:latin typeface="Inter" panose="02000503000000020004" pitchFamily="2" charset="0"/>
              <a:ea typeface="Inter" panose="02000503000000020004" pitchFamily="2" charset="0"/>
            </a:endParaRPr>
          </a:p>
        </p:txBody>
      </p:sp>
      <p:sp>
        <p:nvSpPr>
          <p:cNvPr id="17" name="Text 14"/>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latin typeface="Inter" panose="02000503000000020004" pitchFamily="2" charset="0"/>
                <a:ea typeface="Inter" panose="02000503000000020004" pitchFamily="2" charset="0"/>
              </a:rPr>
              <a:t>LinearMind</a:t>
            </a:r>
            <a:endParaRPr lang="en-US" sz="900" dirty="0">
              <a:latin typeface="Inter" panose="02000503000000020004" pitchFamily="2" charset="0"/>
              <a:ea typeface="Inter" panose="02000503000000020004" pitchFamily="2" charset="0"/>
            </a:endParaRPr>
          </a:p>
        </p:txBody>
      </p:sp>
      <p:sp>
        <p:nvSpPr>
          <p:cNvPr id="18" name="Text 15"/>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latin typeface="Inter" panose="02000503000000020004" pitchFamily="2" charset="0"/>
                <a:ea typeface="Inter" panose="02000503000000020004" pitchFamily="2" charset="0"/>
              </a:rPr>
              <a:t>20</a:t>
            </a:r>
            <a:endParaRPr lang="en-US" sz="900" dirty="0">
              <a:latin typeface="Inter" panose="02000503000000020004" pitchFamily="2" charset="0"/>
              <a:ea typeface="Inter" panose="02000503000000020004" pitchFamily="2" charset="0"/>
            </a:endParaRPr>
          </a:p>
        </p:txBody>
      </p:sp>
      <p:sp>
        <p:nvSpPr>
          <p:cNvPr id="19" name="Shape 16"/>
          <p:cNvSpPr/>
          <p:nvPr/>
        </p:nvSpPr>
        <p:spPr>
          <a:xfrm>
            <a:off x="274320" y="4873752"/>
            <a:ext cx="8595360" cy="0"/>
          </a:xfrm>
          <a:prstGeom prst="line">
            <a:avLst/>
          </a:prstGeom>
          <a:noFill/>
          <a:ln w="635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pic>
        <p:nvPicPr>
          <p:cNvPr id="23" name="Picture 22">
            <a:extLst>
              <a:ext uri="{FF2B5EF4-FFF2-40B4-BE49-F238E27FC236}">
                <a16:creationId xmlns:a16="http://schemas.microsoft.com/office/drawing/2014/main" id="{BBD9E762-1BDD-B13F-987B-EF0ABF0278A3}"/>
              </a:ext>
            </a:extLst>
          </p:cNvPr>
          <p:cNvPicPr>
            <a:picLocks noChangeAspect="1"/>
          </p:cNvPicPr>
          <p:nvPr/>
        </p:nvPicPr>
        <p:blipFill>
          <a:blip r:embed="rId4"/>
          <a:stretch>
            <a:fillRect/>
          </a:stretch>
        </p:blipFill>
        <p:spPr>
          <a:xfrm>
            <a:off x="4137166" y="1371600"/>
            <a:ext cx="4850356" cy="229390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22860"/>
            <a:ext cx="9144000" cy="5143500"/>
          </a:xfrm>
          <a:prstGeom prst="rect">
            <a:avLst/>
          </a:prstGeom>
        </p:spPr>
      </p:pic>
      <p:sp>
        <p:nvSpPr>
          <p:cNvPr id="3" name="Text 0"/>
          <p:cNvSpPr/>
          <p:nvPr/>
        </p:nvSpPr>
        <p:spPr>
          <a:xfrm>
            <a:off x="365760" y="201168"/>
            <a:ext cx="8412480" cy="502920"/>
          </a:xfrm>
          <a:prstGeom prst="rect">
            <a:avLst/>
          </a:prstGeom>
          <a:noFill/>
          <a:ln/>
        </p:spPr>
        <p:txBody>
          <a:bodyPr wrap="square" lIns="0" tIns="0" rIns="0" bIns="0" rtlCol="0" anchor="ctr"/>
          <a:lstStyle/>
          <a:p>
            <a:pPr marL="0" indent="0">
              <a:buNone/>
            </a:pPr>
            <a:r>
              <a:rPr lang="en-US" sz="2600" b="1" dirty="0">
                <a:solidFill>
                  <a:srgbClr val="818CF8"/>
                </a:solidFill>
                <a:latin typeface="Inter" panose="02000503000000020004" pitchFamily="2" charset="0"/>
                <a:ea typeface="Inter" panose="02000503000000020004" pitchFamily="2" charset="0"/>
                <a:cs typeface="Calibri" pitchFamily="34" charset="-120"/>
              </a:rPr>
              <a:t>AI Tutor — Gemini-Powered Chat</a:t>
            </a:r>
            <a:endParaRPr lang="en-US" sz="2600" dirty="0">
              <a:latin typeface="Inter" panose="02000503000000020004" pitchFamily="2" charset="0"/>
              <a:ea typeface="Inter" panose="02000503000000020004" pitchFamily="2" charset="0"/>
            </a:endParaRPr>
          </a:p>
        </p:txBody>
      </p:sp>
      <p:sp>
        <p:nvSpPr>
          <p:cNvPr id="4" name="Shape 1"/>
          <p:cNvSpPr/>
          <p:nvPr/>
        </p:nvSpPr>
        <p:spPr>
          <a:xfrm>
            <a:off x="365760" y="822960"/>
            <a:ext cx="4572000" cy="3657600"/>
          </a:xfrm>
          <a:prstGeom prst="rect">
            <a:avLst/>
          </a:prstGeom>
          <a:solidFill>
            <a:srgbClr val="111120"/>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pic>
        <p:nvPicPr>
          <p:cNvPr id="5" name="Image 1" descr="preencoded.png"/>
          <p:cNvPicPr>
            <a:picLocks noChangeAspect="1"/>
          </p:cNvPicPr>
          <p:nvPr/>
        </p:nvPicPr>
        <p:blipFill>
          <a:blip r:embed="rId4"/>
          <a:stretch>
            <a:fillRect/>
          </a:stretch>
        </p:blipFill>
        <p:spPr>
          <a:xfrm>
            <a:off x="548640" y="914400"/>
            <a:ext cx="502920" cy="502920"/>
          </a:xfrm>
          <a:prstGeom prst="rect">
            <a:avLst/>
          </a:prstGeom>
        </p:spPr>
      </p:pic>
      <p:sp>
        <p:nvSpPr>
          <p:cNvPr id="6" name="Text 2"/>
          <p:cNvSpPr/>
          <p:nvPr/>
        </p:nvSpPr>
        <p:spPr>
          <a:xfrm>
            <a:off x="1188720" y="960120"/>
            <a:ext cx="3566160" cy="411480"/>
          </a:xfrm>
          <a:prstGeom prst="rect">
            <a:avLst/>
          </a:prstGeom>
          <a:noFill/>
          <a:ln/>
        </p:spPr>
        <p:txBody>
          <a:bodyPr wrap="square" lIns="0" tIns="0" rIns="0" bIns="0" rtlCol="0" anchor="ctr"/>
          <a:lstStyle/>
          <a:p>
            <a:pPr marL="0" indent="0">
              <a:buNone/>
            </a:pPr>
            <a:r>
              <a:rPr lang="en-US" sz="1400" b="1" dirty="0">
                <a:solidFill>
                  <a:srgbClr val="06B6D4"/>
                </a:solidFill>
                <a:latin typeface="Inter" panose="02000503000000020004" pitchFamily="2" charset="0"/>
                <a:ea typeface="Inter" panose="02000503000000020004" pitchFamily="2" charset="0"/>
              </a:rPr>
              <a:t>Floating Chatbot — always available</a:t>
            </a:r>
            <a:endParaRPr lang="en-US" sz="1400" dirty="0">
              <a:latin typeface="Inter" panose="02000503000000020004" pitchFamily="2" charset="0"/>
              <a:ea typeface="Inter" panose="02000503000000020004" pitchFamily="2" charset="0"/>
            </a:endParaRPr>
          </a:p>
        </p:txBody>
      </p:sp>
      <p:sp>
        <p:nvSpPr>
          <p:cNvPr id="7" name="Text 3"/>
          <p:cNvSpPr/>
          <p:nvPr/>
        </p:nvSpPr>
        <p:spPr>
          <a:xfrm>
            <a:off x="548640" y="1508760"/>
            <a:ext cx="4206240" cy="502920"/>
          </a:xfrm>
          <a:prstGeom prst="rect">
            <a:avLst/>
          </a:prstGeom>
          <a:noFill/>
          <a:ln/>
        </p:spPr>
        <p:txBody>
          <a:bodyPr wrap="square" lIns="0" tIns="0" rIns="0" bIns="0" rtlCol="0" anchor="ctr"/>
          <a:lstStyle/>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Focused on Linear Regression questions.</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Powered by Gemini via a secure server-side API route.</a:t>
            </a:r>
            <a:endParaRPr lang="en-US" sz="1200" dirty="0">
              <a:latin typeface="Inter" panose="02000503000000020004" pitchFamily="2" charset="0"/>
              <a:ea typeface="Inter" panose="02000503000000020004" pitchFamily="2" charset="0"/>
            </a:endParaRPr>
          </a:p>
        </p:txBody>
      </p:sp>
      <p:sp>
        <p:nvSpPr>
          <p:cNvPr id="8" name="Text 4"/>
          <p:cNvSpPr/>
          <p:nvPr/>
        </p:nvSpPr>
        <p:spPr>
          <a:xfrm>
            <a:off x="548640" y="2148840"/>
            <a:ext cx="4114800" cy="347472"/>
          </a:xfrm>
          <a:prstGeom prst="rect">
            <a:avLst/>
          </a:prstGeom>
          <a:noFill/>
          <a:ln/>
        </p:spPr>
        <p:txBody>
          <a:bodyPr wrap="square" lIns="0" tIns="0" rIns="0" bIns="0" rtlCol="0" anchor="ctr"/>
          <a:lstStyle/>
          <a:p>
            <a:pPr marL="0" indent="0">
              <a:buNone/>
            </a:pPr>
            <a:r>
              <a:rPr lang="en-US" sz="1300" b="1" dirty="0">
                <a:solidFill>
                  <a:srgbClr val="818CF8"/>
                </a:solidFill>
                <a:latin typeface="Inter" panose="02000503000000020004" pitchFamily="2" charset="0"/>
                <a:ea typeface="Inter" panose="02000503000000020004" pitchFamily="2" charset="0"/>
              </a:rPr>
              <a:t>4 Explanation Styles:</a:t>
            </a:r>
            <a:endParaRPr lang="en-US" sz="1300" dirty="0">
              <a:latin typeface="Inter" panose="02000503000000020004" pitchFamily="2" charset="0"/>
              <a:ea typeface="Inter" panose="02000503000000020004" pitchFamily="2" charset="0"/>
            </a:endParaRPr>
          </a:p>
        </p:txBody>
      </p:sp>
      <p:sp>
        <p:nvSpPr>
          <p:cNvPr id="9" name="Shape 5"/>
          <p:cNvSpPr/>
          <p:nvPr/>
        </p:nvSpPr>
        <p:spPr>
          <a:xfrm>
            <a:off x="502920" y="2560320"/>
            <a:ext cx="640080" cy="347472"/>
          </a:xfrm>
          <a:prstGeom prst="rect">
            <a:avLst/>
          </a:prstGeom>
          <a:solidFill>
            <a:srgbClr val="10B981"/>
          </a:solidFill>
          <a:ln w="12700">
            <a:solidFill>
              <a:srgbClr val="10B98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10" name="Text 6"/>
          <p:cNvSpPr/>
          <p:nvPr/>
        </p:nvSpPr>
        <p:spPr>
          <a:xfrm>
            <a:off x="502920" y="2560320"/>
            <a:ext cx="640080" cy="347472"/>
          </a:xfrm>
          <a:prstGeom prst="rect">
            <a:avLst/>
          </a:prstGeom>
          <a:noFill/>
          <a:ln/>
        </p:spPr>
        <p:txBody>
          <a:bodyPr wrap="square" lIns="0" tIns="0" rIns="0" bIns="0" rtlCol="0" anchor="ctr"/>
          <a:lstStyle/>
          <a:p>
            <a:pPr marL="0" indent="0" algn="ctr">
              <a:buNone/>
            </a:pPr>
            <a:r>
              <a:rPr lang="en-US" sz="1000" b="1" dirty="0">
                <a:solidFill>
                  <a:srgbClr val="10B981"/>
                </a:solidFill>
                <a:latin typeface="Inter" panose="02000503000000020004" pitchFamily="2" charset="0"/>
                <a:ea typeface="Inter" panose="02000503000000020004" pitchFamily="2" charset="0"/>
              </a:rPr>
              <a:t>Beginner</a:t>
            </a:r>
            <a:endParaRPr lang="en-US" sz="1000" dirty="0">
              <a:latin typeface="Inter" panose="02000503000000020004" pitchFamily="2" charset="0"/>
              <a:ea typeface="Inter" panose="02000503000000020004" pitchFamily="2" charset="0"/>
            </a:endParaRPr>
          </a:p>
        </p:txBody>
      </p:sp>
      <p:sp>
        <p:nvSpPr>
          <p:cNvPr id="11" name="Text 7"/>
          <p:cNvSpPr/>
          <p:nvPr/>
        </p:nvSpPr>
        <p:spPr>
          <a:xfrm>
            <a:off x="1234440" y="2596896"/>
            <a:ext cx="3200400" cy="320040"/>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Plain language, no assumed math background</a:t>
            </a:r>
            <a:endParaRPr lang="en-US" sz="1100" dirty="0">
              <a:latin typeface="Inter" panose="02000503000000020004" pitchFamily="2" charset="0"/>
              <a:ea typeface="Inter" panose="02000503000000020004" pitchFamily="2" charset="0"/>
            </a:endParaRPr>
          </a:p>
        </p:txBody>
      </p:sp>
      <p:sp>
        <p:nvSpPr>
          <p:cNvPr id="12" name="Shape 8"/>
          <p:cNvSpPr/>
          <p:nvPr/>
        </p:nvSpPr>
        <p:spPr>
          <a:xfrm>
            <a:off x="502920" y="3017520"/>
            <a:ext cx="640080" cy="347472"/>
          </a:xfrm>
          <a:prstGeom prst="rect">
            <a:avLst/>
          </a:prstGeom>
          <a:solidFill>
            <a:srgbClr val="06B6D4"/>
          </a:solidFill>
          <a:ln w="12700">
            <a:solidFill>
              <a:srgbClr val="06B6D4"/>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13" name="Text 9"/>
          <p:cNvSpPr/>
          <p:nvPr/>
        </p:nvSpPr>
        <p:spPr>
          <a:xfrm>
            <a:off x="502920" y="3017520"/>
            <a:ext cx="640080" cy="347472"/>
          </a:xfrm>
          <a:prstGeom prst="rect">
            <a:avLst/>
          </a:prstGeom>
          <a:noFill/>
          <a:ln/>
        </p:spPr>
        <p:txBody>
          <a:bodyPr wrap="square" lIns="0" tIns="0" rIns="0" bIns="0" rtlCol="0" anchor="ctr"/>
          <a:lstStyle/>
          <a:p>
            <a:pPr marL="0" indent="0" algn="ctr">
              <a:buNone/>
            </a:pPr>
            <a:r>
              <a:rPr lang="en-US" sz="1000" b="1" dirty="0">
                <a:solidFill>
                  <a:srgbClr val="06B6D4"/>
                </a:solidFill>
                <a:latin typeface="Inter" panose="02000503000000020004" pitchFamily="2" charset="0"/>
                <a:ea typeface="Inter" panose="02000503000000020004" pitchFamily="2" charset="0"/>
              </a:rPr>
              <a:t>Engineer</a:t>
            </a:r>
            <a:endParaRPr lang="en-US" sz="1000" dirty="0">
              <a:latin typeface="Inter" panose="02000503000000020004" pitchFamily="2" charset="0"/>
              <a:ea typeface="Inter" panose="02000503000000020004" pitchFamily="2" charset="0"/>
            </a:endParaRPr>
          </a:p>
        </p:txBody>
      </p:sp>
      <p:sp>
        <p:nvSpPr>
          <p:cNvPr id="14" name="Text 10"/>
          <p:cNvSpPr/>
          <p:nvPr/>
        </p:nvSpPr>
        <p:spPr>
          <a:xfrm>
            <a:off x="1234440" y="3054096"/>
            <a:ext cx="3200400" cy="320040"/>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Technical depth, implementation focus</a:t>
            </a:r>
            <a:endParaRPr lang="en-US" sz="1100" dirty="0">
              <a:latin typeface="Inter" panose="02000503000000020004" pitchFamily="2" charset="0"/>
              <a:ea typeface="Inter" panose="02000503000000020004" pitchFamily="2" charset="0"/>
            </a:endParaRPr>
          </a:p>
        </p:txBody>
      </p:sp>
      <p:sp>
        <p:nvSpPr>
          <p:cNvPr id="15" name="Shape 11"/>
          <p:cNvSpPr/>
          <p:nvPr/>
        </p:nvSpPr>
        <p:spPr>
          <a:xfrm>
            <a:off x="502920" y="3474720"/>
            <a:ext cx="640080" cy="347472"/>
          </a:xfrm>
          <a:prstGeom prst="rect">
            <a:avLst/>
          </a:prstGeom>
          <a:solidFill>
            <a:srgbClr val="F59E0B"/>
          </a:solidFill>
          <a:ln w="12700">
            <a:solidFill>
              <a:srgbClr val="F59E0B"/>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16" name="Text 12"/>
          <p:cNvSpPr/>
          <p:nvPr/>
        </p:nvSpPr>
        <p:spPr>
          <a:xfrm>
            <a:off x="502920" y="3474720"/>
            <a:ext cx="640080" cy="347472"/>
          </a:xfrm>
          <a:prstGeom prst="rect">
            <a:avLst/>
          </a:prstGeom>
          <a:noFill/>
          <a:ln/>
        </p:spPr>
        <p:txBody>
          <a:bodyPr wrap="square" lIns="0" tIns="0" rIns="0" bIns="0" rtlCol="0" anchor="ctr"/>
          <a:lstStyle/>
          <a:p>
            <a:pPr marL="0" indent="0" algn="ctr">
              <a:buNone/>
            </a:pPr>
            <a:r>
              <a:rPr lang="en-US" sz="1000" b="1" dirty="0">
                <a:solidFill>
                  <a:srgbClr val="F59E0B"/>
                </a:solidFill>
                <a:latin typeface="Inter" panose="02000503000000020004" pitchFamily="2" charset="0"/>
                <a:ea typeface="Inter" panose="02000503000000020004" pitchFamily="2" charset="0"/>
              </a:rPr>
              <a:t>Child</a:t>
            </a:r>
            <a:endParaRPr lang="en-US" sz="1000" dirty="0">
              <a:latin typeface="Inter" panose="02000503000000020004" pitchFamily="2" charset="0"/>
              <a:ea typeface="Inter" panose="02000503000000020004" pitchFamily="2" charset="0"/>
            </a:endParaRPr>
          </a:p>
        </p:txBody>
      </p:sp>
      <p:sp>
        <p:nvSpPr>
          <p:cNvPr id="17" name="Text 13"/>
          <p:cNvSpPr/>
          <p:nvPr/>
        </p:nvSpPr>
        <p:spPr>
          <a:xfrm>
            <a:off x="1234440" y="3511296"/>
            <a:ext cx="3200400" cy="320040"/>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Analogies and everyday examples</a:t>
            </a:r>
            <a:endParaRPr lang="en-US" sz="1100" dirty="0">
              <a:latin typeface="Inter" panose="02000503000000020004" pitchFamily="2" charset="0"/>
              <a:ea typeface="Inter" panose="02000503000000020004" pitchFamily="2" charset="0"/>
            </a:endParaRPr>
          </a:p>
        </p:txBody>
      </p:sp>
      <p:sp>
        <p:nvSpPr>
          <p:cNvPr id="18" name="Shape 14"/>
          <p:cNvSpPr/>
          <p:nvPr/>
        </p:nvSpPr>
        <p:spPr>
          <a:xfrm>
            <a:off x="502920" y="3931920"/>
            <a:ext cx="640080" cy="347472"/>
          </a:xfrm>
          <a:prstGeom prst="rect">
            <a:avLst/>
          </a:prstGeom>
          <a:solidFill>
            <a:srgbClr val="A855F7"/>
          </a:solidFill>
          <a:ln w="12700">
            <a:solidFill>
              <a:srgbClr val="A855F7"/>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19" name="Text 15"/>
          <p:cNvSpPr/>
          <p:nvPr/>
        </p:nvSpPr>
        <p:spPr>
          <a:xfrm>
            <a:off x="502920" y="3931920"/>
            <a:ext cx="640080" cy="347472"/>
          </a:xfrm>
          <a:prstGeom prst="rect">
            <a:avLst/>
          </a:prstGeom>
          <a:noFill/>
          <a:ln/>
        </p:spPr>
        <p:txBody>
          <a:bodyPr wrap="square" lIns="0" tIns="0" rIns="0" bIns="0" rtlCol="0" anchor="ctr"/>
          <a:lstStyle/>
          <a:p>
            <a:pPr marL="0" indent="0" algn="ctr">
              <a:buNone/>
            </a:pPr>
            <a:r>
              <a:rPr lang="en-US" sz="1000" b="1" dirty="0">
                <a:solidFill>
                  <a:srgbClr val="A855F7"/>
                </a:solidFill>
                <a:latin typeface="Inter" panose="02000503000000020004" pitchFamily="2" charset="0"/>
                <a:ea typeface="Inter" panose="02000503000000020004" pitchFamily="2" charset="0"/>
              </a:rPr>
              <a:t>Math</a:t>
            </a:r>
            <a:endParaRPr lang="en-US" sz="1000" dirty="0">
              <a:latin typeface="Inter" panose="02000503000000020004" pitchFamily="2" charset="0"/>
              <a:ea typeface="Inter" panose="02000503000000020004" pitchFamily="2" charset="0"/>
            </a:endParaRPr>
          </a:p>
        </p:txBody>
      </p:sp>
      <p:sp>
        <p:nvSpPr>
          <p:cNvPr id="20" name="Text 16"/>
          <p:cNvSpPr/>
          <p:nvPr/>
        </p:nvSpPr>
        <p:spPr>
          <a:xfrm>
            <a:off x="1234440" y="3968496"/>
            <a:ext cx="3200400" cy="320040"/>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Rigorous notation and derivations</a:t>
            </a:r>
            <a:endParaRPr lang="en-US" sz="1100" dirty="0">
              <a:latin typeface="Inter" panose="02000503000000020004" pitchFamily="2" charset="0"/>
              <a:ea typeface="Inter" panose="02000503000000020004" pitchFamily="2" charset="0"/>
            </a:endParaRPr>
          </a:p>
        </p:txBody>
      </p:sp>
      <p:sp>
        <p:nvSpPr>
          <p:cNvPr id="25" name="Text 21"/>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latin typeface="Inter" panose="02000503000000020004" pitchFamily="2" charset="0"/>
                <a:ea typeface="Inter" panose="02000503000000020004" pitchFamily="2" charset="0"/>
              </a:rPr>
              <a:t>LinearMind</a:t>
            </a:r>
            <a:endParaRPr lang="en-US" sz="900" dirty="0">
              <a:latin typeface="Inter" panose="02000503000000020004" pitchFamily="2" charset="0"/>
              <a:ea typeface="Inter" panose="02000503000000020004" pitchFamily="2" charset="0"/>
            </a:endParaRPr>
          </a:p>
        </p:txBody>
      </p:sp>
      <p:sp>
        <p:nvSpPr>
          <p:cNvPr id="26" name="Text 22"/>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latin typeface="Inter" panose="02000503000000020004" pitchFamily="2" charset="0"/>
                <a:ea typeface="Inter" panose="02000503000000020004" pitchFamily="2" charset="0"/>
              </a:rPr>
              <a:t>21</a:t>
            </a:r>
            <a:endParaRPr lang="en-US" sz="900" dirty="0">
              <a:latin typeface="Inter" panose="02000503000000020004" pitchFamily="2" charset="0"/>
              <a:ea typeface="Inter" panose="02000503000000020004" pitchFamily="2" charset="0"/>
            </a:endParaRPr>
          </a:p>
        </p:txBody>
      </p:sp>
      <p:sp>
        <p:nvSpPr>
          <p:cNvPr id="27" name="Shape 23"/>
          <p:cNvSpPr/>
          <p:nvPr/>
        </p:nvSpPr>
        <p:spPr>
          <a:xfrm>
            <a:off x="274320" y="4873752"/>
            <a:ext cx="8595360" cy="0"/>
          </a:xfrm>
          <a:prstGeom prst="line">
            <a:avLst/>
          </a:prstGeom>
          <a:noFill/>
          <a:ln w="635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pic>
        <p:nvPicPr>
          <p:cNvPr id="29" name="Picture 28">
            <a:extLst>
              <a:ext uri="{FF2B5EF4-FFF2-40B4-BE49-F238E27FC236}">
                <a16:creationId xmlns:a16="http://schemas.microsoft.com/office/drawing/2014/main" id="{F5FC3C57-6778-5BA8-1A53-CBEFCA173F6F}"/>
              </a:ext>
            </a:extLst>
          </p:cNvPr>
          <p:cNvPicPr>
            <a:picLocks noChangeAspect="1"/>
          </p:cNvPicPr>
          <p:nvPr/>
        </p:nvPicPr>
        <p:blipFill>
          <a:blip r:embed="rId5"/>
          <a:stretch>
            <a:fillRect/>
          </a:stretch>
        </p:blipFill>
        <p:spPr>
          <a:xfrm>
            <a:off x="5645305" y="663722"/>
            <a:ext cx="2858615" cy="39760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201168"/>
            <a:ext cx="8412480" cy="502920"/>
          </a:xfrm>
          <a:prstGeom prst="rect">
            <a:avLst/>
          </a:prstGeom>
          <a:noFill/>
          <a:ln/>
        </p:spPr>
        <p:txBody>
          <a:bodyPr wrap="square" lIns="0" tIns="0" rIns="0" bIns="0" rtlCol="0" anchor="ctr"/>
          <a:lstStyle/>
          <a:p>
            <a:pPr marL="0" indent="0">
              <a:buNone/>
            </a:pPr>
            <a:r>
              <a:rPr lang="en-US" sz="2600" b="1" dirty="0">
                <a:solidFill>
                  <a:srgbClr val="818CF8"/>
                </a:solidFill>
                <a:latin typeface="Inter" panose="02000503000000020004" pitchFamily="2" charset="0"/>
                <a:ea typeface="Inter" panose="02000503000000020004" pitchFamily="2" charset="0"/>
                <a:cs typeface="Calibri" pitchFamily="34" charset="-120"/>
              </a:rPr>
              <a:t>Quizzes — Knowledge Checks</a:t>
            </a:r>
            <a:endParaRPr lang="en-US" sz="2600" dirty="0">
              <a:latin typeface="Inter" panose="02000503000000020004" pitchFamily="2" charset="0"/>
              <a:ea typeface="Inter" panose="02000503000000020004" pitchFamily="2" charset="0"/>
            </a:endParaRPr>
          </a:p>
        </p:txBody>
      </p:sp>
      <p:sp>
        <p:nvSpPr>
          <p:cNvPr id="4" name="Shape 1"/>
          <p:cNvSpPr/>
          <p:nvPr/>
        </p:nvSpPr>
        <p:spPr>
          <a:xfrm>
            <a:off x="365760" y="822960"/>
            <a:ext cx="4389120" cy="3657600"/>
          </a:xfrm>
          <a:prstGeom prst="rect">
            <a:avLst/>
          </a:prstGeom>
          <a:solidFill>
            <a:srgbClr val="111120"/>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pic>
        <p:nvPicPr>
          <p:cNvPr id="5" name="Image 1" descr="preencoded.png"/>
          <p:cNvPicPr>
            <a:picLocks noChangeAspect="1"/>
          </p:cNvPicPr>
          <p:nvPr/>
        </p:nvPicPr>
        <p:blipFill>
          <a:blip r:embed="rId4"/>
          <a:stretch>
            <a:fillRect/>
          </a:stretch>
        </p:blipFill>
        <p:spPr>
          <a:xfrm>
            <a:off x="548640" y="914400"/>
            <a:ext cx="457200" cy="457200"/>
          </a:xfrm>
          <a:prstGeom prst="rect">
            <a:avLst/>
          </a:prstGeom>
        </p:spPr>
      </p:pic>
      <p:sp>
        <p:nvSpPr>
          <p:cNvPr id="6" name="Text 2"/>
          <p:cNvSpPr/>
          <p:nvPr/>
        </p:nvSpPr>
        <p:spPr>
          <a:xfrm>
            <a:off x="1143000" y="1005840"/>
            <a:ext cx="3474720" cy="347472"/>
          </a:xfrm>
          <a:prstGeom prst="rect">
            <a:avLst/>
          </a:prstGeom>
          <a:noFill/>
          <a:ln/>
        </p:spPr>
        <p:txBody>
          <a:bodyPr wrap="square" lIns="0" tIns="0" rIns="0" bIns="0" rtlCol="0" anchor="ctr"/>
          <a:lstStyle/>
          <a:p>
            <a:pPr marL="0" indent="0">
              <a:buNone/>
            </a:pPr>
            <a:r>
              <a:rPr lang="en-US" sz="1500" b="1" dirty="0">
                <a:solidFill>
                  <a:srgbClr val="F59E0B"/>
                </a:solidFill>
                <a:latin typeface="Inter" panose="02000503000000020004" pitchFamily="2" charset="0"/>
                <a:ea typeface="Inter" panose="02000503000000020004" pitchFamily="2" charset="0"/>
              </a:rPr>
              <a:t>82 Questions Across All Modules</a:t>
            </a:r>
            <a:endParaRPr lang="en-US" sz="1500" dirty="0">
              <a:latin typeface="Inter" panose="02000503000000020004" pitchFamily="2" charset="0"/>
              <a:ea typeface="Inter" panose="02000503000000020004" pitchFamily="2" charset="0"/>
            </a:endParaRPr>
          </a:p>
        </p:txBody>
      </p:sp>
      <p:sp>
        <p:nvSpPr>
          <p:cNvPr id="7" name="Text 3"/>
          <p:cNvSpPr/>
          <p:nvPr/>
        </p:nvSpPr>
        <p:spPr>
          <a:xfrm>
            <a:off x="548640" y="1508760"/>
            <a:ext cx="4023360" cy="2834640"/>
          </a:xfrm>
          <a:prstGeom prst="rect">
            <a:avLst/>
          </a:prstGeom>
          <a:noFill/>
          <a:ln/>
        </p:spPr>
        <p:txBody>
          <a:bodyPr wrap="square" lIns="0" tIns="0" rIns="0" bIns="0" rtlCol="0" anchor="ctr"/>
          <a:lstStyle/>
          <a:p>
            <a:pPr marL="0" indent="0">
              <a:lnSpc>
                <a:spcPct val="130000"/>
              </a:lnSpc>
              <a:buNone/>
            </a:pPr>
            <a:r>
              <a:rPr lang="en-US" sz="1200" b="1" dirty="0">
                <a:solidFill>
                  <a:srgbClr val="818CF8"/>
                </a:solidFill>
                <a:latin typeface="Inter" panose="02000503000000020004" pitchFamily="2" charset="0"/>
                <a:ea typeface="Inter" panose="02000503000000020004" pitchFamily="2" charset="0"/>
              </a:rPr>
              <a:t>Structure:</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Each quiz is tied to a specific module</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Questions reinforce the lesson content</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Scores are tracked per-module in Firestore</a:t>
            </a:r>
            <a:endParaRPr lang="en-US" sz="1200" dirty="0">
              <a:latin typeface="Inter" panose="02000503000000020004" pitchFamily="2" charset="0"/>
              <a:ea typeface="Inter" panose="02000503000000020004" pitchFamily="2" charset="0"/>
            </a:endParaRPr>
          </a:p>
          <a:p>
            <a:pPr marL="0" indent="0">
              <a:lnSpc>
                <a:spcPct val="130000"/>
              </a:lnSpc>
              <a:buNone/>
            </a:pPr>
            <a:r>
              <a:rPr lang="en-US" sz="600" dirty="0">
                <a:solidFill>
                  <a:srgbClr val="000000"/>
                </a:solidFill>
                <a:latin typeface="Inter" panose="02000503000000020004" pitchFamily="2" charset="0"/>
                <a:ea typeface="Inter" panose="02000503000000020004" pitchFamily="2" charset="0"/>
              </a:rPr>
              <a:t> </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b="1" dirty="0">
                <a:solidFill>
                  <a:srgbClr val="818CF8"/>
                </a:solidFill>
                <a:latin typeface="Inter" panose="02000503000000020004" pitchFamily="2" charset="0"/>
                <a:ea typeface="Inter" panose="02000503000000020004" pitchFamily="2" charset="0"/>
              </a:rPr>
              <a:t>Purpose:</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Immediate knowledge validation</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Surfaces gaps before moving on</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Contributes to XP and achievements</a:t>
            </a:r>
            <a:endParaRPr lang="en-US" sz="1200" dirty="0">
              <a:latin typeface="Inter" panose="02000503000000020004" pitchFamily="2" charset="0"/>
              <a:ea typeface="Inter" panose="02000503000000020004" pitchFamily="2" charset="0"/>
            </a:endParaRPr>
          </a:p>
          <a:p>
            <a:pPr marL="0" indent="0">
              <a:lnSpc>
                <a:spcPct val="130000"/>
              </a:lnSpc>
              <a:buNone/>
            </a:pPr>
            <a:r>
              <a:rPr lang="en-US" sz="600" dirty="0">
                <a:solidFill>
                  <a:srgbClr val="000000"/>
                </a:solidFill>
                <a:latin typeface="Inter" panose="02000503000000020004" pitchFamily="2" charset="0"/>
                <a:ea typeface="Inter" panose="02000503000000020004" pitchFamily="2" charset="0"/>
              </a:rPr>
              <a:t> </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b="1" dirty="0">
                <a:solidFill>
                  <a:srgbClr val="06B6D4"/>
                </a:solidFill>
                <a:latin typeface="Inter" panose="02000503000000020004" pitchFamily="2" charset="0"/>
                <a:ea typeface="Inter" panose="02000503000000020004" pitchFamily="2" charset="0"/>
              </a:rPr>
              <a:t>Complements</a:t>
            </a:r>
            <a:r>
              <a:rPr lang="en-US" sz="1200" dirty="0">
                <a:solidFill>
                  <a:srgbClr val="E2E8F0"/>
                </a:solidFill>
                <a:latin typeface="Inter" panose="02000503000000020004" pitchFamily="2" charset="0"/>
                <a:ea typeface="Inter" panose="02000503000000020004" pitchFamily="2" charset="0"/>
              </a:rPr>
              <a:t> the visuals by testing</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comprehension, not just recall.</a:t>
            </a:r>
            <a:endParaRPr lang="en-US" sz="1200" dirty="0">
              <a:latin typeface="Inter" panose="02000503000000020004" pitchFamily="2" charset="0"/>
              <a:ea typeface="Inter" panose="02000503000000020004" pitchFamily="2" charset="0"/>
            </a:endParaRPr>
          </a:p>
        </p:txBody>
      </p:sp>
      <p:sp>
        <p:nvSpPr>
          <p:cNvPr id="12" name="Text 8"/>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latin typeface="Inter" panose="02000503000000020004" pitchFamily="2" charset="0"/>
                <a:ea typeface="Inter" panose="02000503000000020004" pitchFamily="2" charset="0"/>
              </a:rPr>
              <a:t>LinearMind</a:t>
            </a:r>
            <a:endParaRPr lang="en-US" sz="900" dirty="0">
              <a:latin typeface="Inter" panose="02000503000000020004" pitchFamily="2" charset="0"/>
              <a:ea typeface="Inter" panose="02000503000000020004" pitchFamily="2" charset="0"/>
            </a:endParaRPr>
          </a:p>
        </p:txBody>
      </p:sp>
      <p:sp>
        <p:nvSpPr>
          <p:cNvPr id="13" name="Text 9"/>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latin typeface="Inter" panose="02000503000000020004" pitchFamily="2" charset="0"/>
                <a:ea typeface="Inter" panose="02000503000000020004" pitchFamily="2" charset="0"/>
              </a:rPr>
              <a:t>22</a:t>
            </a:r>
            <a:endParaRPr lang="en-US" sz="900" dirty="0">
              <a:latin typeface="Inter" panose="02000503000000020004" pitchFamily="2" charset="0"/>
              <a:ea typeface="Inter" panose="02000503000000020004" pitchFamily="2" charset="0"/>
            </a:endParaRPr>
          </a:p>
        </p:txBody>
      </p:sp>
      <p:sp>
        <p:nvSpPr>
          <p:cNvPr id="14" name="Shape 10"/>
          <p:cNvSpPr/>
          <p:nvPr/>
        </p:nvSpPr>
        <p:spPr>
          <a:xfrm>
            <a:off x="274320" y="4873752"/>
            <a:ext cx="8595360" cy="0"/>
          </a:xfrm>
          <a:prstGeom prst="line">
            <a:avLst/>
          </a:prstGeom>
          <a:noFill/>
          <a:ln w="635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pic>
        <p:nvPicPr>
          <p:cNvPr id="16" name="Picture 15">
            <a:extLst>
              <a:ext uri="{FF2B5EF4-FFF2-40B4-BE49-F238E27FC236}">
                <a16:creationId xmlns:a16="http://schemas.microsoft.com/office/drawing/2014/main" id="{6F86F8D0-06CE-A82D-21A9-D5BF298EA848}"/>
              </a:ext>
            </a:extLst>
          </p:cNvPr>
          <p:cNvPicPr>
            <a:picLocks noChangeAspect="1"/>
          </p:cNvPicPr>
          <p:nvPr/>
        </p:nvPicPr>
        <p:blipFill>
          <a:blip r:embed="rId5"/>
          <a:stretch>
            <a:fillRect/>
          </a:stretch>
        </p:blipFill>
        <p:spPr>
          <a:xfrm>
            <a:off x="5120640" y="1277112"/>
            <a:ext cx="3774122" cy="274929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201168"/>
            <a:ext cx="8412480" cy="502920"/>
          </a:xfrm>
          <a:prstGeom prst="rect">
            <a:avLst/>
          </a:prstGeom>
          <a:noFill/>
          <a:ln/>
        </p:spPr>
        <p:txBody>
          <a:bodyPr wrap="square" lIns="0" tIns="0" rIns="0" bIns="0" rtlCol="0" anchor="ctr"/>
          <a:lstStyle/>
          <a:p>
            <a:pPr marL="0" indent="0">
              <a:buNone/>
            </a:pPr>
            <a:r>
              <a:rPr lang="en-US" sz="2600" b="1" dirty="0">
                <a:solidFill>
                  <a:srgbClr val="818CF8"/>
                </a:solidFill>
                <a:latin typeface="Inter" panose="02000503000000020004" pitchFamily="2" charset="0"/>
                <a:ea typeface="Inter" panose="02000503000000020004" pitchFamily="2" charset="0"/>
                <a:cs typeface="Calibri" pitchFamily="34" charset="-120"/>
              </a:rPr>
              <a:t>Code Examples — Concept to Implementation</a:t>
            </a:r>
            <a:endParaRPr lang="en-US" sz="2600" dirty="0">
              <a:latin typeface="Inter" panose="02000503000000020004" pitchFamily="2" charset="0"/>
              <a:ea typeface="Inter" panose="02000503000000020004" pitchFamily="2" charset="0"/>
            </a:endParaRPr>
          </a:p>
        </p:txBody>
      </p:sp>
      <p:sp>
        <p:nvSpPr>
          <p:cNvPr id="4" name="Shape 1"/>
          <p:cNvSpPr/>
          <p:nvPr/>
        </p:nvSpPr>
        <p:spPr>
          <a:xfrm>
            <a:off x="365760" y="822960"/>
            <a:ext cx="4572000" cy="3657600"/>
          </a:xfrm>
          <a:prstGeom prst="rect">
            <a:avLst/>
          </a:prstGeom>
          <a:solidFill>
            <a:srgbClr val="111120"/>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pic>
        <p:nvPicPr>
          <p:cNvPr id="5" name="Image 1" descr="preencoded.png"/>
          <p:cNvPicPr>
            <a:picLocks noChangeAspect="1"/>
          </p:cNvPicPr>
          <p:nvPr/>
        </p:nvPicPr>
        <p:blipFill>
          <a:blip r:embed="rId4"/>
          <a:stretch>
            <a:fillRect/>
          </a:stretch>
        </p:blipFill>
        <p:spPr>
          <a:xfrm>
            <a:off x="548640" y="914400"/>
            <a:ext cx="457200" cy="457200"/>
          </a:xfrm>
          <a:prstGeom prst="rect">
            <a:avLst/>
          </a:prstGeom>
        </p:spPr>
      </p:pic>
      <p:sp>
        <p:nvSpPr>
          <p:cNvPr id="6" name="Text 2"/>
          <p:cNvSpPr/>
          <p:nvPr/>
        </p:nvSpPr>
        <p:spPr>
          <a:xfrm>
            <a:off x="1143000" y="1005840"/>
            <a:ext cx="3474720" cy="347472"/>
          </a:xfrm>
          <a:prstGeom prst="rect">
            <a:avLst/>
          </a:prstGeom>
          <a:noFill/>
          <a:ln/>
        </p:spPr>
        <p:txBody>
          <a:bodyPr wrap="square" lIns="0" tIns="0" rIns="0" bIns="0" rtlCol="0" anchor="ctr"/>
          <a:lstStyle/>
          <a:p>
            <a:pPr marL="0" indent="0">
              <a:buNone/>
            </a:pPr>
            <a:r>
              <a:rPr lang="en-US" sz="1500" b="1" dirty="0">
                <a:solidFill>
                  <a:srgbClr val="10B981"/>
                </a:solidFill>
                <a:latin typeface="Inter" panose="02000503000000020004" pitchFamily="2" charset="0"/>
                <a:ea typeface="Inter" panose="02000503000000020004" pitchFamily="2" charset="0"/>
              </a:rPr>
              <a:t>8 Practical Code Examples</a:t>
            </a:r>
            <a:endParaRPr lang="en-US" sz="1500" dirty="0">
              <a:latin typeface="Inter" panose="02000503000000020004" pitchFamily="2" charset="0"/>
              <a:ea typeface="Inter" panose="02000503000000020004" pitchFamily="2" charset="0"/>
            </a:endParaRPr>
          </a:p>
        </p:txBody>
      </p:sp>
      <p:sp>
        <p:nvSpPr>
          <p:cNvPr id="7" name="Text 3"/>
          <p:cNvSpPr/>
          <p:nvPr/>
        </p:nvSpPr>
        <p:spPr>
          <a:xfrm>
            <a:off x="548640" y="1508760"/>
            <a:ext cx="4206240" cy="347472"/>
          </a:xfrm>
          <a:prstGeom prst="rect">
            <a:avLst/>
          </a:prstGeom>
          <a:noFill/>
          <a:ln/>
        </p:spPr>
        <p:txBody>
          <a:bodyPr wrap="square" lIns="0" tIns="0" rIns="0" bIns="0" rtlCol="0" anchor="ctr"/>
          <a:lstStyle/>
          <a:p>
            <a:pPr marL="0" indent="0">
              <a:buNone/>
            </a:pPr>
            <a:r>
              <a:rPr lang="en-US" sz="1300" b="1" dirty="0">
                <a:solidFill>
                  <a:srgbClr val="818CF8"/>
                </a:solidFill>
                <a:latin typeface="Inter" panose="02000503000000020004" pitchFamily="2" charset="0"/>
                <a:ea typeface="Inter" panose="02000503000000020004" pitchFamily="2" charset="0"/>
              </a:rPr>
              <a:t>Languages covered:</a:t>
            </a:r>
            <a:endParaRPr lang="en-US" sz="1300" dirty="0">
              <a:latin typeface="Inter" panose="02000503000000020004" pitchFamily="2" charset="0"/>
              <a:ea typeface="Inter" panose="02000503000000020004" pitchFamily="2" charset="0"/>
            </a:endParaRPr>
          </a:p>
        </p:txBody>
      </p:sp>
      <p:sp>
        <p:nvSpPr>
          <p:cNvPr id="8" name="Shape 4"/>
          <p:cNvSpPr/>
          <p:nvPr/>
        </p:nvSpPr>
        <p:spPr>
          <a:xfrm>
            <a:off x="548640" y="1920240"/>
            <a:ext cx="1234440" cy="347472"/>
          </a:xfrm>
          <a:prstGeom prst="rect">
            <a:avLst/>
          </a:prstGeom>
          <a:solidFill>
            <a:srgbClr val="0F172A"/>
          </a:solidFill>
          <a:ln w="12700">
            <a:solidFill>
              <a:srgbClr val="10B98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9" name="Text 5"/>
          <p:cNvSpPr/>
          <p:nvPr/>
        </p:nvSpPr>
        <p:spPr>
          <a:xfrm>
            <a:off x="548640" y="1920240"/>
            <a:ext cx="1234440" cy="347472"/>
          </a:xfrm>
          <a:prstGeom prst="rect">
            <a:avLst/>
          </a:prstGeom>
          <a:noFill/>
          <a:ln/>
        </p:spPr>
        <p:txBody>
          <a:bodyPr wrap="square" lIns="0" tIns="0" rIns="0" bIns="0" rtlCol="0" anchor="ctr"/>
          <a:lstStyle/>
          <a:p>
            <a:pPr marL="0" indent="0" algn="ctr">
              <a:buNone/>
            </a:pPr>
            <a:r>
              <a:rPr lang="en-US" sz="1100" b="1" dirty="0">
                <a:solidFill>
                  <a:srgbClr val="10B981"/>
                </a:solidFill>
                <a:latin typeface="Inter" panose="02000503000000020004" pitchFamily="2" charset="0"/>
                <a:ea typeface="Inter" panose="02000503000000020004" pitchFamily="2" charset="0"/>
              </a:rPr>
              <a:t>Python</a:t>
            </a:r>
            <a:endParaRPr lang="en-US" sz="1100" dirty="0">
              <a:latin typeface="Inter" panose="02000503000000020004" pitchFamily="2" charset="0"/>
              <a:ea typeface="Inter" panose="02000503000000020004" pitchFamily="2" charset="0"/>
            </a:endParaRPr>
          </a:p>
        </p:txBody>
      </p:sp>
      <p:sp>
        <p:nvSpPr>
          <p:cNvPr id="10" name="Shape 6"/>
          <p:cNvSpPr/>
          <p:nvPr/>
        </p:nvSpPr>
        <p:spPr>
          <a:xfrm>
            <a:off x="1938528" y="1920240"/>
            <a:ext cx="1234440" cy="347472"/>
          </a:xfrm>
          <a:prstGeom prst="rect">
            <a:avLst/>
          </a:prstGeom>
          <a:solidFill>
            <a:srgbClr val="0F172A"/>
          </a:solidFill>
          <a:ln w="12700">
            <a:solidFill>
              <a:srgbClr val="10B98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11" name="Text 7"/>
          <p:cNvSpPr/>
          <p:nvPr/>
        </p:nvSpPr>
        <p:spPr>
          <a:xfrm>
            <a:off x="1938528" y="1920240"/>
            <a:ext cx="1234440" cy="347472"/>
          </a:xfrm>
          <a:prstGeom prst="rect">
            <a:avLst/>
          </a:prstGeom>
          <a:noFill/>
          <a:ln/>
        </p:spPr>
        <p:txBody>
          <a:bodyPr wrap="square" lIns="0" tIns="0" rIns="0" bIns="0" rtlCol="0" anchor="ctr"/>
          <a:lstStyle/>
          <a:p>
            <a:pPr marL="0" indent="0" algn="ctr">
              <a:buNone/>
            </a:pPr>
            <a:r>
              <a:rPr lang="en-US" sz="1100" b="1" dirty="0">
                <a:solidFill>
                  <a:srgbClr val="10B981"/>
                </a:solidFill>
                <a:latin typeface="Inter" panose="02000503000000020004" pitchFamily="2" charset="0"/>
                <a:ea typeface="Inter" panose="02000503000000020004" pitchFamily="2" charset="0"/>
              </a:rPr>
              <a:t>JavaScript</a:t>
            </a:r>
            <a:endParaRPr lang="en-US" sz="1100" dirty="0">
              <a:latin typeface="Inter" panose="02000503000000020004" pitchFamily="2" charset="0"/>
              <a:ea typeface="Inter" panose="02000503000000020004" pitchFamily="2" charset="0"/>
            </a:endParaRPr>
          </a:p>
        </p:txBody>
      </p:sp>
      <p:sp>
        <p:nvSpPr>
          <p:cNvPr id="12" name="Shape 8"/>
          <p:cNvSpPr/>
          <p:nvPr/>
        </p:nvSpPr>
        <p:spPr>
          <a:xfrm>
            <a:off x="3328416" y="1920240"/>
            <a:ext cx="1234440" cy="347472"/>
          </a:xfrm>
          <a:prstGeom prst="rect">
            <a:avLst/>
          </a:prstGeom>
          <a:solidFill>
            <a:srgbClr val="0F172A"/>
          </a:solidFill>
          <a:ln w="12700">
            <a:solidFill>
              <a:srgbClr val="10B98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13" name="Text 9"/>
          <p:cNvSpPr/>
          <p:nvPr/>
        </p:nvSpPr>
        <p:spPr>
          <a:xfrm>
            <a:off x="3328416" y="1920240"/>
            <a:ext cx="1234440" cy="347472"/>
          </a:xfrm>
          <a:prstGeom prst="rect">
            <a:avLst/>
          </a:prstGeom>
          <a:noFill/>
          <a:ln/>
        </p:spPr>
        <p:txBody>
          <a:bodyPr wrap="square" lIns="0" tIns="0" rIns="0" bIns="0" rtlCol="0" anchor="ctr"/>
          <a:lstStyle/>
          <a:p>
            <a:pPr marL="0" indent="0" algn="ctr">
              <a:buNone/>
            </a:pPr>
            <a:r>
              <a:rPr lang="en-US" sz="1100" b="1" dirty="0">
                <a:solidFill>
                  <a:srgbClr val="10B981"/>
                </a:solidFill>
                <a:latin typeface="Inter" panose="02000503000000020004" pitchFamily="2" charset="0"/>
                <a:ea typeface="Inter" panose="02000503000000020004" pitchFamily="2" charset="0"/>
              </a:rPr>
              <a:t>TypeScript</a:t>
            </a:r>
            <a:endParaRPr lang="en-US" sz="1100" dirty="0">
              <a:latin typeface="Inter" panose="02000503000000020004" pitchFamily="2" charset="0"/>
              <a:ea typeface="Inter" panose="02000503000000020004" pitchFamily="2" charset="0"/>
            </a:endParaRPr>
          </a:p>
        </p:txBody>
      </p:sp>
      <p:sp>
        <p:nvSpPr>
          <p:cNvPr id="14" name="Text 10"/>
          <p:cNvSpPr/>
          <p:nvPr/>
        </p:nvSpPr>
        <p:spPr>
          <a:xfrm>
            <a:off x="548640" y="2395728"/>
            <a:ext cx="4206240" cy="320040"/>
          </a:xfrm>
          <a:prstGeom prst="rect">
            <a:avLst/>
          </a:prstGeom>
          <a:noFill/>
          <a:ln/>
        </p:spPr>
        <p:txBody>
          <a:bodyPr wrap="square" lIns="0" tIns="0" rIns="0" bIns="0" rtlCol="0" anchor="ctr"/>
          <a:lstStyle/>
          <a:p>
            <a:pPr marL="0" indent="0">
              <a:buNone/>
            </a:pPr>
            <a:r>
              <a:rPr lang="en-US" sz="1300" b="1" dirty="0">
                <a:solidFill>
                  <a:srgbClr val="818CF8"/>
                </a:solidFill>
                <a:latin typeface="Inter" panose="02000503000000020004" pitchFamily="2" charset="0"/>
                <a:ea typeface="Inter" panose="02000503000000020004" pitchFamily="2" charset="0"/>
              </a:rPr>
              <a:t>Example topics:</a:t>
            </a:r>
            <a:endParaRPr lang="en-US" sz="1300" dirty="0">
              <a:latin typeface="Inter" panose="02000503000000020004" pitchFamily="2" charset="0"/>
              <a:ea typeface="Inter" panose="02000503000000020004" pitchFamily="2" charset="0"/>
            </a:endParaRPr>
          </a:p>
        </p:txBody>
      </p:sp>
      <p:sp>
        <p:nvSpPr>
          <p:cNvPr id="15" name="Text 11"/>
          <p:cNvSpPr/>
          <p:nvPr/>
        </p:nvSpPr>
        <p:spPr>
          <a:xfrm>
            <a:off x="548640" y="2761488"/>
            <a:ext cx="4114800" cy="1600200"/>
          </a:xfrm>
          <a:prstGeom prst="rect">
            <a:avLst/>
          </a:prstGeom>
          <a:noFill/>
          <a:ln/>
        </p:spPr>
        <p:txBody>
          <a:bodyPr wrap="square" lIns="0" tIns="0" rIns="0" bIns="0" rtlCol="0" anchor="ctr"/>
          <a:lstStyle/>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Linear fit / predict from scratch</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Gradient descent implementation</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Multivariable + feature scaling</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Evaluation metrics (MSE, RMSE, R²)</a:t>
            </a:r>
            <a:endParaRPr lang="en-US" sz="1200" dirty="0">
              <a:latin typeface="Inter" panose="02000503000000020004" pitchFamily="2" charset="0"/>
              <a:ea typeface="Inter" panose="02000503000000020004" pitchFamily="2" charset="0"/>
            </a:endParaRPr>
          </a:p>
          <a:p>
            <a:pPr marL="0" indent="0">
              <a:lnSpc>
                <a:spcPct val="130000"/>
              </a:lnSpc>
              <a:buNone/>
            </a:pPr>
            <a:r>
              <a:rPr lang="en-US" sz="1200" dirty="0">
                <a:solidFill>
                  <a:srgbClr val="E2E8F0"/>
                </a:solidFill>
                <a:latin typeface="Inter" panose="02000503000000020004" pitchFamily="2" charset="0"/>
                <a:ea typeface="Inter" panose="02000503000000020004" pitchFamily="2" charset="0"/>
              </a:rPr>
              <a:t>• Pattern examples across all concepts</a:t>
            </a:r>
            <a:endParaRPr lang="en-US" sz="1200" dirty="0">
              <a:latin typeface="Inter" panose="02000503000000020004" pitchFamily="2" charset="0"/>
              <a:ea typeface="Inter" panose="02000503000000020004" pitchFamily="2" charset="0"/>
            </a:endParaRPr>
          </a:p>
        </p:txBody>
      </p:sp>
      <p:sp>
        <p:nvSpPr>
          <p:cNvPr id="20" name="Text 16"/>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latin typeface="Inter" panose="02000503000000020004" pitchFamily="2" charset="0"/>
                <a:ea typeface="Inter" panose="02000503000000020004" pitchFamily="2" charset="0"/>
              </a:rPr>
              <a:t>LinearMind</a:t>
            </a:r>
            <a:endParaRPr lang="en-US" sz="900" dirty="0">
              <a:latin typeface="Inter" panose="02000503000000020004" pitchFamily="2" charset="0"/>
              <a:ea typeface="Inter" panose="02000503000000020004" pitchFamily="2" charset="0"/>
            </a:endParaRPr>
          </a:p>
        </p:txBody>
      </p:sp>
      <p:sp>
        <p:nvSpPr>
          <p:cNvPr id="21" name="Text 17"/>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latin typeface="Inter" panose="02000503000000020004" pitchFamily="2" charset="0"/>
                <a:ea typeface="Inter" panose="02000503000000020004" pitchFamily="2" charset="0"/>
              </a:rPr>
              <a:t>23</a:t>
            </a:r>
            <a:endParaRPr lang="en-US" sz="900" dirty="0">
              <a:latin typeface="Inter" panose="02000503000000020004" pitchFamily="2" charset="0"/>
              <a:ea typeface="Inter" panose="02000503000000020004" pitchFamily="2" charset="0"/>
            </a:endParaRPr>
          </a:p>
        </p:txBody>
      </p:sp>
      <p:sp>
        <p:nvSpPr>
          <p:cNvPr id="22" name="Shape 18"/>
          <p:cNvSpPr/>
          <p:nvPr/>
        </p:nvSpPr>
        <p:spPr>
          <a:xfrm>
            <a:off x="265176" y="4861560"/>
            <a:ext cx="8595360" cy="0"/>
          </a:xfrm>
          <a:prstGeom prst="line">
            <a:avLst/>
          </a:prstGeom>
          <a:noFill/>
          <a:ln w="635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pic>
        <p:nvPicPr>
          <p:cNvPr id="24" name="Picture 23">
            <a:extLst>
              <a:ext uri="{FF2B5EF4-FFF2-40B4-BE49-F238E27FC236}">
                <a16:creationId xmlns:a16="http://schemas.microsoft.com/office/drawing/2014/main" id="{7C27D3F9-BF33-9825-C5D1-BCF96DDC61AD}"/>
              </a:ext>
            </a:extLst>
          </p:cNvPr>
          <p:cNvPicPr>
            <a:picLocks noChangeAspect="1"/>
          </p:cNvPicPr>
          <p:nvPr/>
        </p:nvPicPr>
        <p:blipFill>
          <a:blip r:embed="rId5"/>
          <a:stretch>
            <a:fillRect/>
          </a:stretch>
        </p:blipFill>
        <p:spPr>
          <a:xfrm>
            <a:off x="5167418" y="1143000"/>
            <a:ext cx="3746923" cy="282244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201168"/>
            <a:ext cx="8412480" cy="502920"/>
          </a:xfrm>
          <a:prstGeom prst="rect">
            <a:avLst/>
          </a:prstGeom>
          <a:noFill/>
          <a:ln/>
        </p:spPr>
        <p:txBody>
          <a:bodyPr wrap="square" lIns="0" tIns="0" rIns="0" bIns="0" rtlCol="0" anchor="ctr"/>
          <a:lstStyle/>
          <a:p>
            <a:pPr marL="0" indent="0">
              <a:buNone/>
            </a:pPr>
            <a:r>
              <a:rPr lang="en-US" sz="2600" b="1" dirty="0">
                <a:solidFill>
                  <a:srgbClr val="818CF8"/>
                </a:solidFill>
                <a:latin typeface="Inter" panose="02000503000000020004" pitchFamily="2" charset="0"/>
                <a:ea typeface="Inter" panose="02000503000000020004" pitchFamily="2" charset="0"/>
                <a:cs typeface="Calibri" pitchFamily="34" charset="-120"/>
              </a:rPr>
              <a:t>Gamified Progress — XP, Streak &amp; Achievements</a:t>
            </a:r>
            <a:endParaRPr lang="en-US" sz="2600" dirty="0">
              <a:latin typeface="Inter" panose="02000503000000020004" pitchFamily="2" charset="0"/>
              <a:ea typeface="Inter" panose="02000503000000020004" pitchFamily="2" charset="0"/>
            </a:endParaRPr>
          </a:p>
        </p:txBody>
      </p:sp>
      <p:sp>
        <p:nvSpPr>
          <p:cNvPr id="4" name="Shape 1"/>
          <p:cNvSpPr/>
          <p:nvPr/>
        </p:nvSpPr>
        <p:spPr>
          <a:xfrm>
            <a:off x="365760" y="822960"/>
            <a:ext cx="4572000" cy="3657600"/>
          </a:xfrm>
          <a:prstGeom prst="rect">
            <a:avLst/>
          </a:prstGeom>
          <a:solidFill>
            <a:srgbClr val="111120"/>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5" name="Shape 2"/>
          <p:cNvSpPr/>
          <p:nvPr/>
        </p:nvSpPr>
        <p:spPr>
          <a:xfrm>
            <a:off x="502920" y="960120"/>
            <a:ext cx="4206240" cy="914400"/>
          </a:xfrm>
          <a:prstGeom prst="rect">
            <a:avLst/>
          </a:prstGeom>
          <a:solidFill>
            <a:srgbClr val="0F0F1E"/>
          </a:solidFill>
          <a:ln w="12700">
            <a:solidFill>
              <a:srgbClr val="F59E0B"/>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pic>
        <p:nvPicPr>
          <p:cNvPr id="6" name="Image 1" descr="preencoded.png"/>
          <p:cNvPicPr>
            <a:picLocks noChangeAspect="1"/>
          </p:cNvPicPr>
          <p:nvPr/>
        </p:nvPicPr>
        <p:blipFill>
          <a:blip r:embed="rId4"/>
          <a:stretch>
            <a:fillRect/>
          </a:stretch>
        </p:blipFill>
        <p:spPr>
          <a:xfrm>
            <a:off x="658368" y="1188720"/>
            <a:ext cx="411480" cy="411480"/>
          </a:xfrm>
          <a:prstGeom prst="rect">
            <a:avLst/>
          </a:prstGeom>
        </p:spPr>
      </p:pic>
      <p:sp>
        <p:nvSpPr>
          <p:cNvPr id="7" name="Text 3"/>
          <p:cNvSpPr/>
          <p:nvPr/>
        </p:nvSpPr>
        <p:spPr>
          <a:xfrm>
            <a:off x="1234440" y="1069848"/>
            <a:ext cx="3291840" cy="347472"/>
          </a:xfrm>
          <a:prstGeom prst="rect">
            <a:avLst/>
          </a:prstGeom>
          <a:noFill/>
          <a:ln/>
        </p:spPr>
        <p:txBody>
          <a:bodyPr wrap="square" lIns="0" tIns="0" rIns="0" bIns="0" rtlCol="0" anchor="ctr"/>
          <a:lstStyle/>
          <a:p>
            <a:pPr marL="0" indent="0">
              <a:buNone/>
            </a:pPr>
            <a:r>
              <a:rPr lang="en-US" sz="1400" b="1" dirty="0">
                <a:solidFill>
                  <a:srgbClr val="F59E0B"/>
                </a:solidFill>
                <a:latin typeface="Inter" panose="02000503000000020004" pitchFamily="2" charset="0"/>
                <a:ea typeface="Inter" panose="02000503000000020004" pitchFamily="2" charset="0"/>
              </a:rPr>
              <a:t>XP Points</a:t>
            </a:r>
            <a:endParaRPr lang="en-US" sz="1400" dirty="0">
              <a:latin typeface="Inter" panose="02000503000000020004" pitchFamily="2" charset="0"/>
              <a:ea typeface="Inter" panose="02000503000000020004" pitchFamily="2" charset="0"/>
            </a:endParaRPr>
          </a:p>
        </p:txBody>
      </p:sp>
      <p:sp>
        <p:nvSpPr>
          <p:cNvPr id="8" name="Text 4"/>
          <p:cNvSpPr/>
          <p:nvPr/>
        </p:nvSpPr>
        <p:spPr>
          <a:xfrm>
            <a:off x="1234440" y="1435608"/>
            <a:ext cx="3337560" cy="347472"/>
          </a:xfrm>
          <a:prstGeom prst="rect">
            <a:avLst/>
          </a:prstGeom>
          <a:noFill/>
          <a:ln/>
        </p:spPr>
        <p:txBody>
          <a:bodyPr wrap="square" lIns="0" tIns="0" rIns="0" bIns="0" rtlCol="0" anchor="ctr"/>
          <a:lstStyle/>
          <a:p>
            <a:pPr marL="0" indent="0">
              <a:buNone/>
            </a:pPr>
            <a:r>
              <a:rPr lang="en-US" sz="1200" dirty="0">
                <a:solidFill>
                  <a:srgbClr val="E2E8F0"/>
                </a:solidFill>
                <a:latin typeface="Inter" panose="02000503000000020004" pitchFamily="2" charset="0"/>
                <a:ea typeface="Inter" panose="02000503000000020004" pitchFamily="2" charset="0"/>
              </a:rPr>
              <a:t>Earned by completing lessons and quizzes</a:t>
            </a:r>
            <a:endParaRPr lang="en-US" sz="1200" dirty="0">
              <a:latin typeface="Inter" panose="02000503000000020004" pitchFamily="2" charset="0"/>
              <a:ea typeface="Inter" panose="02000503000000020004" pitchFamily="2" charset="0"/>
            </a:endParaRPr>
          </a:p>
        </p:txBody>
      </p:sp>
      <p:sp>
        <p:nvSpPr>
          <p:cNvPr id="9" name="Shape 5"/>
          <p:cNvSpPr/>
          <p:nvPr/>
        </p:nvSpPr>
        <p:spPr>
          <a:xfrm>
            <a:off x="502920" y="2057400"/>
            <a:ext cx="4206240" cy="914400"/>
          </a:xfrm>
          <a:prstGeom prst="rect">
            <a:avLst/>
          </a:prstGeom>
          <a:solidFill>
            <a:srgbClr val="0F0F1E"/>
          </a:solidFill>
          <a:ln w="12700">
            <a:solidFill>
              <a:srgbClr val="06B6D4"/>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pic>
        <p:nvPicPr>
          <p:cNvPr id="10" name="Image 2" descr="preencoded.png"/>
          <p:cNvPicPr>
            <a:picLocks noChangeAspect="1"/>
          </p:cNvPicPr>
          <p:nvPr/>
        </p:nvPicPr>
        <p:blipFill>
          <a:blip r:embed="rId5"/>
          <a:stretch>
            <a:fillRect/>
          </a:stretch>
        </p:blipFill>
        <p:spPr>
          <a:xfrm>
            <a:off x="658368" y="2286000"/>
            <a:ext cx="411480" cy="411480"/>
          </a:xfrm>
          <a:prstGeom prst="rect">
            <a:avLst/>
          </a:prstGeom>
        </p:spPr>
      </p:pic>
      <p:sp>
        <p:nvSpPr>
          <p:cNvPr id="11" name="Text 6"/>
          <p:cNvSpPr/>
          <p:nvPr/>
        </p:nvSpPr>
        <p:spPr>
          <a:xfrm>
            <a:off x="1234440" y="2167128"/>
            <a:ext cx="3291840" cy="347472"/>
          </a:xfrm>
          <a:prstGeom prst="rect">
            <a:avLst/>
          </a:prstGeom>
          <a:noFill/>
          <a:ln/>
        </p:spPr>
        <p:txBody>
          <a:bodyPr wrap="square" lIns="0" tIns="0" rIns="0" bIns="0" rtlCol="0" anchor="ctr"/>
          <a:lstStyle/>
          <a:p>
            <a:pPr marL="0" indent="0">
              <a:buNone/>
            </a:pPr>
            <a:r>
              <a:rPr lang="en-US" sz="1400" b="1" dirty="0">
                <a:solidFill>
                  <a:srgbClr val="06B6D4"/>
                </a:solidFill>
                <a:latin typeface="Inter" panose="02000503000000020004" pitchFamily="2" charset="0"/>
                <a:ea typeface="Inter" panose="02000503000000020004" pitchFamily="2" charset="0"/>
              </a:rPr>
              <a:t>Streak Tracking</a:t>
            </a:r>
            <a:endParaRPr lang="en-US" sz="1400" dirty="0">
              <a:latin typeface="Inter" panose="02000503000000020004" pitchFamily="2" charset="0"/>
              <a:ea typeface="Inter" panose="02000503000000020004" pitchFamily="2" charset="0"/>
            </a:endParaRPr>
          </a:p>
        </p:txBody>
      </p:sp>
      <p:sp>
        <p:nvSpPr>
          <p:cNvPr id="12" name="Text 7"/>
          <p:cNvSpPr/>
          <p:nvPr/>
        </p:nvSpPr>
        <p:spPr>
          <a:xfrm>
            <a:off x="1234440" y="2532888"/>
            <a:ext cx="3337560" cy="347472"/>
          </a:xfrm>
          <a:prstGeom prst="rect">
            <a:avLst/>
          </a:prstGeom>
          <a:noFill/>
          <a:ln/>
        </p:spPr>
        <p:txBody>
          <a:bodyPr wrap="square" lIns="0" tIns="0" rIns="0" bIns="0" rtlCol="0" anchor="ctr"/>
          <a:lstStyle/>
          <a:p>
            <a:pPr marL="0" indent="0">
              <a:buNone/>
            </a:pPr>
            <a:r>
              <a:rPr lang="en-US" sz="1200" dirty="0">
                <a:solidFill>
                  <a:srgbClr val="E2E8F0"/>
                </a:solidFill>
                <a:latin typeface="Inter" panose="02000503000000020004" pitchFamily="2" charset="0"/>
                <a:ea typeface="Inter" panose="02000503000000020004" pitchFamily="2" charset="0"/>
              </a:rPr>
              <a:t>Daily engagement measured by lastActiveDate</a:t>
            </a:r>
            <a:endParaRPr lang="en-US" sz="1200" dirty="0">
              <a:latin typeface="Inter" panose="02000503000000020004" pitchFamily="2" charset="0"/>
              <a:ea typeface="Inter" panose="02000503000000020004" pitchFamily="2" charset="0"/>
            </a:endParaRPr>
          </a:p>
        </p:txBody>
      </p:sp>
      <p:sp>
        <p:nvSpPr>
          <p:cNvPr id="13" name="Shape 8"/>
          <p:cNvSpPr/>
          <p:nvPr/>
        </p:nvSpPr>
        <p:spPr>
          <a:xfrm>
            <a:off x="502920" y="3154680"/>
            <a:ext cx="4206240" cy="914400"/>
          </a:xfrm>
          <a:prstGeom prst="rect">
            <a:avLst/>
          </a:prstGeom>
          <a:solidFill>
            <a:srgbClr val="0F0F1E"/>
          </a:solidFill>
          <a:ln w="12700">
            <a:solidFill>
              <a:srgbClr val="10B98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pic>
        <p:nvPicPr>
          <p:cNvPr id="14" name="Image 3" descr="preencoded.png"/>
          <p:cNvPicPr>
            <a:picLocks noChangeAspect="1"/>
          </p:cNvPicPr>
          <p:nvPr/>
        </p:nvPicPr>
        <p:blipFill>
          <a:blip r:embed="rId6"/>
          <a:stretch>
            <a:fillRect/>
          </a:stretch>
        </p:blipFill>
        <p:spPr>
          <a:xfrm>
            <a:off x="658368" y="3383280"/>
            <a:ext cx="411480" cy="411480"/>
          </a:xfrm>
          <a:prstGeom prst="rect">
            <a:avLst/>
          </a:prstGeom>
        </p:spPr>
      </p:pic>
      <p:sp>
        <p:nvSpPr>
          <p:cNvPr id="15" name="Text 9"/>
          <p:cNvSpPr/>
          <p:nvPr/>
        </p:nvSpPr>
        <p:spPr>
          <a:xfrm>
            <a:off x="1234440" y="3264408"/>
            <a:ext cx="3291840" cy="347472"/>
          </a:xfrm>
          <a:prstGeom prst="rect">
            <a:avLst/>
          </a:prstGeom>
          <a:noFill/>
          <a:ln/>
        </p:spPr>
        <p:txBody>
          <a:bodyPr wrap="square" lIns="0" tIns="0" rIns="0" bIns="0" rtlCol="0" anchor="ctr"/>
          <a:lstStyle/>
          <a:p>
            <a:pPr marL="0" indent="0">
              <a:buNone/>
            </a:pPr>
            <a:r>
              <a:rPr lang="en-US" sz="1400" b="1" dirty="0">
                <a:solidFill>
                  <a:srgbClr val="10B981"/>
                </a:solidFill>
                <a:latin typeface="Inter" panose="02000503000000020004" pitchFamily="2" charset="0"/>
                <a:ea typeface="Inter" panose="02000503000000020004" pitchFamily="2" charset="0"/>
              </a:rPr>
              <a:t>10 Achievements</a:t>
            </a:r>
            <a:endParaRPr lang="en-US" sz="1400" dirty="0">
              <a:latin typeface="Inter" panose="02000503000000020004" pitchFamily="2" charset="0"/>
              <a:ea typeface="Inter" panose="02000503000000020004" pitchFamily="2" charset="0"/>
            </a:endParaRPr>
          </a:p>
        </p:txBody>
      </p:sp>
      <p:sp>
        <p:nvSpPr>
          <p:cNvPr id="16" name="Text 10"/>
          <p:cNvSpPr/>
          <p:nvPr/>
        </p:nvSpPr>
        <p:spPr>
          <a:xfrm>
            <a:off x="1234440" y="3630168"/>
            <a:ext cx="3337560" cy="347472"/>
          </a:xfrm>
          <a:prstGeom prst="rect">
            <a:avLst/>
          </a:prstGeom>
          <a:noFill/>
          <a:ln/>
        </p:spPr>
        <p:txBody>
          <a:bodyPr wrap="square" lIns="0" tIns="0" rIns="0" bIns="0" rtlCol="0" anchor="ctr"/>
          <a:lstStyle/>
          <a:p>
            <a:pPr marL="0" indent="0">
              <a:buNone/>
            </a:pPr>
            <a:r>
              <a:rPr lang="en-US" sz="1200" dirty="0">
                <a:solidFill>
                  <a:srgbClr val="E2E8F0"/>
                </a:solidFill>
                <a:latin typeface="Inter" panose="02000503000000020004" pitchFamily="2" charset="0"/>
                <a:ea typeface="Inter" panose="02000503000000020004" pitchFamily="2" charset="0"/>
              </a:rPr>
              <a:t>Unlockable badges for milestones</a:t>
            </a:r>
            <a:endParaRPr lang="en-US" sz="1200" dirty="0">
              <a:latin typeface="Inter" panose="02000503000000020004" pitchFamily="2" charset="0"/>
              <a:ea typeface="Inter" panose="02000503000000020004" pitchFamily="2" charset="0"/>
            </a:endParaRPr>
          </a:p>
        </p:txBody>
      </p:sp>
      <p:sp>
        <p:nvSpPr>
          <p:cNvPr id="17" name="Text 11"/>
          <p:cNvSpPr/>
          <p:nvPr/>
        </p:nvSpPr>
        <p:spPr>
          <a:xfrm>
            <a:off x="502920" y="4270248"/>
            <a:ext cx="4297680" cy="256032"/>
          </a:xfrm>
          <a:prstGeom prst="rect">
            <a:avLst/>
          </a:prstGeom>
          <a:noFill/>
          <a:ln/>
        </p:spPr>
        <p:txBody>
          <a:bodyPr wrap="square" lIns="0" tIns="0" rIns="0" bIns="0" rtlCol="0" anchor="ctr"/>
          <a:lstStyle/>
          <a:p>
            <a:pPr marL="0" indent="0">
              <a:buNone/>
            </a:pPr>
            <a:r>
              <a:rPr lang="en-US" sz="1000" i="1" dirty="0">
                <a:solidFill>
                  <a:srgbClr val="94A3B8"/>
                </a:solidFill>
                <a:latin typeface="Inter" panose="02000503000000020004" pitchFamily="2" charset="0"/>
                <a:ea typeface="Inter" panose="02000503000000020004" pitchFamily="2" charset="0"/>
              </a:rPr>
              <a:t>Stored in Firestore: xp · streak · lastActiveDate · achievements[]</a:t>
            </a:r>
            <a:endParaRPr lang="en-US" sz="1000" dirty="0">
              <a:latin typeface="Inter" panose="02000503000000020004" pitchFamily="2" charset="0"/>
              <a:ea typeface="Inter" panose="02000503000000020004" pitchFamily="2" charset="0"/>
            </a:endParaRPr>
          </a:p>
        </p:txBody>
      </p:sp>
      <p:sp>
        <p:nvSpPr>
          <p:cNvPr id="22" name="Text 16"/>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latin typeface="Inter" panose="02000503000000020004" pitchFamily="2" charset="0"/>
                <a:ea typeface="Inter" panose="02000503000000020004" pitchFamily="2" charset="0"/>
              </a:rPr>
              <a:t>LinearMind</a:t>
            </a:r>
            <a:endParaRPr lang="en-US" sz="900" dirty="0">
              <a:latin typeface="Inter" panose="02000503000000020004" pitchFamily="2" charset="0"/>
              <a:ea typeface="Inter" panose="02000503000000020004" pitchFamily="2" charset="0"/>
            </a:endParaRPr>
          </a:p>
        </p:txBody>
      </p:sp>
      <p:sp>
        <p:nvSpPr>
          <p:cNvPr id="23" name="Text 17"/>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latin typeface="Inter" panose="02000503000000020004" pitchFamily="2" charset="0"/>
                <a:ea typeface="Inter" panose="02000503000000020004" pitchFamily="2" charset="0"/>
              </a:rPr>
              <a:t>24</a:t>
            </a:r>
            <a:endParaRPr lang="en-US" sz="900" dirty="0">
              <a:latin typeface="Inter" panose="02000503000000020004" pitchFamily="2" charset="0"/>
              <a:ea typeface="Inter" panose="02000503000000020004" pitchFamily="2" charset="0"/>
            </a:endParaRPr>
          </a:p>
        </p:txBody>
      </p:sp>
      <p:sp>
        <p:nvSpPr>
          <p:cNvPr id="24" name="Shape 18"/>
          <p:cNvSpPr/>
          <p:nvPr/>
        </p:nvSpPr>
        <p:spPr>
          <a:xfrm>
            <a:off x="274320" y="4873752"/>
            <a:ext cx="8595360" cy="0"/>
          </a:xfrm>
          <a:prstGeom prst="line">
            <a:avLst/>
          </a:prstGeom>
          <a:noFill/>
          <a:ln w="635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sp>
        <p:nvSpPr>
          <p:cNvPr id="29" name="Shape 1">
            <a:extLst>
              <a:ext uri="{FF2B5EF4-FFF2-40B4-BE49-F238E27FC236}">
                <a16:creationId xmlns:a16="http://schemas.microsoft.com/office/drawing/2014/main" id="{E5842ED8-560C-D24D-77D8-7EDA3A9427F8}"/>
              </a:ext>
            </a:extLst>
          </p:cNvPr>
          <p:cNvSpPr/>
          <p:nvPr/>
        </p:nvSpPr>
        <p:spPr>
          <a:xfrm>
            <a:off x="5074921" y="1435608"/>
            <a:ext cx="3845560" cy="2408680"/>
          </a:xfrm>
          <a:prstGeom prst="rect">
            <a:avLst/>
          </a:prstGeom>
          <a:solidFill>
            <a:srgbClr val="111120"/>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pic>
        <p:nvPicPr>
          <p:cNvPr id="26" name="Picture 25">
            <a:extLst>
              <a:ext uri="{FF2B5EF4-FFF2-40B4-BE49-F238E27FC236}">
                <a16:creationId xmlns:a16="http://schemas.microsoft.com/office/drawing/2014/main" id="{52883062-32C4-908C-FB92-BF197090F847}"/>
              </a:ext>
            </a:extLst>
          </p:cNvPr>
          <p:cNvPicPr>
            <a:picLocks noChangeAspect="1"/>
          </p:cNvPicPr>
          <p:nvPr/>
        </p:nvPicPr>
        <p:blipFill>
          <a:blip r:embed="rId7"/>
          <a:srcRect l="5832" r="4855"/>
          <a:stretch>
            <a:fillRect/>
          </a:stretch>
        </p:blipFill>
        <p:spPr>
          <a:xfrm>
            <a:off x="5112133" y="1483623"/>
            <a:ext cx="3757548" cy="231113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201168"/>
            <a:ext cx="8412480" cy="502920"/>
          </a:xfrm>
          <a:prstGeom prst="rect">
            <a:avLst/>
          </a:prstGeom>
          <a:noFill/>
          <a:ln/>
        </p:spPr>
        <p:txBody>
          <a:bodyPr wrap="square" lIns="0" tIns="0" rIns="0" bIns="0" rtlCol="0" anchor="ctr"/>
          <a:lstStyle/>
          <a:p>
            <a:pPr marL="0" indent="0">
              <a:buNone/>
            </a:pPr>
            <a:r>
              <a:rPr lang="en-US" sz="2600" b="1" dirty="0">
                <a:solidFill>
                  <a:srgbClr val="818CF8"/>
                </a:solidFill>
                <a:latin typeface="Calibri" pitchFamily="34" charset="0"/>
                <a:ea typeface="Calibri" pitchFamily="34" charset="-122"/>
                <a:cs typeface="Calibri" pitchFamily="34" charset="-120"/>
              </a:rPr>
              <a:t>Cloud Sync + Security — Firebase</a:t>
            </a:r>
            <a:endParaRPr lang="en-US" sz="2600" dirty="0"/>
          </a:p>
        </p:txBody>
      </p:sp>
      <p:sp>
        <p:nvSpPr>
          <p:cNvPr id="4" name="Shape 1"/>
          <p:cNvSpPr/>
          <p:nvPr/>
        </p:nvSpPr>
        <p:spPr>
          <a:xfrm>
            <a:off x="365760" y="822960"/>
            <a:ext cx="4754880" cy="3657600"/>
          </a:xfrm>
          <a:prstGeom prst="rect">
            <a:avLst/>
          </a:prstGeom>
          <a:solidFill>
            <a:srgbClr val="111120"/>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p>
        </p:txBody>
      </p:sp>
      <p:pic>
        <p:nvPicPr>
          <p:cNvPr id="5" name="Image 1" descr="preencoded.png"/>
          <p:cNvPicPr>
            <a:picLocks noChangeAspect="1"/>
          </p:cNvPicPr>
          <p:nvPr/>
        </p:nvPicPr>
        <p:blipFill>
          <a:blip r:embed="rId4"/>
          <a:stretch>
            <a:fillRect/>
          </a:stretch>
        </p:blipFill>
        <p:spPr>
          <a:xfrm>
            <a:off x="548640" y="914400"/>
            <a:ext cx="502920" cy="502920"/>
          </a:xfrm>
          <a:prstGeom prst="rect">
            <a:avLst/>
          </a:prstGeom>
        </p:spPr>
      </p:pic>
      <p:sp>
        <p:nvSpPr>
          <p:cNvPr id="6" name="Text 2"/>
          <p:cNvSpPr/>
          <p:nvPr/>
        </p:nvSpPr>
        <p:spPr>
          <a:xfrm>
            <a:off x="1188720" y="1005840"/>
            <a:ext cx="3749040" cy="347472"/>
          </a:xfrm>
          <a:prstGeom prst="rect">
            <a:avLst/>
          </a:prstGeom>
          <a:noFill/>
          <a:ln/>
        </p:spPr>
        <p:txBody>
          <a:bodyPr wrap="square" lIns="0" tIns="0" rIns="0" bIns="0" rtlCol="0" anchor="ctr"/>
          <a:lstStyle/>
          <a:p>
            <a:pPr marL="0" indent="0">
              <a:buNone/>
            </a:pPr>
            <a:r>
              <a:rPr lang="en-US" sz="1500" b="1" dirty="0">
                <a:solidFill>
                  <a:srgbClr val="10B981"/>
                </a:solidFill>
              </a:rPr>
              <a:t>Authentication &amp; Storage</a:t>
            </a:r>
            <a:endParaRPr lang="en-US" sz="1500" dirty="0"/>
          </a:p>
        </p:txBody>
      </p:sp>
      <p:sp>
        <p:nvSpPr>
          <p:cNvPr id="7" name="Text 3"/>
          <p:cNvSpPr/>
          <p:nvPr/>
        </p:nvSpPr>
        <p:spPr>
          <a:xfrm>
            <a:off x="548640" y="1554480"/>
            <a:ext cx="4389120" cy="914400"/>
          </a:xfrm>
          <a:prstGeom prst="rect">
            <a:avLst/>
          </a:prstGeom>
          <a:noFill/>
          <a:ln/>
        </p:spPr>
        <p:txBody>
          <a:bodyPr wrap="square" lIns="0" tIns="0" rIns="0" bIns="0" rtlCol="0" anchor="ctr"/>
          <a:lstStyle/>
          <a:p>
            <a:pPr marL="0" indent="0">
              <a:lnSpc>
                <a:spcPct val="130000"/>
              </a:lnSpc>
              <a:buNone/>
            </a:pPr>
            <a:r>
              <a:rPr lang="en-US" sz="1200" b="1" dirty="0">
                <a:solidFill>
                  <a:srgbClr val="818CF8"/>
                </a:solidFill>
              </a:rPr>
              <a:t>Auth:</a:t>
            </a:r>
            <a:r>
              <a:rPr lang="en-US" sz="1200" dirty="0">
                <a:solidFill>
                  <a:srgbClr val="E2E8F0"/>
                </a:solidFill>
              </a:rPr>
              <a:t> Google Sign-In via Firebase Authentication</a:t>
            </a:r>
            <a:endParaRPr lang="en-US" sz="1200" dirty="0"/>
          </a:p>
          <a:p>
            <a:pPr marL="0" indent="0">
              <a:lnSpc>
                <a:spcPct val="130000"/>
              </a:lnSpc>
              <a:buNone/>
            </a:pPr>
            <a:r>
              <a:rPr lang="en-US" sz="1200" dirty="0">
                <a:solidFill>
                  <a:srgbClr val="E2E8F0"/>
                </a:solidFill>
              </a:rPr>
              <a:t>— one-click, no password management</a:t>
            </a:r>
            <a:endParaRPr lang="en-US" sz="1200" dirty="0"/>
          </a:p>
          <a:p>
            <a:pPr marL="0" indent="0">
              <a:lnSpc>
                <a:spcPct val="130000"/>
              </a:lnSpc>
              <a:buNone/>
            </a:pPr>
            <a:r>
              <a:rPr lang="en-US" sz="600" dirty="0">
                <a:solidFill>
                  <a:srgbClr val="000000"/>
                </a:solidFill>
              </a:rPr>
              <a:t> </a:t>
            </a:r>
            <a:endParaRPr lang="en-US" sz="1200" dirty="0"/>
          </a:p>
          <a:p>
            <a:pPr marL="0" indent="0">
              <a:lnSpc>
                <a:spcPct val="130000"/>
              </a:lnSpc>
              <a:buNone/>
            </a:pPr>
            <a:r>
              <a:rPr lang="en-US" sz="1200" b="1" dirty="0">
                <a:solidFill>
                  <a:srgbClr val="818CF8"/>
                </a:solidFill>
              </a:rPr>
              <a:t>Storage:</a:t>
            </a:r>
            <a:r>
              <a:rPr lang="en-US" sz="1200" dirty="0">
                <a:solidFill>
                  <a:srgbClr val="E2E8F0"/>
                </a:solidFill>
              </a:rPr>
              <a:t> Cloud Firestore at path:</a:t>
            </a:r>
            <a:endParaRPr lang="en-US" sz="1200" dirty="0"/>
          </a:p>
        </p:txBody>
      </p:sp>
      <p:sp>
        <p:nvSpPr>
          <p:cNvPr id="8" name="Shape 4"/>
          <p:cNvSpPr/>
          <p:nvPr/>
        </p:nvSpPr>
        <p:spPr>
          <a:xfrm>
            <a:off x="548640" y="2514600"/>
            <a:ext cx="4389120" cy="411480"/>
          </a:xfrm>
          <a:prstGeom prst="rect">
            <a:avLst/>
          </a:prstGeom>
          <a:solidFill>
            <a:srgbClr val="0F0F1E"/>
          </a:solidFill>
          <a:ln w="12700">
            <a:solidFill>
              <a:srgbClr val="06B6D4"/>
            </a:solidFill>
            <a:prstDash val="solid"/>
          </a:ln>
          <a:effectLst>
            <a:outerShdw blurRad="152400" dist="38100" dir="8100000" algn="bl" rotWithShape="0">
              <a:srgbClr val="000000">
                <a:alpha val="35000"/>
              </a:srgbClr>
            </a:outerShdw>
          </a:effectLst>
        </p:spPr>
        <p:txBody>
          <a:bodyPr/>
          <a:lstStyle/>
          <a:p>
            <a:endParaRPr lang="en-US"/>
          </a:p>
        </p:txBody>
      </p:sp>
      <p:sp>
        <p:nvSpPr>
          <p:cNvPr id="9" name="Text 5"/>
          <p:cNvSpPr/>
          <p:nvPr/>
        </p:nvSpPr>
        <p:spPr>
          <a:xfrm>
            <a:off x="548640" y="2514600"/>
            <a:ext cx="4389120" cy="411480"/>
          </a:xfrm>
          <a:prstGeom prst="rect">
            <a:avLst/>
          </a:prstGeom>
          <a:noFill/>
          <a:ln/>
        </p:spPr>
        <p:txBody>
          <a:bodyPr wrap="square" lIns="0" tIns="0" rIns="0" bIns="0" rtlCol="0" anchor="ctr"/>
          <a:lstStyle/>
          <a:p>
            <a:pPr marL="0" indent="0" algn="ctr">
              <a:buNone/>
            </a:pPr>
            <a:r>
              <a:rPr lang="en-US" sz="1400" b="1" dirty="0">
                <a:solidFill>
                  <a:srgbClr val="06B6D4"/>
                </a:solidFill>
                <a:latin typeface="Courier New" pitchFamily="34" charset="0"/>
                <a:ea typeface="Courier New" pitchFamily="34" charset="-122"/>
                <a:cs typeface="Courier New" pitchFamily="34" charset="-120"/>
              </a:rPr>
              <a:t>users/{uid}</a:t>
            </a:r>
            <a:endParaRPr lang="en-US" sz="1400" dirty="0"/>
          </a:p>
        </p:txBody>
      </p:sp>
      <p:sp>
        <p:nvSpPr>
          <p:cNvPr id="10" name="Text 6"/>
          <p:cNvSpPr/>
          <p:nvPr/>
        </p:nvSpPr>
        <p:spPr>
          <a:xfrm>
            <a:off x="548640" y="3017520"/>
            <a:ext cx="4389120" cy="320040"/>
          </a:xfrm>
          <a:prstGeom prst="rect">
            <a:avLst/>
          </a:prstGeom>
          <a:noFill/>
          <a:ln/>
        </p:spPr>
        <p:txBody>
          <a:bodyPr wrap="square" lIns="0" tIns="0" rIns="0" bIns="0" rtlCol="0" anchor="ctr"/>
          <a:lstStyle/>
          <a:p>
            <a:pPr marL="0" indent="0">
              <a:buNone/>
            </a:pPr>
            <a:r>
              <a:rPr lang="en-US" sz="1300" b="1" dirty="0">
                <a:solidFill>
                  <a:srgbClr val="818CF8"/>
                </a:solidFill>
              </a:rPr>
              <a:t>Security rules — principle of least privilege:</a:t>
            </a:r>
            <a:endParaRPr lang="en-US" sz="1300" dirty="0"/>
          </a:p>
        </p:txBody>
      </p:sp>
      <p:sp>
        <p:nvSpPr>
          <p:cNvPr id="11" name="Text 7"/>
          <p:cNvSpPr/>
          <p:nvPr/>
        </p:nvSpPr>
        <p:spPr>
          <a:xfrm>
            <a:off x="548640" y="3364992"/>
            <a:ext cx="4389120" cy="960120"/>
          </a:xfrm>
          <a:prstGeom prst="rect">
            <a:avLst/>
          </a:prstGeom>
          <a:noFill/>
          <a:ln/>
        </p:spPr>
        <p:txBody>
          <a:bodyPr wrap="square" lIns="0" tIns="0" rIns="0" bIns="0" rtlCol="0" anchor="ctr"/>
          <a:lstStyle/>
          <a:p>
            <a:pPr marL="0" indent="0">
              <a:lnSpc>
                <a:spcPct val="130000"/>
              </a:lnSpc>
              <a:buNone/>
            </a:pPr>
            <a:r>
              <a:rPr lang="en-US" sz="1200" dirty="0">
                <a:solidFill>
                  <a:srgbClr val="E2E8F0"/>
                </a:solidFill>
              </a:rPr>
              <a:t>✓ Users may read/write </a:t>
            </a:r>
            <a:r>
              <a:rPr lang="en-US" sz="1200" b="1" dirty="0">
                <a:solidFill>
                  <a:srgbClr val="10B981"/>
                </a:solidFill>
              </a:rPr>
              <a:t>only their own document</a:t>
            </a:r>
            <a:endParaRPr lang="en-US" sz="1200" dirty="0"/>
          </a:p>
          <a:p>
            <a:pPr marL="0" indent="0">
              <a:lnSpc>
                <a:spcPct val="130000"/>
              </a:lnSpc>
              <a:buNone/>
            </a:pPr>
            <a:r>
              <a:rPr lang="en-US" sz="1100" dirty="0">
                <a:solidFill>
                  <a:srgbClr val="94A3B8"/>
                </a:solidFill>
                <a:latin typeface="Courier New" pitchFamily="34" charset="0"/>
                <a:ea typeface="Courier New" pitchFamily="34" charset="-122"/>
                <a:cs typeface="Courier New" pitchFamily="34" charset="-120"/>
              </a:rPr>
              <a:t>  (request.auth.uid == userId)</a:t>
            </a:r>
            <a:endParaRPr lang="en-US" sz="1200" dirty="0"/>
          </a:p>
          <a:p>
            <a:pPr marL="0" indent="0">
              <a:lnSpc>
                <a:spcPct val="130000"/>
              </a:lnSpc>
              <a:buNone/>
            </a:pPr>
            <a:endParaRPr lang="en-US" sz="1200" dirty="0"/>
          </a:p>
          <a:p>
            <a:pPr marL="0" indent="0">
              <a:lnSpc>
                <a:spcPct val="130000"/>
              </a:lnSpc>
              <a:buNone/>
            </a:pPr>
            <a:r>
              <a:rPr lang="en-US" sz="1200" dirty="0">
                <a:solidFill>
                  <a:srgbClr val="E2E8F0"/>
                </a:solidFill>
              </a:rPr>
              <a:t>✗ All other access </a:t>
            </a:r>
            <a:endParaRPr lang="en-US" sz="1200" dirty="0"/>
          </a:p>
          <a:p>
            <a:pPr marL="0" indent="0">
              <a:lnSpc>
                <a:spcPct val="130000"/>
              </a:lnSpc>
              <a:buNone/>
            </a:pPr>
            <a:r>
              <a:rPr lang="en-US" sz="1200" b="1" dirty="0">
                <a:solidFill>
                  <a:srgbClr val="EF4444"/>
                </a:solidFill>
              </a:rPr>
              <a:t>denied</a:t>
            </a:r>
            <a:endParaRPr lang="en-US" sz="1200" dirty="0"/>
          </a:p>
        </p:txBody>
      </p:sp>
      <p:sp>
        <p:nvSpPr>
          <p:cNvPr id="16" name="Text 12"/>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rPr>
              <a:t>LinearMind</a:t>
            </a:r>
            <a:endParaRPr lang="en-US" sz="900" dirty="0"/>
          </a:p>
        </p:txBody>
      </p:sp>
      <p:sp>
        <p:nvSpPr>
          <p:cNvPr id="17" name="Text 13"/>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rPr>
              <a:t>25</a:t>
            </a:r>
            <a:endParaRPr lang="en-US" sz="900" dirty="0"/>
          </a:p>
        </p:txBody>
      </p:sp>
      <p:sp>
        <p:nvSpPr>
          <p:cNvPr id="18" name="Shape 14"/>
          <p:cNvSpPr/>
          <p:nvPr/>
        </p:nvSpPr>
        <p:spPr>
          <a:xfrm>
            <a:off x="274320" y="4873752"/>
            <a:ext cx="8595360" cy="0"/>
          </a:xfrm>
          <a:prstGeom prst="line">
            <a:avLst/>
          </a:prstGeom>
          <a:noFill/>
          <a:ln w="6350">
            <a:solidFill>
              <a:srgbClr val="222226"/>
            </a:solidFill>
            <a:prstDash val="solid"/>
          </a:ln>
        </p:spPr>
        <p:txBody>
          <a:bodyPr/>
          <a:lstStyle/>
          <a:p>
            <a:endParaRPr lang="en-US"/>
          </a:p>
        </p:txBody>
      </p:sp>
      <p:sp>
        <p:nvSpPr>
          <p:cNvPr id="25" name="Shape 1">
            <a:extLst>
              <a:ext uri="{FF2B5EF4-FFF2-40B4-BE49-F238E27FC236}">
                <a16:creationId xmlns:a16="http://schemas.microsoft.com/office/drawing/2014/main" id="{1B1C289A-ADD1-7C2E-6B30-2C02EDC63A7E}"/>
              </a:ext>
            </a:extLst>
          </p:cNvPr>
          <p:cNvSpPr/>
          <p:nvPr/>
        </p:nvSpPr>
        <p:spPr>
          <a:xfrm>
            <a:off x="5542670" y="1179576"/>
            <a:ext cx="3069513" cy="2802733"/>
          </a:xfrm>
          <a:prstGeom prst="rect">
            <a:avLst/>
          </a:prstGeom>
          <a:solidFill>
            <a:srgbClr val="111120"/>
          </a:solidFill>
          <a:ln w="12700">
            <a:solidFill>
              <a:srgbClr val="6366F1"/>
            </a:solidFill>
            <a:prstDash val="solid"/>
          </a:ln>
          <a:effectLst>
            <a:outerShdw blurRad="152400" dist="38100" dir="8100000" algn="bl" rotWithShape="0">
              <a:srgbClr val="000000">
                <a:alpha val="35000"/>
              </a:srgbClr>
            </a:outerShdw>
          </a:effectLst>
        </p:spPr>
        <p:txBody>
          <a:bodyPr/>
          <a:lstStyle/>
          <a:p>
            <a:endParaRPr lang="en-US"/>
          </a:p>
        </p:txBody>
      </p:sp>
      <p:pic>
        <p:nvPicPr>
          <p:cNvPr id="20" name="Picture 19">
            <a:extLst>
              <a:ext uri="{FF2B5EF4-FFF2-40B4-BE49-F238E27FC236}">
                <a16:creationId xmlns:a16="http://schemas.microsoft.com/office/drawing/2014/main" id="{97322A76-AA0B-FE5B-E369-D66E8D5E6CCF}"/>
              </a:ext>
            </a:extLst>
          </p:cNvPr>
          <p:cNvPicPr>
            <a:picLocks noChangeAspect="1"/>
          </p:cNvPicPr>
          <p:nvPr/>
        </p:nvPicPr>
        <p:blipFill>
          <a:blip r:embed="rId5"/>
          <a:stretch>
            <a:fillRect/>
          </a:stretch>
        </p:blipFill>
        <p:spPr>
          <a:xfrm>
            <a:off x="5598940" y="1210242"/>
            <a:ext cx="2961250" cy="27414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201168"/>
            <a:ext cx="8412480" cy="502920"/>
          </a:xfrm>
          <a:prstGeom prst="rect">
            <a:avLst/>
          </a:prstGeom>
          <a:noFill/>
          <a:ln/>
        </p:spPr>
        <p:txBody>
          <a:bodyPr wrap="square" lIns="0" tIns="0" rIns="0" bIns="0" rtlCol="0" anchor="ctr"/>
          <a:lstStyle/>
          <a:p>
            <a:pPr marL="0" indent="0">
              <a:buNone/>
            </a:pPr>
            <a:r>
              <a:rPr lang="en-US" sz="2600" b="1" dirty="0">
                <a:solidFill>
                  <a:srgbClr val="818CF8"/>
                </a:solidFill>
                <a:latin typeface="Inter" panose="02000503000000020004" pitchFamily="2" charset="0"/>
                <a:ea typeface="Inter" panose="02000503000000020004" pitchFamily="2" charset="0"/>
                <a:cs typeface="Calibri" pitchFamily="34" charset="-120"/>
              </a:rPr>
              <a:t>Architecture &amp; Tech Stack</a:t>
            </a:r>
            <a:endParaRPr lang="en-US" sz="2600" dirty="0">
              <a:latin typeface="Inter" panose="02000503000000020004" pitchFamily="2" charset="0"/>
              <a:ea typeface="Inter" panose="02000503000000020004" pitchFamily="2" charset="0"/>
            </a:endParaRPr>
          </a:p>
        </p:txBody>
      </p:sp>
      <p:sp>
        <p:nvSpPr>
          <p:cNvPr id="4" name="Shape 1"/>
          <p:cNvSpPr/>
          <p:nvPr/>
        </p:nvSpPr>
        <p:spPr>
          <a:xfrm>
            <a:off x="365760" y="822960"/>
            <a:ext cx="2606040" cy="3474720"/>
          </a:xfrm>
          <a:prstGeom prst="rect">
            <a:avLst/>
          </a:prstGeom>
          <a:solidFill>
            <a:srgbClr val="0F0F1E"/>
          </a:solidFill>
          <a:ln w="12700">
            <a:solidFill>
              <a:srgbClr val="818CF8"/>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5" name="Shape 2"/>
          <p:cNvSpPr/>
          <p:nvPr/>
        </p:nvSpPr>
        <p:spPr>
          <a:xfrm>
            <a:off x="365760" y="822960"/>
            <a:ext cx="2606040" cy="109728"/>
          </a:xfrm>
          <a:prstGeom prst="rect">
            <a:avLst/>
          </a:prstGeom>
          <a:solidFill>
            <a:srgbClr val="818CF8"/>
          </a:solidFill>
          <a:ln/>
        </p:spPr>
        <p:txBody>
          <a:bodyPr/>
          <a:lstStyle/>
          <a:p>
            <a:endParaRPr lang="en-US">
              <a:latin typeface="Inter" panose="02000503000000020004" pitchFamily="2" charset="0"/>
              <a:ea typeface="Inter" panose="02000503000000020004" pitchFamily="2" charset="0"/>
            </a:endParaRPr>
          </a:p>
        </p:txBody>
      </p:sp>
      <p:pic>
        <p:nvPicPr>
          <p:cNvPr id="6" name="Image 1" descr="preencoded.png"/>
          <p:cNvPicPr>
            <a:picLocks noChangeAspect="1"/>
          </p:cNvPicPr>
          <p:nvPr/>
        </p:nvPicPr>
        <p:blipFill>
          <a:blip r:embed="rId4"/>
          <a:stretch>
            <a:fillRect/>
          </a:stretch>
        </p:blipFill>
        <p:spPr>
          <a:xfrm>
            <a:off x="502920" y="1005840"/>
            <a:ext cx="365760" cy="365760"/>
          </a:xfrm>
          <a:prstGeom prst="rect">
            <a:avLst/>
          </a:prstGeom>
        </p:spPr>
      </p:pic>
      <p:sp>
        <p:nvSpPr>
          <p:cNvPr id="7" name="Text 3"/>
          <p:cNvSpPr/>
          <p:nvPr/>
        </p:nvSpPr>
        <p:spPr>
          <a:xfrm>
            <a:off x="960120" y="1051560"/>
            <a:ext cx="1920240" cy="347472"/>
          </a:xfrm>
          <a:prstGeom prst="rect">
            <a:avLst/>
          </a:prstGeom>
          <a:noFill/>
          <a:ln/>
        </p:spPr>
        <p:txBody>
          <a:bodyPr wrap="square" lIns="0" tIns="0" rIns="0" bIns="0" rtlCol="0" anchor="ctr"/>
          <a:lstStyle/>
          <a:p>
            <a:pPr marL="0" indent="0">
              <a:buNone/>
            </a:pPr>
            <a:r>
              <a:rPr lang="en-US" sz="1400" b="1" dirty="0">
                <a:solidFill>
                  <a:srgbClr val="818CF8"/>
                </a:solidFill>
                <a:latin typeface="Inter" panose="02000503000000020004" pitchFamily="2" charset="0"/>
                <a:ea typeface="Inter" panose="02000503000000020004" pitchFamily="2" charset="0"/>
              </a:rPr>
              <a:t>Frontend</a:t>
            </a:r>
            <a:endParaRPr lang="en-US" sz="1400" dirty="0">
              <a:latin typeface="Inter" panose="02000503000000020004" pitchFamily="2" charset="0"/>
              <a:ea typeface="Inter" panose="02000503000000020004" pitchFamily="2" charset="0"/>
            </a:endParaRPr>
          </a:p>
        </p:txBody>
      </p:sp>
      <p:sp>
        <p:nvSpPr>
          <p:cNvPr id="8" name="Text 4"/>
          <p:cNvSpPr/>
          <p:nvPr/>
        </p:nvSpPr>
        <p:spPr>
          <a:xfrm>
            <a:off x="502920" y="1508760"/>
            <a:ext cx="2377440" cy="411480"/>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 Next.js 16.2.6 (App Router)</a:t>
            </a:r>
            <a:endParaRPr lang="en-US" sz="1100" dirty="0">
              <a:latin typeface="Inter" panose="02000503000000020004" pitchFamily="2" charset="0"/>
              <a:ea typeface="Inter" panose="02000503000000020004" pitchFamily="2" charset="0"/>
            </a:endParaRPr>
          </a:p>
        </p:txBody>
      </p:sp>
      <p:sp>
        <p:nvSpPr>
          <p:cNvPr id="9" name="Text 5"/>
          <p:cNvSpPr/>
          <p:nvPr/>
        </p:nvSpPr>
        <p:spPr>
          <a:xfrm>
            <a:off x="502920" y="1947672"/>
            <a:ext cx="2377440" cy="411480"/>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 React 19.2.4</a:t>
            </a:r>
            <a:endParaRPr lang="en-US" sz="1100" dirty="0">
              <a:latin typeface="Inter" panose="02000503000000020004" pitchFamily="2" charset="0"/>
              <a:ea typeface="Inter" panose="02000503000000020004" pitchFamily="2" charset="0"/>
            </a:endParaRPr>
          </a:p>
        </p:txBody>
      </p:sp>
      <p:sp>
        <p:nvSpPr>
          <p:cNvPr id="10" name="Text 6"/>
          <p:cNvSpPr/>
          <p:nvPr/>
        </p:nvSpPr>
        <p:spPr>
          <a:xfrm>
            <a:off x="502920" y="2386584"/>
            <a:ext cx="2377440" cy="411480"/>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 TypeScript 5</a:t>
            </a:r>
            <a:endParaRPr lang="en-US" sz="1100" dirty="0">
              <a:latin typeface="Inter" panose="02000503000000020004" pitchFamily="2" charset="0"/>
              <a:ea typeface="Inter" panose="02000503000000020004" pitchFamily="2" charset="0"/>
            </a:endParaRPr>
          </a:p>
        </p:txBody>
      </p:sp>
      <p:sp>
        <p:nvSpPr>
          <p:cNvPr id="11" name="Text 7"/>
          <p:cNvSpPr/>
          <p:nvPr/>
        </p:nvSpPr>
        <p:spPr>
          <a:xfrm>
            <a:off x="502920" y="2825496"/>
            <a:ext cx="2377440" cy="411480"/>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 Tailwind CSS 4</a:t>
            </a:r>
            <a:endParaRPr lang="en-US" sz="1100" dirty="0">
              <a:latin typeface="Inter" panose="02000503000000020004" pitchFamily="2" charset="0"/>
              <a:ea typeface="Inter" panose="02000503000000020004" pitchFamily="2" charset="0"/>
            </a:endParaRPr>
          </a:p>
        </p:txBody>
      </p:sp>
      <p:sp>
        <p:nvSpPr>
          <p:cNvPr id="12" name="Text 8"/>
          <p:cNvSpPr/>
          <p:nvPr/>
        </p:nvSpPr>
        <p:spPr>
          <a:xfrm>
            <a:off x="502920" y="3264408"/>
            <a:ext cx="2377440" cy="411480"/>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 Zustand (persisted state)</a:t>
            </a:r>
            <a:endParaRPr lang="en-US" sz="1100" dirty="0">
              <a:latin typeface="Inter" panose="02000503000000020004" pitchFamily="2" charset="0"/>
              <a:ea typeface="Inter" panose="02000503000000020004" pitchFamily="2" charset="0"/>
            </a:endParaRPr>
          </a:p>
        </p:txBody>
      </p:sp>
      <p:sp>
        <p:nvSpPr>
          <p:cNvPr id="13" name="Shape 9"/>
          <p:cNvSpPr/>
          <p:nvPr/>
        </p:nvSpPr>
        <p:spPr>
          <a:xfrm>
            <a:off x="3200400" y="822960"/>
            <a:ext cx="2606040" cy="3474720"/>
          </a:xfrm>
          <a:prstGeom prst="rect">
            <a:avLst/>
          </a:prstGeom>
          <a:solidFill>
            <a:srgbClr val="0F0F1E"/>
          </a:solidFill>
          <a:ln w="12700">
            <a:solidFill>
              <a:srgbClr val="A855F7"/>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14" name="Shape 10"/>
          <p:cNvSpPr/>
          <p:nvPr/>
        </p:nvSpPr>
        <p:spPr>
          <a:xfrm>
            <a:off x="3200400" y="822960"/>
            <a:ext cx="2606040" cy="109728"/>
          </a:xfrm>
          <a:prstGeom prst="rect">
            <a:avLst/>
          </a:prstGeom>
          <a:solidFill>
            <a:srgbClr val="A855F7"/>
          </a:solidFill>
          <a:ln/>
        </p:spPr>
        <p:txBody>
          <a:bodyPr/>
          <a:lstStyle/>
          <a:p>
            <a:endParaRPr lang="en-US">
              <a:latin typeface="Inter" panose="02000503000000020004" pitchFamily="2" charset="0"/>
              <a:ea typeface="Inter" panose="02000503000000020004" pitchFamily="2" charset="0"/>
            </a:endParaRPr>
          </a:p>
        </p:txBody>
      </p:sp>
      <p:pic>
        <p:nvPicPr>
          <p:cNvPr id="15" name="Image 2" descr="preencoded.png"/>
          <p:cNvPicPr>
            <a:picLocks noChangeAspect="1"/>
          </p:cNvPicPr>
          <p:nvPr/>
        </p:nvPicPr>
        <p:blipFill>
          <a:blip r:embed="rId5"/>
          <a:stretch>
            <a:fillRect/>
          </a:stretch>
        </p:blipFill>
        <p:spPr>
          <a:xfrm>
            <a:off x="3337560" y="1005840"/>
            <a:ext cx="365760" cy="365760"/>
          </a:xfrm>
          <a:prstGeom prst="rect">
            <a:avLst/>
          </a:prstGeom>
        </p:spPr>
      </p:pic>
      <p:sp>
        <p:nvSpPr>
          <p:cNvPr id="16" name="Text 11"/>
          <p:cNvSpPr/>
          <p:nvPr/>
        </p:nvSpPr>
        <p:spPr>
          <a:xfrm>
            <a:off x="3794760" y="1051560"/>
            <a:ext cx="1920240" cy="347472"/>
          </a:xfrm>
          <a:prstGeom prst="rect">
            <a:avLst/>
          </a:prstGeom>
          <a:noFill/>
          <a:ln/>
        </p:spPr>
        <p:txBody>
          <a:bodyPr wrap="square" lIns="0" tIns="0" rIns="0" bIns="0" rtlCol="0" anchor="ctr"/>
          <a:lstStyle/>
          <a:p>
            <a:pPr marL="0" indent="0">
              <a:buNone/>
            </a:pPr>
            <a:r>
              <a:rPr lang="en-US" sz="1400" b="1" dirty="0">
                <a:solidFill>
                  <a:srgbClr val="A855F7"/>
                </a:solidFill>
                <a:latin typeface="Inter" panose="02000503000000020004" pitchFamily="2" charset="0"/>
                <a:ea typeface="Inter" panose="02000503000000020004" pitchFamily="2" charset="0"/>
              </a:rPr>
              <a:t>API Layer</a:t>
            </a:r>
            <a:endParaRPr lang="en-US" sz="1400" dirty="0">
              <a:latin typeface="Inter" panose="02000503000000020004" pitchFamily="2" charset="0"/>
              <a:ea typeface="Inter" panose="02000503000000020004" pitchFamily="2" charset="0"/>
            </a:endParaRPr>
          </a:p>
        </p:txBody>
      </p:sp>
      <p:sp>
        <p:nvSpPr>
          <p:cNvPr id="17" name="Text 12"/>
          <p:cNvSpPr/>
          <p:nvPr/>
        </p:nvSpPr>
        <p:spPr>
          <a:xfrm>
            <a:off x="3337560" y="1508760"/>
            <a:ext cx="2377440" cy="411480"/>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 /api/chat server route</a:t>
            </a:r>
            <a:endParaRPr lang="en-US" sz="1100" dirty="0">
              <a:latin typeface="Inter" panose="02000503000000020004" pitchFamily="2" charset="0"/>
              <a:ea typeface="Inter" panose="02000503000000020004" pitchFamily="2" charset="0"/>
            </a:endParaRPr>
          </a:p>
        </p:txBody>
      </p:sp>
      <p:sp>
        <p:nvSpPr>
          <p:cNvPr id="18" name="Text 13"/>
          <p:cNvSpPr/>
          <p:nvPr/>
        </p:nvSpPr>
        <p:spPr>
          <a:xfrm>
            <a:off x="3337560" y="1947672"/>
            <a:ext cx="2377440" cy="411480"/>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 Gemini API (gemini-3-flash-preview)</a:t>
            </a:r>
            <a:endParaRPr lang="en-US" sz="1100" dirty="0">
              <a:latin typeface="Inter" panose="02000503000000020004" pitchFamily="2" charset="0"/>
              <a:ea typeface="Inter" panose="02000503000000020004" pitchFamily="2" charset="0"/>
            </a:endParaRPr>
          </a:p>
        </p:txBody>
      </p:sp>
      <p:sp>
        <p:nvSpPr>
          <p:cNvPr id="19" name="Text 14"/>
          <p:cNvSpPr/>
          <p:nvPr/>
        </p:nvSpPr>
        <p:spPr>
          <a:xfrm>
            <a:off x="3337560" y="2386584"/>
            <a:ext cx="2377440" cy="411480"/>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 generateContent endpoint</a:t>
            </a:r>
            <a:endParaRPr lang="en-US" sz="1100" dirty="0">
              <a:latin typeface="Inter" panose="02000503000000020004" pitchFamily="2" charset="0"/>
              <a:ea typeface="Inter" panose="02000503000000020004" pitchFamily="2" charset="0"/>
            </a:endParaRPr>
          </a:p>
        </p:txBody>
      </p:sp>
      <p:sp>
        <p:nvSpPr>
          <p:cNvPr id="20" name="Text 15"/>
          <p:cNvSpPr/>
          <p:nvPr/>
        </p:nvSpPr>
        <p:spPr>
          <a:xfrm>
            <a:off x="3337560" y="2825496"/>
            <a:ext cx="2377440" cy="411480"/>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 API key stays server-side</a:t>
            </a:r>
            <a:endParaRPr lang="en-US" sz="1100" dirty="0">
              <a:latin typeface="Inter" panose="02000503000000020004" pitchFamily="2" charset="0"/>
              <a:ea typeface="Inter" panose="02000503000000020004" pitchFamily="2" charset="0"/>
            </a:endParaRPr>
          </a:p>
        </p:txBody>
      </p:sp>
      <p:sp>
        <p:nvSpPr>
          <p:cNvPr id="21" name="Shape 16"/>
          <p:cNvSpPr/>
          <p:nvPr/>
        </p:nvSpPr>
        <p:spPr>
          <a:xfrm>
            <a:off x="6035040" y="822960"/>
            <a:ext cx="2606040" cy="3474720"/>
          </a:xfrm>
          <a:prstGeom prst="rect">
            <a:avLst/>
          </a:prstGeom>
          <a:solidFill>
            <a:srgbClr val="0F0F1E"/>
          </a:solidFill>
          <a:ln w="12700">
            <a:solidFill>
              <a:srgbClr val="06B6D4"/>
            </a:solidFill>
            <a:prstDash val="solid"/>
          </a:ln>
          <a:effectLst>
            <a:outerShdw blurRad="152400" dist="38100" dir="8100000" algn="bl" rotWithShape="0">
              <a:srgbClr val="000000">
                <a:alpha val="35000"/>
              </a:srgbClr>
            </a:outerShdw>
          </a:effectLst>
        </p:spPr>
        <p:txBody>
          <a:bodyPr/>
          <a:lstStyle/>
          <a:p>
            <a:endParaRPr lang="en-US">
              <a:latin typeface="Inter" panose="02000503000000020004" pitchFamily="2" charset="0"/>
              <a:ea typeface="Inter" panose="02000503000000020004" pitchFamily="2" charset="0"/>
            </a:endParaRPr>
          </a:p>
        </p:txBody>
      </p:sp>
      <p:sp>
        <p:nvSpPr>
          <p:cNvPr id="22" name="Shape 17"/>
          <p:cNvSpPr/>
          <p:nvPr/>
        </p:nvSpPr>
        <p:spPr>
          <a:xfrm>
            <a:off x="6035040" y="822960"/>
            <a:ext cx="2606040" cy="109728"/>
          </a:xfrm>
          <a:prstGeom prst="rect">
            <a:avLst/>
          </a:prstGeom>
          <a:solidFill>
            <a:srgbClr val="06B6D4"/>
          </a:solidFill>
          <a:ln/>
        </p:spPr>
        <p:txBody>
          <a:bodyPr/>
          <a:lstStyle/>
          <a:p>
            <a:endParaRPr lang="en-US">
              <a:latin typeface="Inter" panose="02000503000000020004" pitchFamily="2" charset="0"/>
              <a:ea typeface="Inter" panose="02000503000000020004" pitchFamily="2" charset="0"/>
            </a:endParaRPr>
          </a:p>
        </p:txBody>
      </p:sp>
      <p:pic>
        <p:nvPicPr>
          <p:cNvPr id="23" name="Image 3" descr="preencoded.png"/>
          <p:cNvPicPr>
            <a:picLocks noChangeAspect="1"/>
          </p:cNvPicPr>
          <p:nvPr/>
        </p:nvPicPr>
        <p:blipFill>
          <a:blip r:embed="rId6"/>
          <a:stretch>
            <a:fillRect/>
          </a:stretch>
        </p:blipFill>
        <p:spPr>
          <a:xfrm>
            <a:off x="6172200" y="1005840"/>
            <a:ext cx="365760" cy="365760"/>
          </a:xfrm>
          <a:prstGeom prst="rect">
            <a:avLst/>
          </a:prstGeom>
        </p:spPr>
      </p:pic>
      <p:sp>
        <p:nvSpPr>
          <p:cNvPr id="24" name="Text 18"/>
          <p:cNvSpPr/>
          <p:nvPr/>
        </p:nvSpPr>
        <p:spPr>
          <a:xfrm>
            <a:off x="6629400" y="1051560"/>
            <a:ext cx="1920240" cy="347472"/>
          </a:xfrm>
          <a:prstGeom prst="rect">
            <a:avLst/>
          </a:prstGeom>
          <a:noFill/>
          <a:ln/>
        </p:spPr>
        <p:txBody>
          <a:bodyPr wrap="square" lIns="0" tIns="0" rIns="0" bIns="0" rtlCol="0" anchor="ctr"/>
          <a:lstStyle/>
          <a:p>
            <a:pPr marL="0" indent="0">
              <a:buNone/>
            </a:pPr>
            <a:r>
              <a:rPr lang="en-US" sz="1400" b="1" dirty="0">
                <a:solidFill>
                  <a:srgbClr val="06B6D4"/>
                </a:solidFill>
                <a:latin typeface="Inter" panose="02000503000000020004" pitchFamily="2" charset="0"/>
                <a:ea typeface="Inter" panose="02000503000000020004" pitchFamily="2" charset="0"/>
              </a:rPr>
              <a:t>Firebase</a:t>
            </a:r>
            <a:endParaRPr lang="en-US" sz="1400" dirty="0">
              <a:latin typeface="Inter" panose="02000503000000020004" pitchFamily="2" charset="0"/>
              <a:ea typeface="Inter" panose="02000503000000020004" pitchFamily="2" charset="0"/>
            </a:endParaRPr>
          </a:p>
        </p:txBody>
      </p:sp>
      <p:sp>
        <p:nvSpPr>
          <p:cNvPr id="25" name="Text 19"/>
          <p:cNvSpPr/>
          <p:nvPr/>
        </p:nvSpPr>
        <p:spPr>
          <a:xfrm>
            <a:off x="6172200" y="1508760"/>
            <a:ext cx="2377440" cy="411480"/>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 Firebase Auth (Google Sign-In)</a:t>
            </a:r>
            <a:endParaRPr lang="en-US" sz="1100" dirty="0">
              <a:latin typeface="Inter" panose="02000503000000020004" pitchFamily="2" charset="0"/>
              <a:ea typeface="Inter" panose="02000503000000020004" pitchFamily="2" charset="0"/>
            </a:endParaRPr>
          </a:p>
        </p:txBody>
      </p:sp>
      <p:sp>
        <p:nvSpPr>
          <p:cNvPr id="26" name="Text 20"/>
          <p:cNvSpPr/>
          <p:nvPr/>
        </p:nvSpPr>
        <p:spPr>
          <a:xfrm>
            <a:off x="6172200" y="1947672"/>
            <a:ext cx="2377440" cy="411480"/>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 Cloud Firestore (progress sync)</a:t>
            </a:r>
            <a:endParaRPr lang="en-US" sz="1100" dirty="0">
              <a:latin typeface="Inter" panose="02000503000000020004" pitchFamily="2" charset="0"/>
              <a:ea typeface="Inter" panose="02000503000000020004" pitchFamily="2" charset="0"/>
            </a:endParaRPr>
          </a:p>
        </p:txBody>
      </p:sp>
      <p:sp>
        <p:nvSpPr>
          <p:cNvPr id="27" name="Text 21"/>
          <p:cNvSpPr/>
          <p:nvPr/>
        </p:nvSpPr>
        <p:spPr>
          <a:xfrm>
            <a:off x="6172200" y="2386584"/>
            <a:ext cx="2377440" cy="411480"/>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 Firebase Analytics (conditional)</a:t>
            </a:r>
            <a:endParaRPr lang="en-US" sz="1100" dirty="0">
              <a:latin typeface="Inter" panose="02000503000000020004" pitchFamily="2" charset="0"/>
              <a:ea typeface="Inter" panose="02000503000000020004" pitchFamily="2" charset="0"/>
            </a:endParaRPr>
          </a:p>
        </p:txBody>
      </p:sp>
      <p:sp>
        <p:nvSpPr>
          <p:cNvPr id="28" name="Text 22"/>
          <p:cNvSpPr/>
          <p:nvPr/>
        </p:nvSpPr>
        <p:spPr>
          <a:xfrm>
            <a:off x="6172200" y="2825496"/>
            <a:ext cx="2377440" cy="411480"/>
          </a:xfrm>
          <a:prstGeom prst="rect">
            <a:avLst/>
          </a:prstGeom>
          <a:noFill/>
          <a:ln/>
        </p:spPr>
        <p:txBody>
          <a:bodyPr wrap="square" lIns="0" tIns="0" rIns="0" bIns="0" rtlCol="0" anchor="ctr"/>
          <a:lstStyle/>
          <a:p>
            <a:pPr marL="0" indent="0">
              <a:buNone/>
            </a:pPr>
            <a:r>
              <a:rPr lang="en-US" sz="1100" dirty="0">
                <a:solidFill>
                  <a:srgbClr val="E2E8F0"/>
                </a:solidFill>
                <a:latin typeface="Inter" panose="02000503000000020004" pitchFamily="2" charset="0"/>
                <a:ea typeface="Inter" panose="02000503000000020004" pitchFamily="2" charset="0"/>
              </a:rPr>
              <a:t>· Version 12.13.0</a:t>
            </a:r>
            <a:endParaRPr lang="en-US" sz="1100" dirty="0">
              <a:latin typeface="Inter" panose="02000503000000020004" pitchFamily="2" charset="0"/>
              <a:ea typeface="Inter" panose="02000503000000020004" pitchFamily="2" charset="0"/>
            </a:endParaRPr>
          </a:p>
        </p:txBody>
      </p:sp>
      <p:sp>
        <p:nvSpPr>
          <p:cNvPr id="31" name="Text 25"/>
          <p:cNvSpPr/>
          <p:nvPr/>
        </p:nvSpPr>
        <p:spPr>
          <a:xfrm>
            <a:off x="457200" y="4325112"/>
            <a:ext cx="8229600" cy="320040"/>
          </a:xfrm>
          <a:prstGeom prst="rect">
            <a:avLst/>
          </a:prstGeom>
          <a:noFill/>
          <a:ln/>
        </p:spPr>
        <p:txBody>
          <a:bodyPr wrap="square" lIns="0" tIns="0" rIns="0" bIns="0" rtlCol="0" anchor="ctr"/>
          <a:lstStyle/>
          <a:p>
            <a:pPr marL="0" indent="0" algn="ctr">
              <a:buNone/>
            </a:pPr>
            <a:r>
              <a:rPr lang="en-US" sz="1000" i="1" dirty="0">
                <a:solidFill>
                  <a:srgbClr val="94A3B8"/>
                </a:solidFill>
                <a:latin typeface="Inter" panose="02000503000000020004" pitchFamily="2" charset="0"/>
                <a:ea typeface="Inter" panose="02000503000000020004" pitchFamily="2" charset="0"/>
              </a:rPr>
              <a:t>A cohesive system: content + visuals + AI support + cloud persistence</a:t>
            </a:r>
            <a:endParaRPr lang="en-US" sz="1000" dirty="0">
              <a:latin typeface="Inter" panose="02000503000000020004" pitchFamily="2" charset="0"/>
              <a:ea typeface="Inter" panose="02000503000000020004" pitchFamily="2" charset="0"/>
            </a:endParaRPr>
          </a:p>
        </p:txBody>
      </p:sp>
      <p:sp>
        <p:nvSpPr>
          <p:cNvPr id="32" name="Text 26"/>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latin typeface="Inter" panose="02000503000000020004" pitchFamily="2" charset="0"/>
                <a:ea typeface="Inter" panose="02000503000000020004" pitchFamily="2" charset="0"/>
              </a:rPr>
              <a:t>LinearMind</a:t>
            </a:r>
            <a:endParaRPr lang="en-US" sz="900" dirty="0">
              <a:latin typeface="Inter" panose="02000503000000020004" pitchFamily="2" charset="0"/>
              <a:ea typeface="Inter" panose="02000503000000020004" pitchFamily="2" charset="0"/>
            </a:endParaRPr>
          </a:p>
        </p:txBody>
      </p:sp>
      <p:sp>
        <p:nvSpPr>
          <p:cNvPr id="33" name="Text 27"/>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latin typeface="Inter" panose="02000503000000020004" pitchFamily="2" charset="0"/>
                <a:ea typeface="Inter" panose="02000503000000020004" pitchFamily="2" charset="0"/>
              </a:rPr>
              <a:t>26</a:t>
            </a:r>
            <a:endParaRPr lang="en-US" sz="900" dirty="0">
              <a:latin typeface="Inter" panose="02000503000000020004" pitchFamily="2" charset="0"/>
              <a:ea typeface="Inter" panose="02000503000000020004" pitchFamily="2" charset="0"/>
            </a:endParaRPr>
          </a:p>
        </p:txBody>
      </p:sp>
      <p:sp>
        <p:nvSpPr>
          <p:cNvPr id="34" name="Shape 28"/>
          <p:cNvSpPr/>
          <p:nvPr/>
        </p:nvSpPr>
        <p:spPr>
          <a:xfrm>
            <a:off x="274320" y="4873752"/>
            <a:ext cx="8595360" cy="0"/>
          </a:xfrm>
          <a:prstGeom prst="line">
            <a:avLst/>
          </a:prstGeom>
          <a:noFill/>
          <a:ln w="635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F75F9-A5C1-AC6C-590E-922EF9976B5F}"/>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18FE20B-C11C-3625-798E-269897692411}"/>
              </a:ext>
            </a:extLst>
          </p:cNvPr>
          <p:cNvPicPr>
            <a:picLocks noChangeAspect="1"/>
          </p:cNvPicPr>
          <p:nvPr/>
        </p:nvPicPr>
        <p:blipFill>
          <a:blip r:embed="rId3"/>
          <a:stretch>
            <a:fillRect/>
          </a:stretch>
        </p:blipFill>
        <p:spPr>
          <a:xfrm>
            <a:off x="0" y="-182880"/>
            <a:ext cx="9144000" cy="5143500"/>
          </a:xfrm>
          <a:prstGeom prst="rect">
            <a:avLst/>
          </a:prstGeom>
        </p:spPr>
      </p:pic>
      <p:sp>
        <p:nvSpPr>
          <p:cNvPr id="3" name="Text 0">
            <a:extLst>
              <a:ext uri="{FF2B5EF4-FFF2-40B4-BE49-F238E27FC236}">
                <a16:creationId xmlns:a16="http://schemas.microsoft.com/office/drawing/2014/main" id="{574CCCB2-A8C8-513B-D6EC-532CB8ACC9E8}"/>
              </a:ext>
            </a:extLst>
          </p:cNvPr>
          <p:cNvSpPr/>
          <p:nvPr/>
        </p:nvSpPr>
        <p:spPr>
          <a:xfrm>
            <a:off x="274320" y="941070"/>
            <a:ext cx="8412480" cy="2991612"/>
          </a:xfrm>
          <a:prstGeom prst="rect">
            <a:avLst/>
          </a:prstGeom>
          <a:noFill/>
          <a:ln/>
        </p:spPr>
        <p:txBody>
          <a:bodyPr wrap="square" lIns="0" tIns="0" rIns="0" bIns="0" rtlCol="0" anchor="ctr"/>
          <a:lstStyle/>
          <a:p>
            <a:pPr marL="0" indent="0" algn="ctr">
              <a:buNone/>
            </a:pPr>
            <a:r>
              <a:rPr lang="en-US" sz="2600" b="1" dirty="0">
                <a:solidFill>
                  <a:srgbClr val="818CF8"/>
                </a:solidFill>
                <a:latin typeface="Inter" panose="02000503000000020004" pitchFamily="2" charset="0"/>
                <a:ea typeface="Inter" panose="02000503000000020004" pitchFamily="2" charset="0"/>
                <a:cs typeface="Calibri" pitchFamily="34" charset="-120"/>
              </a:rPr>
              <a:t>THANK YOU !</a:t>
            </a:r>
            <a:br>
              <a:rPr lang="en-US" sz="2600" b="1" dirty="0">
                <a:solidFill>
                  <a:srgbClr val="818CF8"/>
                </a:solidFill>
                <a:latin typeface="Inter" panose="02000503000000020004" pitchFamily="2" charset="0"/>
                <a:ea typeface="Inter" panose="02000503000000020004" pitchFamily="2" charset="0"/>
                <a:cs typeface="Calibri" pitchFamily="34" charset="-120"/>
              </a:rPr>
            </a:br>
            <a:br>
              <a:rPr lang="en-US" sz="2600" b="1" dirty="0">
                <a:solidFill>
                  <a:srgbClr val="818CF8"/>
                </a:solidFill>
                <a:latin typeface="Inter" panose="02000503000000020004" pitchFamily="2" charset="0"/>
                <a:ea typeface="Inter" panose="02000503000000020004" pitchFamily="2" charset="0"/>
                <a:cs typeface="Calibri" pitchFamily="34" charset="-120"/>
              </a:rPr>
            </a:br>
            <a:r>
              <a:rPr lang="en-US" sz="2600" b="1" dirty="0">
                <a:solidFill>
                  <a:srgbClr val="818CF8"/>
                </a:solidFill>
                <a:latin typeface="Dubai Light" panose="020B0303030403030204" pitchFamily="34" charset="-78"/>
                <a:ea typeface="Inter" panose="02000503000000020004" pitchFamily="2" charset="0"/>
                <a:cs typeface="Dubai Light" panose="020B0303030403030204" pitchFamily="34" charset="-78"/>
              </a:rPr>
              <a:t>Any Questions??</a:t>
            </a:r>
            <a:endParaRPr lang="en-US" sz="2600" dirty="0">
              <a:latin typeface="Dubai Light" panose="020B0303030403030204" pitchFamily="34" charset="-78"/>
              <a:ea typeface="Inter" panose="02000503000000020004" pitchFamily="2" charset="0"/>
              <a:cs typeface="Dubai Light" panose="020B0303030403030204" pitchFamily="34" charset="-78"/>
            </a:endParaRPr>
          </a:p>
        </p:txBody>
      </p:sp>
      <p:sp>
        <p:nvSpPr>
          <p:cNvPr id="32" name="Text 26">
            <a:extLst>
              <a:ext uri="{FF2B5EF4-FFF2-40B4-BE49-F238E27FC236}">
                <a16:creationId xmlns:a16="http://schemas.microsoft.com/office/drawing/2014/main" id="{CF56FD6A-CF2B-28AD-3CD2-FA3EF329D6EA}"/>
              </a:ext>
            </a:extLst>
          </p:cNvPr>
          <p:cNvSpPr/>
          <p:nvPr/>
        </p:nvSpPr>
        <p:spPr>
          <a:xfrm>
            <a:off x="274320" y="4892040"/>
            <a:ext cx="1828800" cy="228600"/>
          </a:xfrm>
          <a:prstGeom prst="rect">
            <a:avLst/>
          </a:prstGeom>
          <a:noFill/>
          <a:ln/>
        </p:spPr>
        <p:txBody>
          <a:bodyPr wrap="square" lIns="0" tIns="0" rIns="0" bIns="0" rtlCol="0" anchor="ctr"/>
          <a:lstStyle/>
          <a:p>
            <a:pPr marL="0" indent="0">
              <a:buNone/>
            </a:pPr>
            <a:r>
              <a:rPr lang="en-US" sz="900" dirty="0">
                <a:solidFill>
                  <a:srgbClr val="475569"/>
                </a:solidFill>
                <a:latin typeface="Inter" panose="02000503000000020004" pitchFamily="2" charset="0"/>
                <a:ea typeface="Inter" panose="02000503000000020004" pitchFamily="2" charset="0"/>
              </a:rPr>
              <a:t>LinearMind</a:t>
            </a:r>
            <a:endParaRPr lang="en-US" sz="900" dirty="0">
              <a:latin typeface="Inter" panose="02000503000000020004" pitchFamily="2" charset="0"/>
              <a:ea typeface="Inter" panose="02000503000000020004" pitchFamily="2" charset="0"/>
            </a:endParaRPr>
          </a:p>
        </p:txBody>
      </p:sp>
      <p:sp>
        <p:nvSpPr>
          <p:cNvPr id="33" name="Text 27">
            <a:extLst>
              <a:ext uri="{FF2B5EF4-FFF2-40B4-BE49-F238E27FC236}">
                <a16:creationId xmlns:a16="http://schemas.microsoft.com/office/drawing/2014/main" id="{B3D774A4-D92A-EFB2-FE6F-3D57E2E2A7EA}"/>
              </a:ext>
            </a:extLst>
          </p:cNvPr>
          <p:cNvSpPr/>
          <p:nvPr/>
        </p:nvSpPr>
        <p:spPr>
          <a:xfrm>
            <a:off x="8503920" y="4892040"/>
            <a:ext cx="365760" cy="228600"/>
          </a:xfrm>
          <a:prstGeom prst="rect">
            <a:avLst/>
          </a:prstGeom>
          <a:noFill/>
          <a:ln/>
        </p:spPr>
        <p:txBody>
          <a:bodyPr wrap="square" lIns="0" tIns="0" rIns="0" bIns="0" rtlCol="0" anchor="ctr"/>
          <a:lstStyle/>
          <a:p>
            <a:pPr marL="0" indent="0" algn="r">
              <a:buNone/>
            </a:pPr>
            <a:r>
              <a:rPr lang="en-US" sz="900" dirty="0">
                <a:solidFill>
                  <a:srgbClr val="475569"/>
                </a:solidFill>
                <a:latin typeface="Inter" panose="02000503000000020004" pitchFamily="2" charset="0"/>
                <a:ea typeface="Inter" panose="02000503000000020004" pitchFamily="2" charset="0"/>
              </a:rPr>
              <a:t>27</a:t>
            </a:r>
          </a:p>
        </p:txBody>
      </p:sp>
      <p:sp>
        <p:nvSpPr>
          <p:cNvPr id="34" name="Shape 28">
            <a:extLst>
              <a:ext uri="{FF2B5EF4-FFF2-40B4-BE49-F238E27FC236}">
                <a16:creationId xmlns:a16="http://schemas.microsoft.com/office/drawing/2014/main" id="{9CA2861F-2840-3199-9922-050F2FD9AED2}"/>
              </a:ext>
            </a:extLst>
          </p:cNvPr>
          <p:cNvSpPr/>
          <p:nvPr/>
        </p:nvSpPr>
        <p:spPr>
          <a:xfrm>
            <a:off x="274320" y="4873752"/>
            <a:ext cx="8595360" cy="0"/>
          </a:xfrm>
          <a:prstGeom prst="line">
            <a:avLst/>
          </a:prstGeom>
          <a:noFill/>
          <a:ln w="6350">
            <a:solidFill>
              <a:srgbClr val="222226"/>
            </a:solidFill>
            <a:prstDash val="solid"/>
          </a:ln>
        </p:spPr>
        <p:txBody>
          <a:bodyPr/>
          <a:lstStyle/>
          <a:p>
            <a:endParaRPr lang="en-US">
              <a:latin typeface="Inter" panose="02000503000000020004" pitchFamily="2" charset="0"/>
              <a:ea typeface="Inter" panose="02000503000000020004" pitchFamily="2" charset="0"/>
            </a:endParaRPr>
          </a:p>
        </p:txBody>
      </p:sp>
      <p:sp>
        <p:nvSpPr>
          <p:cNvPr id="29" name="Shape 2">
            <a:extLst>
              <a:ext uri="{FF2B5EF4-FFF2-40B4-BE49-F238E27FC236}">
                <a16:creationId xmlns:a16="http://schemas.microsoft.com/office/drawing/2014/main" id="{14EC1E1F-E90F-AF99-0643-4DB7C728A20C}"/>
              </a:ext>
            </a:extLst>
          </p:cNvPr>
          <p:cNvSpPr/>
          <p:nvPr/>
        </p:nvSpPr>
        <p:spPr>
          <a:xfrm>
            <a:off x="3177540" y="1318260"/>
            <a:ext cx="2606040" cy="109728"/>
          </a:xfrm>
          <a:prstGeom prst="rect">
            <a:avLst/>
          </a:prstGeom>
          <a:solidFill>
            <a:srgbClr val="818CF8"/>
          </a:solidFill>
          <a:ln/>
        </p:spPr>
        <p:txBody>
          <a:bodyPr/>
          <a:lstStyle/>
          <a:p>
            <a:endParaRPr lang="en-US">
              <a:latin typeface="Inter" panose="02000503000000020004" pitchFamily="2" charset="0"/>
              <a:ea typeface="Inter" panose="02000503000000020004" pitchFamily="2" charset="0"/>
            </a:endParaRPr>
          </a:p>
        </p:txBody>
      </p:sp>
      <p:sp>
        <p:nvSpPr>
          <p:cNvPr id="35" name="Shape 17">
            <a:extLst>
              <a:ext uri="{FF2B5EF4-FFF2-40B4-BE49-F238E27FC236}">
                <a16:creationId xmlns:a16="http://schemas.microsoft.com/office/drawing/2014/main" id="{8A26732D-311F-9D22-DA6E-9B4349F3D27A}"/>
              </a:ext>
            </a:extLst>
          </p:cNvPr>
          <p:cNvSpPr/>
          <p:nvPr/>
        </p:nvSpPr>
        <p:spPr>
          <a:xfrm>
            <a:off x="3177540" y="3657602"/>
            <a:ext cx="2606040" cy="109728"/>
          </a:xfrm>
          <a:prstGeom prst="rect">
            <a:avLst/>
          </a:prstGeom>
          <a:solidFill>
            <a:srgbClr val="06B6D4"/>
          </a:solidFill>
          <a:ln/>
        </p:spPr>
        <p:txBody>
          <a:bodyPr/>
          <a:lstStyle/>
          <a:p>
            <a:endParaRPr lang="en-US">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35771132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TotalTime>
  <Words>4462</Words>
  <Application>Microsoft Office PowerPoint</Application>
  <PresentationFormat>On-screen Show (16:9)</PresentationFormat>
  <Paragraphs>441</Paragraphs>
  <Slides>27</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Courier New</vt:lpstr>
      <vt:lpstr>Dubai Light</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LinearMind</dc:title>
  <dc:subject>PptxGenJS Presentation</dc:subject>
  <dc:creator>LinearMind Team</dc:creator>
  <cp:lastModifiedBy>Zeyad Antar</cp:lastModifiedBy>
  <cp:revision>7</cp:revision>
  <dcterms:created xsi:type="dcterms:W3CDTF">2026-05-13T15:33:28Z</dcterms:created>
  <dcterms:modified xsi:type="dcterms:W3CDTF">2026-05-13T16:54:46Z</dcterms:modified>
</cp:coreProperties>
</file>